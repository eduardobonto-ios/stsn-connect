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slideMasters/slideMaster148.xml" ContentType="application/vnd.openxmlformats-officedocument.presentationml.slideMaster+xml"/>
  <Override PartName="/ppt/slides/slide148.xml" ContentType="application/vnd.openxmlformats-officedocument.presentationml.slide+xml"/>
  <Override PartName="/ppt/slideMasters/slideMaster149.xml" ContentType="application/vnd.openxmlformats-officedocument.presentationml.slideMaster+xml"/>
  <Override PartName="/ppt/slides/slide149.xml" ContentType="application/vnd.openxmlformats-officedocument.presentationml.slide+xml"/>
  <Override PartName="/ppt/slideMasters/slideMaster150.xml" ContentType="application/vnd.openxmlformats-officedocument.presentationml.slideMaster+xml"/>
  <Override PartName="/ppt/slides/slide150.xml" ContentType="application/vnd.openxmlformats-officedocument.presentationml.slide+xml"/>
  <Override PartName="/ppt/slideMasters/slideMaster151.xml" ContentType="application/vnd.openxmlformats-officedocument.presentationml.slideMaster+xml"/>
  <Override PartName="/ppt/slides/slide151.xml" ContentType="application/vnd.openxmlformats-officedocument.presentationml.slide+xml"/>
  <Override PartName="/ppt/slideMasters/slideMaster152.xml" ContentType="application/vnd.openxmlformats-officedocument.presentationml.slideMaster+xml"/>
  <Override PartName="/ppt/slides/slide152.xml" ContentType="application/vnd.openxmlformats-officedocument.presentationml.slide+xml"/>
  <Override PartName="/ppt/slideMasters/slideMaster153.xml" ContentType="application/vnd.openxmlformats-officedocument.presentationml.slideMaster+xml"/>
  <Override PartName="/ppt/slides/slide153.xml" ContentType="application/vnd.openxmlformats-officedocument.presentationml.slide+xml"/>
  <Override PartName="/ppt/slideMasters/slideMaster154.xml" ContentType="application/vnd.openxmlformats-officedocument.presentationml.slideMaster+xml"/>
  <Override PartName="/ppt/slides/slide154.xml" ContentType="application/vnd.openxmlformats-officedocument.presentationml.slide+xml"/>
  <Override PartName="/ppt/slideMasters/slideMaster155.xml" ContentType="application/vnd.openxmlformats-officedocument.presentationml.slideMaster+xml"/>
  <Override PartName="/ppt/slides/slide155.xml" ContentType="application/vnd.openxmlformats-officedocument.presentationml.slide+xml"/>
  <Override PartName="/ppt/slideMasters/slideMaster156.xml" ContentType="application/vnd.openxmlformats-officedocument.presentationml.slideMaster+xml"/>
  <Override PartName="/ppt/slides/slide156.xml" ContentType="application/vnd.openxmlformats-officedocument.presentationml.slide+xml"/>
  <Override PartName="/ppt/slideMasters/slideMaster157.xml" ContentType="application/vnd.openxmlformats-officedocument.presentationml.slideMaster+xml"/>
  <Override PartName="/ppt/slides/slide157.xml" ContentType="application/vnd.openxmlformats-officedocument.presentationml.slide+xml"/>
  <Override PartName="/ppt/slideMasters/slideMaster158.xml" ContentType="application/vnd.openxmlformats-officedocument.presentationml.slideMaster+xml"/>
  <Override PartName="/ppt/slides/slide158.xml" ContentType="application/vnd.openxmlformats-officedocument.presentationml.slide+xml"/>
  <Override PartName="/ppt/slideMasters/slideMaster159.xml" ContentType="application/vnd.openxmlformats-officedocument.presentationml.slideMaster+xml"/>
  <Override PartName="/ppt/slides/slide159.xml" ContentType="application/vnd.openxmlformats-officedocument.presentationml.slide+xml"/>
  <Override PartName="/ppt/slideMasters/slideMaster160.xml" ContentType="application/vnd.openxmlformats-officedocument.presentationml.slideMaster+xml"/>
  <Override PartName="/ppt/slides/slide160.xml" ContentType="application/vnd.openxmlformats-officedocument.presentationml.slide+xml"/>
  <Override PartName="/ppt/slideMasters/slideMaster161.xml" ContentType="application/vnd.openxmlformats-officedocument.presentationml.slideMaster+xml"/>
  <Override PartName="/ppt/slides/slide161.xml" ContentType="application/vnd.openxmlformats-officedocument.presentationml.slide+xml"/>
  <Override PartName="/ppt/slideMasters/slideMaster162.xml" ContentType="application/vnd.openxmlformats-officedocument.presentationml.slideMaster+xml"/>
  <Override PartName="/ppt/slides/slide162.xml" ContentType="application/vnd.openxmlformats-officedocument.presentationml.slide+xml"/>
  <Override PartName="/ppt/slideMasters/slideMaster163.xml" ContentType="application/vnd.openxmlformats-officedocument.presentationml.slideMaster+xml"/>
  <Override PartName="/ppt/slides/slide163.xml" ContentType="application/vnd.openxmlformats-officedocument.presentationml.slide+xml"/>
  <Override PartName="/ppt/slideMasters/slideMaster164.xml" ContentType="application/vnd.openxmlformats-officedocument.presentationml.slideMaster+xml"/>
  <Override PartName="/ppt/slides/slide164.xml" ContentType="application/vnd.openxmlformats-officedocument.presentationml.slide+xml"/>
  <Override PartName="/ppt/slideMasters/slideMaster165.xml" ContentType="application/vnd.openxmlformats-officedocument.presentationml.slideMaster+xml"/>
  <Override PartName="/ppt/slides/slide165.xml" ContentType="application/vnd.openxmlformats-officedocument.presentationml.slide+xml"/>
  <Override PartName="/ppt/slideMasters/slideMaster166.xml" ContentType="application/vnd.openxmlformats-officedocument.presentationml.slideMaster+xml"/>
  <Override PartName="/ppt/slides/slide166.xml" ContentType="application/vnd.openxmlformats-officedocument.presentationml.slide+xml"/>
  <Override PartName="/ppt/slideMasters/slideMaster167.xml" ContentType="application/vnd.openxmlformats-officedocument.presentationml.slideMaster+xml"/>
  <Override PartName="/ppt/slides/slide167.xml" ContentType="application/vnd.openxmlformats-officedocument.presentationml.slide+xml"/>
  <Override PartName="/ppt/slideMasters/slideMaster168.xml" ContentType="application/vnd.openxmlformats-officedocument.presentationml.slideMaster+xml"/>
  <Override PartName="/ppt/slides/slide168.xml" ContentType="application/vnd.openxmlformats-officedocument.presentationml.slide+xml"/>
  <Override PartName="/ppt/slideMasters/slideMaster169.xml" ContentType="application/vnd.openxmlformats-officedocument.presentationml.slideMaster+xml"/>
  <Override PartName="/ppt/slides/slide169.xml" ContentType="application/vnd.openxmlformats-officedocument.presentationml.slide+xml"/>
  <Override PartName="/ppt/slideMasters/slideMaster170.xml" ContentType="application/vnd.openxmlformats-officedocument.presentationml.slideMaster+xml"/>
  <Override PartName="/ppt/slides/slide170.xml" ContentType="application/vnd.openxmlformats-officedocument.presentationml.slide+xml"/>
  <Override PartName="/ppt/slideMasters/slideMaster171.xml" ContentType="application/vnd.openxmlformats-officedocument.presentationml.slideMaster+xml"/>
  <Override PartName="/ppt/slides/slide171.xml" ContentType="application/vnd.openxmlformats-officedocument.presentationml.slide+xml"/>
  <Override PartName="/ppt/slideMasters/slideMaster172.xml" ContentType="application/vnd.openxmlformats-officedocument.presentationml.slideMaster+xml"/>
  <Override PartName="/ppt/slides/slide172.xml" ContentType="application/vnd.openxmlformats-officedocument.presentationml.slide+xml"/>
  <Override PartName="/ppt/slideMasters/slideMaster173.xml" ContentType="application/vnd.openxmlformats-officedocument.presentationml.slideMaster+xml"/>
  <Override PartName="/ppt/slides/slide173.xml" ContentType="application/vnd.openxmlformats-officedocument.presentationml.slide+xml"/>
  <Override PartName="/ppt/slideMasters/slideMaster174.xml" ContentType="application/vnd.openxmlformats-officedocument.presentationml.slideMaster+xml"/>
  <Override PartName="/ppt/slides/slide174.xml" ContentType="application/vnd.openxmlformats-officedocument.presentationml.slide+xml"/>
  <Override PartName="/ppt/slideMasters/slideMaster175.xml" ContentType="application/vnd.openxmlformats-officedocument.presentationml.slideMaster+xml"/>
  <Override PartName="/ppt/slides/slide175.xml" ContentType="application/vnd.openxmlformats-officedocument.presentationml.slide+xml"/>
  <Override PartName="/ppt/slideMasters/slideMaster176.xml" ContentType="application/vnd.openxmlformats-officedocument.presentationml.slideMaster+xml"/>
  <Override PartName="/ppt/slides/slide176.xml" ContentType="application/vnd.openxmlformats-officedocument.presentationml.slide+xml"/>
  <Override PartName="/ppt/slideMasters/slideMaster177.xml" ContentType="application/vnd.openxmlformats-officedocument.presentationml.slideMaster+xml"/>
  <Override PartName="/ppt/slides/slide177.xml" ContentType="application/vnd.openxmlformats-officedocument.presentationml.slide+xml"/>
  <Override PartName="/ppt/slideMasters/slideMaster178.xml" ContentType="application/vnd.openxmlformats-officedocument.presentationml.slideMaster+xml"/>
  <Override PartName="/ppt/slides/slide178.xml" ContentType="application/vnd.openxmlformats-officedocument.presentationml.slide+xml"/>
  <Override PartName="/ppt/slideMasters/slideMaster179.xml" ContentType="application/vnd.openxmlformats-officedocument.presentationml.slideMaster+xml"/>
  <Override PartName="/ppt/slides/slide179.xml" ContentType="application/vnd.openxmlformats-officedocument.presentationml.slide+xml"/>
  <Override PartName="/ppt/slideMasters/slideMaster180.xml" ContentType="application/vnd.openxmlformats-officedocument.presentationml.slideMaster+xml"/>
  <Override PartName="/ppt/slides/slide180.xml" ContentType="application/vnd.openxmlformats-officedocument.presentationml.slide+xml"/>
  <Override PartName="/ppt/slideMasters/slideMaster181.xml" ContentType="application/vnd.openxmlformats-officedocument.presentationml.slideMaster+xml"/>
  <Override PartName="/ppt/slides/slide181.xml" ContentType="application/vnd.openxmlformats-officedocument.presentationml.slide+xml"/>
  <Override PartName="/ppt/slideMasters/slideMaster182.xml" ContentType="application/vnd.openxmlformats-officedocument.presentationml.slideMaster+xml"/>
  <Override PartName="/ppt/slides/slide182.xml" ContentType="application/vnd.openxmlformats-officedocument.presentationml.slide+xml"/>
  <Override PartName="/ppt/slideMasters/slideMaster183.xml" ContentType="application/vnd.openxmlformats-officedocument.presentationml.slideMaster+xml"/>
  <Override PartName="/ppt/slides/slide183.xml" ContentType="application/vnd.openxmlformats-officedocument.presentationml.slide+xml"/>
  <Override PartName="/ppt/slideMasters/slideMaster184.xml" ContentType="application/vnd.openxmlformats-officedocument.presentationml.slideMaster+xml"/>
  <Override PartName="/ppt/slides/slide184.xml" ContentType="application/vnd.openxmlformats-officedocument.presentationml.slide+xml"/>
  <Override PartName="/ppt/slideMasters/slideMaster185.xml" ContentType="application/vnd.openxmlformats-officedocument.presentationml.slideMaster+xml"/>
  <Override PartName="/ppt/slides/slide185.xml" ContentType="application/vnd.openxmlformats-officedocument.presentationml.slide+xml"/>
  <Override PartName="/ppt/slideMasters/slideMaster186.xml" ContentType="application/vnd.openxmlformats-officedocument.presentationml.slideMaster+xml"/>
  <Override PartName="/ppt/slides/slide186.xml" ContentType="application/vnd.openxmlformats-officedocument.presentationml.slide+xml"/>
  <Override PartName="/ppt/slideMasters/slideMaster187.xml" ContentType="application/vnd.openxmlformats-officedocument.presentationml.slideMaster+xml"/>
  <Override PartName="/ppt/slides/slide187.xml" ContentType="application/vnd.openxmlformats-officedocument.presentationml.slide+xml"/>
  <Override PartName="/ppt/slideMasters/slideMaster188.xml" ContentType="application/vnd.openxmlformats-officedocument.presentationml.slideMaster+xml"/>
  <Override PartName="/ppt/slides/slide188.xml" ContentType="application/vnd.openxmlformats-officedocument.presentationml.slide+xml"/>
  <Override PartName="/ppt/slideMasters/slideMaster189.xml" ContentType="application/vnd.openxmlformats-officedocument.presentationml.slideMaster+xml"/>
  <Override PartName="/ppt/slides/slide189.xml" ContentType="application/vnd.openxmlformats-officedocument.presentationml.slide+xml"/>
  <Override PartName="/ppt/slideMasters/slideMaster190.xml" ContentType="application/vnd.openxmlformats-officedocument.presentationml.slideMaster+xml"/>
  <Override PartName="/ppt/slides/slide190.xml" ContentType="application/vnd.openxmlformats-officedocument.presentationml.slide+xml"/>
  <Override PartName="/ppt/slideMasters/slideMaster191.xml" ContentType="application/vnd.openxmlformats-officedocument.presentationml.slideMaster+xml"/>
  <Override PartName="/ppt/slides/slide191.xml" ContentType="application/vnd.openxmlformats-officedocument.presentationml.slide+xml"/>
  <Override PartName="/ppt/slideMasters/slideMaster192.xml" ContentType="application/vnd.openxmlformats-officedocument.presentationml.slideMaster+xml"/>
  <Override PartName="/ppt/slides/slide192.xml" ContentType="application/vnd.openxmlformats-officedocument.presentationml.slide+xml"/>
  <Override PartName="/ppt/slideMasters/slideMaster193.xml" ContentType="application/vnd.openxmlformats-officedocument.presentationml.slideMaster+xml"/>
  <Override PartName="/ppt/slides/slide193.xml" ContentType="application/vnd.openxmlformats-officedocument.presentationml.slide+xml"/>
  <Override PartName="/ppt/slideMasters/slideMaster194.xml" ContentType="application/vnd.openxmlformats-officedocument.presentationml.slideMaster+xml"/>
  <Override PartName="/ppt/slides/slide194.xml" ContentType="application/vnd.openxmlformats-officedocument.presentationml.slide+xml"/>
  <Override PartName="/ppt/slideMasters/slideMaster195.xml" ContentType="application/vnd.openxmlformats-officedocument.presentationml.slideMaster+xml"/>
  <Override PartName="/ppt/slides/slide195.xml" ContentType="application/vnd.openxmlformats-officedocument.presentationml.slide+xml"/>
  <Override PartName="/ppt/slideMasters/slideMaster196.xml" ContentType="application/vnd.openxmlformats-officedocument.presentationml.slideMaster+xml"/>
  <Override PartName="/ppt/slides/slide196.xml" ContentType="application/vnd.openxmlformats-officedocument.presentationml.slide+xml"/>
  <Override PartName="/ppt/slideMasters/slideMaster197.xml" ContentType="application/vnd.openxmlformats-officedocument.presentationml.slideMaster+xml"/>
  <Override PartName="/ppt/slides/slide197.xml" ContentType="application/vnd.openxmlformats-officedocument.presentationml.slide+xml"/>
  <Override PartName="/ppt/slideMasters/slideMaster198.xml" ContentType="application/vnd.openxmlformats-officedocument.presentationml.slideMaster+xml"/>
  <Override PartName="/ppt/slides/slide198.xml" ContentType="application/vnd.openxmlformats-officedocument.presentationml.slide+xml"/>
  <Override PartName="/ppt/slideMasters/slideMaster199.xml" ContentType="application/vnd.openxmlformats-officedocument.presentationml.slideMaster+xml"/>
  <Override PartName="/ppt/slides/slide199.xml" ContentType="application/vnd.openxmlformats-officedocument.presentationml.slide+xml"/>
  <Override PartName="/ppt/slideMasters/slideMaster200.xml" ContentType="application/vnd.openxmlformats-officedocument.presentationml.slideMaster+xml"/>
  <Override PartName="/ppt/slides/slide200.xml" ContentType="application/vnd.openxmlformats-officedocument.presentationml.slide+xml"/>
  <Override PartName="/ppt/slideMasters/slideMaster201.xml" ContentType="application/vnd.openxmlformats-officedocument.presentationml.slideMaster+xml"/>
  <Override PartName="/ppt/slides/slide201.xml" ContentType="application/vnd.openxmlformats-officedocument.presentationml.slide+xml"/>
  <Override PartName="/ppt/slideMasters/slideMaster202.xml" ContentType="application/vnd.openxmlformats-officedocument.presentationml.slideMaster+xml"/>
  <Override PartName="/ppt/slides/slide202.xml" ContentType="application/vnd.openxmlformats-officedocument.presentationml.slide+xml"/>
  <Override PartName="/ppt/slideMasters/slideMaster203.xml" ContentType="application/vnd.openxmlformats-officedocument.presentationml.slideMaster+xml"/>
  <Override PartName="/ppt/slides/slide203.xml" ContentType="application/vnd.openxmlformats-officedocument.presentationml.slide+xml"/>
  <Override PartName="/ppt/slideMasters/slideMaster204.xml" ContentType="application/vnd.openxmlformats-officedocument.presentationml.slideMaster+xml"/>
  <Override PartName="/ppt/slides/slide204.xml" ContentType="application/vnd.openxmlformats-officedocument.presentationml.slide+xml"/>
  <Override PartName="/ppt/slideMasters/slideMaster205.xml" ContentType="application/vnd.openxmlformats-officedocument.presentationml.slideMaster+xml"/>
  <Override PartName="/ppt/slides/slide205.xml" ContentType="application/vnd.openxmlformats-officedocument.presentationml.slide+xml"/>
  <Override PartName="/ppt/slideMasters/slideMaster206.xml" ContentType="application/vnd.openxmlformats-officedocument.presentationml.slideMaster+xml"/>
  <Override PartName="/ppt/slides/slide206.xml" ContentType="application/vnd.openxmlformats-officedocument.presentationml.slide+xml"/>
  <Override PartName="/ppt/slideMasters/slideMaster207.xml" ContentType="application/vnd.openxmlformats-officedocument.presentationml.slideMaster+xml"/>
  <Override PartName="/ppt/slides/slide207.xml" ContentType="application/vnd.openxmlformats-officedocument.presentationml.slide+xml"/>
  <Override PartName="/ppt/slideMasters/slideMaster208.xml" ContentType="application/vnd.openxmlformats-officedocument.presentationml.slideMaster+xml"/>
  <Override PartName="/ppt/slides/slide208.xml" ContentType="application/vnd.openxmlformats-officedocument.presentationml.slide+xml"/>
  <Override PartName="/ppt/slideMasters/slideMaster209.xml" ContentType="application/vnd.openxmlformats-officedocument.presentationml.slideMaster+xml"/>
  <Override PartName="/ppt/slides/slide209.xml" ContentType="application/vnd.openxmlformats-officedocument.presentationml.slide+xml"/>
  <Override PartName="/ppt/slideMasters/slideMaster210.xml" ContentType="application/vnd.openxmlformats-officedocument.presentationml.slideMaster+xml"/>
  <Override PartName="/ppt/slides/slide210.xml" ContentType="application/vnd.openxmlformats-officedocument.presentationml.slide+xml"/>
  <Override PartName="/ppt/slideMasters/slideMaster211.xml" ContentType="application/vnd.openxmlformats-officedocument.presentationml.slideMaster+xml"/>
  <Override PartName="/ppt/slides/slide211.xml" ContentType="application/vnd.openxmlformats-officedocument.presentationml.slide+xml"/>
  <Override PartName="/ppt/slideMasters/slideMaster212.xml" ContentType="application/vnd.openxmlformats-officedocument.presentationml.slideMaster+xml"/>
  <Override PartName="/ppt/slides/slide212.xml" ContentType="application/vnd.openxmlformats-officedocument.presentationml.slide+xml"/>
  <Override PartName="/ppt/slideMasters/slideMaster213.xml" ContentType="application/vnd.openxmlformats-officedocument.presentationml.slideMaster+xml"/>
  <Override PartName="/ppt/slides/slide213.xml" ContentType="application/vnd.openxmlformats-officedocument.presentationml.slide+xml"/>
  <Override PartName="/ppt/slideMasters/slideMaster214.xml" ContentType="application/vnd.openxmlformats-officedocument.presentationml.slideMaster+xml"/>
  <Override PartName="/ppt/slides/slide214.xml" ContentType="application/vnd.openxmlformats-officedocument.presentationml.slide+xml"/>
  <Override PartName="/ppt/slideMasters/slideMaster215.xml" ContentType="application/vnd.openxmlformats-officedocument.presentationml.slideMaster+xml"/>
  <Override PartName="/ppt/slides/slide215.xml" ContentType="application/vnd.openxmlformats-officedocument.presentationml.slide+xml"/>
  <Override PartName="/ppt/slideMasters/slideMaster216.xml" ContentType="application/vnd.openxmlformats-officedocument.presentationml.slideMaster+xml"/>
  <Override PartName="/ppt/slides/slide216.xml" ContentType="application/vnd.openxmlformats-officedocument.presentationml.slide+xml"/>
  <Override PartName="/ppt/slideMasters/slideMaster217.xml" ContentType="application/vnd.openxmlformats-officedocument.presentationml.slideMaster+xml"/>
  <Override PartName="/ppt/slides/slide217.xml" ContentType="application/vnd.openxmlformats-officedocument.presentationml.slide+xml"/>
  <Override PartName="/ppt/slideMasters/slideMaster218.xml" ContentType="application/vnd.openxmlformats-officedocument.presentationml.slideMaster+xml"/>
  <Override PartName="/ppt/slides/slide218.xml" ContentType="application/vnd.openxmlformats-officedocument.presentationml.slide+xml"/>
  <Override PartName="/ppt/slideMasters/slideMaster219.xml" ContentType="application/vnd.openxmlformats-officedocument.presentationml.slideMaster+xml"/>
  <Override PartName="/ppt/slides/slide219.xml" ContentType="application/vnd.openxmlformats-officedocument.presentationml.slide+xml"/>
  <Override PartName="/ppt/slideMasters/slideMaster220.xml" ContentType="application/vnd.openxmlformats-officedocument.presentationml.slideMaster+xml"/>
  <Override PartName="/ppt/slides/slide220.xml" ContentType="application/vnd.openxmlformats-officedocument.presentationml.slide+xml"/>
  <Override PartName="/ppt/slideMasters/slideMaster221.xml" ContentType="application/vnd.openxmlformats-officedocument.presentationml.slideMaster+xml"/>
  <Override PartName="/ppt/slides/slide221.xml" ContentType="application/vnd.openxmlformats-officedocument.presentationml.slide+xml"/>
  <Override PartName="/ppt/slideMasters/slideMaster222.xml" ContentType="application/vnd.openxmlformats-officedocument.presentationml.slideMaster+xml"/>
  <Override PartName="/ppt/slides/slide222.xml" ContentType="application/vnd.openxmlformats-officedocument.presentationml.slide+xml"/>
  <Override PartName="/ppt/slideMasters/slideMaster223.xml" ContentType="application/vnd.openxmlformats-officedocument.presentationml.slideMaster+xml"/>
  <Override PartName="/ppt/slides/slide223.xml" ContentType="application/vnd.openxmlformats-officedocument.presentationml.slide+xml"/>
  <Override PartName="/ppt/slideMasters/slideMaster224.xml" ContentType="application/vnd.openxmlformats-officedocument.presentationml.slideMaster+xml"/>
  <Override PartName="/ppt/slides/slide224.xml" ContentType="application/vnd.openxmlformats-officedocument.presentationml.slide+xml"/>
  <Override PartName="/ppt/slideMasters/slideMaster225.xml" ContentType="application/vnd.openxmlformats-officedocument.presentationml.slideMaster+xml"/>
  <Override PartName="/ppt/slides/slide225.xml" ContentType="application/vnd.openxmlformats-officedocument.presentationml.slide+xml"/>
  <Override PartName="/ppt/slideMasters/slideMaster226.xml" ContentType="application/vnd.openxmlformats-officedocument.presentationml.slideMaster+xml"/>
  <Override PartName="/ppt/slides/slide226.xml" ContentType="application/vnd.openxmlformats-officedocument.presentationml.slide+xml"/>
  <Override PartName="/ppt/slideMasters/slideMaster227.xml" ContentType="application/vnd.openxmlformats-officedocument.presentationml.slideMaster+xml"/>
  <Override PartName="/ppt/slides/slide227.xml" ContentType="application/vnd.openxmlformats-officedocument.presentationml.slide+xml"/>
  <Override PartName="/ppt/slideMasters/slideMaster228.xml" ContentType="application/vnd.openxmlformats-officedocument.presentationml.slideMaster+xml"/>
  <Override PartName="/ppt/slides/slide228.xml" ContentType="application/vnd.openxmlformats-officedocument.presentationml.slide+xml"/>
  <Override PartName="/ppt/slideMasters/slideMaster229.xml" ContentType="application/vnd.openxmlformats-officedocument.presentationml.slideMaster+xml"/>
  <Override PartName="/ppt/slides/slide229.xml" ContentType="application/vnd.openxmlformats-officedocument.presentationml.slide+xml"/>
  <Override PartName="/ppt/slideMasters/slideMaster230.xml" ContentType="application/vnd.openxmlformats-officedocument.presentationml.slideMaster+xml"/>
  <Override PartName="/ppt/slides/slide230.xml" ContentType="application/vnd.openxmlformats-officedocument.presentationml.slide+xml"/>
  <Override PartName="/ppt/slideMasters/slideMaster231.xml" ContentType="application/vnd.openxmlformats-officedocument.presentationml.slideMaster+xml"/>
  <Override PartName="/ppt/slides/slide231.xml" ContentType="application/vnd.openxmlformats-officedocument.presentationml.slide+xml"/>
  <Override PartName="/ppt/slideMasters/slideMaster232.xml" ContentType="application/vnd.openxmlformats-officedocument.presentationml.slideMaster+xml"/>
  <Override PartName="/ppt/slides/slide232.xml" ContentType="application/vnd.openxmlformats-officedocument.presentationml.slide+xml"/>
  <Override PartName="/ppt/slideMasters/slideMaster233.xml" ContentType="application/vnd.openxmlformats-officedocument.presentationml.slideMaster+xml"/>
  <Override PartName="/ppt/slides/slide233.xml" ContentType="application/vnd.openxmlformats-officedocument.presentationml.slide+xml"/>
  <Override PartName="/ppt/slideMasters/slideMaster234.xml" ContentType="application/vnd.openxmlformats-officedocument.presentationml.slideMaster+xml"/>
  <Override PartName="/ppt/slides/slide234.xml" ContentType="application/vnd.openxmlformats-officedocument.presentationml.slide+xml"/>
  <Override PartName="/ppt/slideMasters/slideMaster235.xml" ContentType="application/vnd.openxmlformats-officedocument.presentationml.slideMaster+xml"/>
  <Override PartName="/ppt/slides/slide235.xml" ContentType="application/vnd.openxmlformats-officedocument.presentationml.slide+xml"/>
  <Override PartName="/ppt/slideMasters/slideMaster236.xml" ContentType="application/vnd.openxmlformats-officedocument.presentationml.slideMaster+xml"/>
  <Override PartName="/ppt/slides/slide236.xml" ContentType="application/vnd.openxmlformats-officedocument.presentationml.slide+xml"/>
  <Override PartName="/ppt/slideMasters/slideMaster237.xml" ContentType="application/vnd.openxmlformats-officedocument.presentationml.slideMaster+xml"/>
  <Override PartName="/ppt/slides/slide237.xml" ContentType="application/vnd.openxmlformats-officedocument.presentationml.slide+xml"/>
  <Override PartName="/ppt/slideMasters/slideMaster238.xml" ContentType="application/vnd.openxmlformats-officedocument.presentationml.slideMaster+xml"/>
  <Override PartName="/ppt/slides/slide238.xml" ContentType="application/vnd.openxmlformats-officedocument.presentationml.slide+xml"/>
  <Override PartName="/ppt/slideMasters/slideMaster239.xml" ContentType="application/vnd.openxmlformats-officedocument.presentationml.slideMaster+xml"/>
  <Override PartName="/ppt/slides/slide239.xml" ContentType="application/vnd.openxmlformats-officedocument.presentationml.slide+xml"/>
  <Override PartName="/ppt/slideMasters/slideMaster240.xml" ContentType="application/vnd.openxmlformats-officedocument.presentationml.slideMaster+xml"/>
  <Override PartName="/ppt/slides/slide240.xml" ContentType="application/vnd.openxmlformats-officedocument.presentationml.slide+xml"/>
  <Override PartName="/ppt/slideMasters/slideMaster241.xml" ContentType="application/vnd.openxmlformats-officedocument.presentationml.slideMaster+xml"/>
  <Override PartName="/ppt/slides/slide241.xml" ContentType="application/vnd.openxmlformats-officedocument.presentationml.slide+xml"/>
  <Override PartName="/ppt/slideMasters/slideMaster242.xml" ContentType="application/vnd.openxmlformats-officedocument.presentationml.slideMaster+xml"/>
  <Override PartName="/ppt/slides/slide242.xml" ContentType="application/vnd.openxmlformats-officedocument.presentationml.slide+xml"/>
  <Override PartName="/ppt/slideMasters/slideMaster243.xml" ContentType="application/vnd.openxmlformats-officedocument.presentationml.slideMaster+xml"/>
  <Override PartName="/ppt/slides/slide243.xml" ContentType="application/vnd.openxmlformats-officedocument.presentationml.slide+xml"/>
  <Override PartName="/ppt/slideMasters/slideMaster244.xml" ContentType="application/vnd.openxmlformats-officedocument.presentationml.slideMaster+xml"/>
  <Override PartName="/ppt/slides/slide244.xml" ContentType="application/vnd.openxmlformats-officedocument.presentationml.slide+xml"/>
  <Override PartName="/ppt/slideMasters/slideMaster245.xml" ContentType="application/vnd.openxmlformats-officedocument.presentationml.slideMaster+xml"/>
  <Override PartName="/ppt/slides/slide245.xml" ContentType="application/vnd.openxmlformats-officedocument.presentationml.slide+xml"/>
  <Override PartName="/ppt/slideMasters/slideMaster246.xml" ContentType="application/vnd.openxmlformats-officedocument.presentationml.slideMaster+xml"/>
  <Override PartName="/ppt/slides/slide246.xml" ContentType="application/vnd.openxmlformats-officedocument.presentationml.slide+xml"/>
  <Override PartName="/ppt/slideMasters/slideMaster247.xml" ContentType="application/vnd.openxmlformats-officedocument.presentationml.slideMaster+xml"/>
  <Override PartName="/ppt/slides/slide247.xml" ContentType="application/vnd.openxmlformats-officedocument.presentationml.slide+xml"/>
  <Override PartName="/ppt/slideMasters/slideMaster248.xml" ContentType="application/vnd.openxmlformats-officedocument.presentationml.slideMaster+xml"/>
  <Override PartName="/ppt/slides/slide248.xml" ContentType="application/vnd.openxmlformats-officedocument.presentationml.slide+xml"/>
  <Override PartName="/ppt/slideMasters/slideMaster249.xml" ContentType="application/vnd.openxmlformats-officedocument.presentationml.slideMaster+xml"/>
  <Override PartName="/ppt/slides/slide249.xml" ContentType="application/vnd.openxmlformats-officedocument.presentationml.slide+xml"/>
  <Override PartName="/ppt/slideMasters/slideMaster250.xml" ContentType="application/vnd.openxmlformats-officedocument.presentationml.slideMaster+xml"/>
  <Override PartName="/ppt/slides/slide250.xml" ContentType="application/vnd.openxmlformats-officedocument.presentationml.slide+xml"/>
  <Override PartName="/ppt/slideMasters/slideMaster251.xml" ContentType="application/vnd.openxmlformats-officedocument.presentationml.slideMaster+xml"/>
  <Override PartName="/ppt/slides/slide251.xml" ContentType="application/vnd.openxmlformats-officedocument.presentationml.slide+xml"/>
  <Override PartName="/ppt/slideMasters/slideMaster252.xml" ContentType="application/vnd.openxmlformats-officedocument.presentationml.slideMaster+xml"/>
  <Override PartName="/ppt/slides/slide252.xml" ContentType="application/vnd.openxmlformats-officedocument.presentationml.slide+xml"/>
  <Override PartName="/ppt/slideMasters/slideMaster253.xml" ContentType="application/vnd.openxmlformats-officedocument.presentationml.slideMaster+xml"/>
  <Override PartName="/ppt/slides/slide253.xml" ContentType="application/vnd.openxmlformats-officedocument.presentationml.slide+xml"/>
  <Override PartName="/ppt/slideMasters/slideMaster254.xml" ContentType="application/vnd.openxmlformats-officedocument.presentationml.slideMaster+xml"/>
  <Override PartName="/ppt/slides/slide254.xml" ContentType="application/vnd.openxmlformats-officedocument.presentationml.slide+xml"/>
  <Override PartName="/ppt/slideMasters/slideMaster255.xml" ContentType="application/vnd.openxmlformats-officedocument.presentationml.slideMaster+xml"/>
  <Override PartName="/ppt/slides/slide255.xml" ContentType="application/vnd.openxmlformats-officedocument.presentationml.slide+xml"/>
  <Override PartName="/ppt/slideMasters/slideMaster256.xml" ContentType="application/vnd.openxmlformats-officedocument.presentationml.slideMaster+xml"/>
  <Override PartName="/ppt/slides/slide256.xml" ContentType="application/vnd.openxmlformats-officedocument.presentationml.slide+xml"/>
  <Override PartName="/ppt/slideMasters/slideMaster257.xml" ContentType="application/vnd.openxmlformats-officedocument.presentationml.slideMaster+xml"/>
  <Override PartName="/ppt/slides/slide257.xml" ContentType="application/vnd.openxmlformats-officedocument.presentationml.slide+xml"/>
  <Override PartName="/ppt/slideMasters/slideMaster258.xml" ContentType="application/vnd.openxmlformats-officedocument.presentationml.slideMaster+xml"/>
  <Override PartName="/ppt/slides/slide258.xml" ContentType="application/vnd.openxmlformats-officedocument.presentationml.slide+xml"/>
  <Override PartName="/ppt/slideMasters/slideMaster259.xml" ContentType="application/vnd.openxmlformats-officedocument.presentationml.slideMaster+xml"/>
  <Override PartName="/ppt/slides/slide259.xml" ContentType="application/vnd.openxmlformats-officedocument.presentationml.slide+xml"/>
  <Override PartName="/ppt/slideMasters/slideMaster260.xml" ContentType="application/vnd.openxmlformats-officedocument.presentationml.slideMaster+xml"/>
  <Override PartName="/ppt/slides/slide260.xml" ContentType="application/vnd.openxmlformats-officedocument.presentationml.slide+xml"/>
  <Override PartName="/ppt/slideMasters/slideMaster261.xml" ContentType="application/vnd.openxmlformats-officedocument.presentationml.slideMaster+xml"/>
  <Override PartName="/ppt/slides/slide261.xml" ContentType="application/vnd.openxmlformats-officedocument.presentationml.slide+xml"/>
  <Override PartName="/ppt/slideMasters/slideMaster262.xml" ContentType="application/vnd.openxmlformats-officedocument.presentationml.slideMaster+xml"/>
  <Override PartName="/ppt/slides/slide262.xml" ContentType="application/vnd.openxmlformats-officedocument.presentationml.slide+xml"/>
  <Override PartName="/ppt/slideMasters/slideMaster263.xml" ContentType="application/vnd.openxmlformats-officedocument.presentationml.slideMaster+xml"/>
  <Override PartName="/ppt/slides/slide263.xml" ContentType="application/vnd.openxmlformats-officedocument.presentationml.slide+xml"/>
  <Override PartName="/ppt/slideMasters/slideMaster264.xml" ContentType="application/vnd.openxmlformats-officedocument.presentationml.slideMaster+xml"/>
  <Override PartName="/ppt/slides/slide264.xml" ContentType="application/vnd.openxmlformats-officedocument.presentationml.slide+xml"/>
  <Override PartName="/ppt/slideMasters/slideMaster265.xml" ContentType="application/vnd.openxmlformats-officedocument.presentationml.slideMaster+xml"/>
  <Override PartName="/ppt/slides/slide265.xml" ContentType="application/vnd.openxmlformats-officedocument.presentationml.slide+xml"/>
  <Override PartName="/ppt/slideMasters/slideMaster266.xml" ContentType="application/vnd.openxmlformats-officedocument.presentationml.slideMaster+xml"/>
  <Override PartName="/ppt/slides/slide266.xml" ContentType="application/vnd.openxmlformats-officedocument.presentationml.slide+xml"/>
  <Override PartName="/ppt/slideMasters/slideMaster267.xml" ContentType="application/vnd.openxmlformats-officedocument.presentationml.slideMaster+xml"/>
  <Override PartName="/ppt/slides/slide267.xml" ContentType="application/vnd.openxmlformats-officedocument.presentationml.slide+xml"/>
  <Override PartName="/ppt/slideMasters/slideMaster268.xml" ContentType="application/vnd.openxmlformats-officedocument.presentationml.slideMaster+xml"/>
  <Override PartName="/ppt/slides/slide268.xml" ContentType="application/vnd.openxmlformats-officedocument.presentationml.slide+xml"/>
  <Override PartName="/ppt/slideMasters/slideMaster269.xml" ContentType="application/vnd.openxmlformats-officedocument.presentationml.slideMaster+xml"/>
  <Override PartName="/ppt/slides/slide269.xml" ContentType="application/vnd.openxmlformats-officedocument.presentationml.slide+xml"/>
  <Override PartName="/ppt/slideMasters/slideMaster270.xml" ContentType="application/vnd.openxmlformats-officedocument.presentationml.slideMaster+xml"/>
  <Override PartName="/ppt/slides/slide270.xml" ContentType="application/vnd.openxmlformats-officedocument.presentationml.slide+xml"/>
  <Override PartName="/ppt/slideMasters/slideMaster271.xml" ContentType="application/vnd.openxmlformats-officedocument.presentationml.slideMaster+xml"/>
  <Override PartName="/ppt/slides/slide271.xml" ContentType="application/vnd.openxmlformats-officedocument.presentationml.slide+xml"/>
  <Override PartName="/ppt/slideMasters/slideMaster272.xml" ContentType="application/vnd.openxmlformats-officedocument.presentationml.slideMaster+xml"/>
  <Override PartName="/ppt/slides/slide27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ppt/notesSlides/notesSlide217.xml" ContentType="application/vnd.openxmlformats-officedocument.presentationml.notesSlide+xml"/>
  <Override PartName="/ppt/notesSlides/notesSlide218.xml" ContentType="application/vnd.openxmlformats-officedocument.presentationml.notesSlide+xml"/>
  <Override PartName="/ppt/notesSlides/notesSlide219.xml" ContentType="application/vnd.openxmlformats-officedocument.presentationml.notesSlide+xml"/>
  <Override PartName="/ppt/notesSlides/notesSlide220.xml" ContentType="application/vnd.openxmlformats-officedocument.presentationml.notesSlide+xml"/>
  <Override PartName="/ppt/notesSlides/notesSlide221.xml" ContentType="application/vnd.openxmlformats-officedocument.presentationml.notesSlide+xml"/>
  <Override PartName="/ppt/notesSlides/notesSlide222.xml" ContentType="application/vnd.openxmlformats-officedocument.presentationml.notesSlide+xml"/>
  <Override PartName="/ppt/notesSlides/notesSlide223.xml" ContentType="application/vnd.openxmlformats-officedocument.presentationml.notesSlide+xml"/>
  <Override PartName="/ppt/notesSlides/notesSlide224.xml" ContentType="application/vnd.openxmlformats-officedocument.presentationml.notesSlide+xml"/>
  <Override PartName="/ppt/notesSlides/notesSlide225.xml" ContentType="application/vnd.openxmlformats-officedocument.presentationml.notesSlide+xml"/>
  <Override PartName="/ppt/notesSlides/notesSlide226.xml" ContentType="application/vnd.openxmlformats-officedocument.presentationml.notesSlide+xml"/>
  <Override PartName="/ppt/notesSlides/notesSlide227.xml" ContentType="application/vnd.openxmlformats-officedocument.presentationml.notesSlide+xml"/>
  <Override PartName="/ppt/notesSlides/notesSlide228.xml" ContentType="application/vnd.openxmlformats-officedocument.presentationml.notesSlide+xml"/>
  <Override PartName="/ppt/notesSlides/notesSlide229.xml" ContentType="application/vnd.openxmlformats-officedocument.presentationml.notesSlide+xml"/>
  <Override PartName="/ppt/notesSlides/notesSlide230.xml" ContentType="application/vnd.openxmlformats-officedocument.presentationml.notesSlide+xml"/>
  <Override PartName="/ppt/notesSlides/notesSlide231.xml" ContentType="application/vnd.openxmlformats-officedocument.presentationml.notesSlide+xml"/>
  <Override PartName="/ppt/notesSlides/notesSlide232.xml" ContentType="application/vnd.openxmlformats-officedocument.presentationml.notesSlide+xml"/>
  <Override PartName="/ppt/notesSlides/notesSlide233.xml" ContentType="application/vnd.openxmlformats-officedocument.presentationml.notesSlide+xml"/>
  <Override PartName="/ppt/notesSlides/notesSlide234.xml" ContentType="application/vnd.openxmlformats-officedocument.presentationml.notesSlide+xml"/>
  <Override PartName="/ppt/notesSlides/notesSlide235.xml" ContentType="application/vnd.openxmlformats-officedocument.presentationml.notesSlide+xml"/>
  <Override PartName="/ppt/notesSlides/notesSlide236.xml" ContentType="application/vnd.openxmlformats-officedocument.presentationml.notesSlide+xml"/>
  <Override PartName="/ppt/notesSlides/notesSlide237.xml" ContentType="application/vnd.openxmlformats-officedocument.presentationml.notesSlide+xml"/>
  <Override PartName="/ppt/notesSlides/notesSlide238.xml" ContentType="application/vnd.openxmlformats-officedocument.presentationml.notesSlide+xml"/>
  <Override PartName="/ppt/notesSlides/notesSlide239.xml" ContentType="application/vnd.openxmlformats-officedocument.presentationml.notesSlide+xml"/>
  <Override PartName="/ppt/notesSlides/notesSlide240.xml" ContentType="application/vnd.openxmlformats-officedocument.presentationml.notesSlide+xml"/>
  <Override PartName="/ppt/notesSlides/notesSlide241.xml" ContentType="application/vnd.openxmlformats-officedocument.presentationml.notesSlide+xml"/>
  <Override PartName="/ppt/notesSlides/notesSlide242.xml" ContentType="application/vnd.openxmlformats-officedocument.presentationml.notesSlide+xml"/>
  <Override PartName="/ppt/notesSlides/notesSlide243.xml" ContentType="application/vnd.openxmlformats-officedocument.presentationml.notesSlide+xml"/>
  <Override PartName="/ppt/notesSlides/notesSlide244.xml" ContentType="application/vnd.openxmlformats-officedocument.presentationml.notesSlide+xml"/>
  <Override PartName="/ppt/notesSlides/notesSlide245.xml" ContentType="application/vnd.openxmlformats-officedocument.presentationml.notesSlide+xml"/>
  <Override PartName="/ppt/notesSlides/notesSlide246.xml" ContentType="application/vnd.openxmlformats-officedocument.presentationml.notesSlide+xml"/>
  <Override PartName="/ppt/notesSlides/notesSlide247.xml" ContentType="application/vnd.openxmlformats-officedocument.presentationml.notesSlide+xml"/>
  <Override PartName="/ppt/notesSlides/notesSlide248.xml" ContentType="application/vnd.openxmlformats-officedocument.presentationml.notesSlide+xml"/>
  <Override PartName="/ppt/notesSlides/notesSlide249.xml" ContentType="application/vnd.openxmlformats-officedocument.presentationml.notesSlide+xml"/>
  <Override PartName="/ppt/notesSlides/notesSlide250.xml" ContentType="application/vnd.openxmlformats-officedocument.presentationml.notesSlide+xml"/>
  <Override PartName="/ppt/notesSlides/notesSlide251.xml" ContentType="application/vnd.openxmlformats-officedocument.presentationml.notesSlide+xml"/>
  <Override PartName="/ppt/notesSlides/notesSlide252.xml" ContentType="application/vnd.openxmlformats-officedocument.presentationml.notesSlide+xml"/>
  <Override PartName="/ppt/notesSlides/notesSlide253.xml" ContentType="application/vnd.openxmlformats-officedocument.presentationml.notesSlide+xml"/>
  <Override PartName="/ppt/notesSlides/notesSlide254.xml" ContentType="application/vnd.openxmlformats-officedocument.presentationml.notesSlide+xml"/>
  <Override PartName="/ppt/notesSlides/notesSlide255.xml" ContentType="application/vnd.openxmlformats-officedocument.presentationml.notesSlide+xml"/>
  <Override PartName="/ppt/notesSlides/notesSlide256.xml" ContentType="application/vnd.openxmlformats-officedocument.presentationml.notesSlide+xml"/>
  <Override PartName="/ppt/notesSlides/notesSlide257.xml" ContentType="application/vnd.openxmlformats-officedocument.presentationml.notesSlide+xml"/>
  <Override PartName="/ppt/notesSlides/notesSlide258.xml" ContentType="application/vnd.openxmlformats-officedocument.presentationml.notesSlide+xml"/>
  <Override PartName="/ppt/notesSlides/notesSlide259.xml" ContentType="application/vnd.openxmlformats-officedocument.presentationml.notesSlide+xml"/>
  <Override PartName="/ppt/notesSlides/notesSlide260.xml" ContentType="application/vnd.openxmlformats-officedocument.presentationml.notesSlide+xml"/>
  <Override PartName="/ppt/notesSlides/notesSlide261.xml" ContentType="application/vnd.openxmlformats-officedocument.presentationml.notesSlide+xml"/>
  <Override PartName="/ppt/notesSlides/notesSlide262.xml" ContentType="application/vnd.openxmlformats-officedocument.presentationml.notesSlide+xml"/>
  <Override PartName="/ppt/notesSlides/notesSlide263.xml" ContentType="application/vnd.openxmlformats-officedocument.presentationml.notesSlide+xml"/>
  <Override PartName="/ppt/notesSlides/notesSlide264.xml" ContentType="application/vnd.openxmlformats-officedocument.presentationml.notesSlide+xml"/>
  <Override PartName="/ppt/notesSlides/notesSlide265.xml" ContentType="application/vnd.openxmlformats-officedocument.presentationml.notesSlide+xml"/>
  <Override PartName="/ppt/notesSlides/notesSlide266.xml" ContentType="application/vnd.openxmlformats-officedocument.presentationml.notesSlide+xml"/>
  <Override PartName="/ppt/notesSlides/notesSlide267.xml" ContentType="application/vnd.openxmlformats-officedocument.presentationml.notesSlide+xml"/>
  <Override PartName="/ppt/notesSlides/notesSlide268.xml" ContentType="application/vnd.openxmlformats-officedocument.presentationml.notesSlide+xml"/>
  <Override PartName="/ppt/notesSlides/notesSlide269.xml" ContentType="application/vnd.openxmlformats-officedocument.presentationml.notesSlide+xml"/>
  <Override PartName="/ppt/notesSlides/notesSlide270.xml" ContentType="application/vnd.openxmlformats-officedocument.presentationml.notesSlide+xml"/>
  <Override PartName="/ppt/notesSlides/notesSlide271.xml" ContentType="application/vnd.openxmlformats-officedocument.presentationml.notesSlide+xml"/>
  <Override PartName="/ppt/notesSlides/notesSlide27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  <p:sldId id="426" r:id="rId172"/>
    <p:sldId id="427" r:id="rId173"/>
    <p:sldId id="428" r:id="rId174"/>
    <p:sldId id="429" r:id="rId175"/>
    <p:sldId id="430" r:id="rId176"/>
    <p:sldId id="431" r:id="rId177"/>
    <p:sldId id="432" r:id="rId178"/>
    <p:sldId id="433" r:id="rId179"/>
    <p:sldId id="434" r:id="rId180"/>
    <p:sldId id="435" r:id="rId181"/>
    <p:sldId id="436" r:id="rId182"/>
    <p:sldId id="437" r:id="rId183"/>
    <p:sldId id="438" r:id="rId184"/>
    <p:sldId id="439" r:id="rId185"/>
    <p:sldId id="440" r:id="rId186"/>
    <p:sldId id="441" r:id="rId187"/>
    <p:sldId id="442" r:id="rId188"/>
    <p:sldId id="443" r:id="rId189"/>
    <p:sldId id="444" r:id="rId190"/>
    <p:sldId id="445" r:id="rId191"/>
    <p:sldId id="446" r:id="rId192"/>
    <p:sldId id="447" r:id="rId193"/>
    <p:sldId id="448" r:id="rId194"/>
    <p:sldId id="449" r:id="rId195"/>
    <p:sldId id="450" r:id="rId196"/>
    <p:sldId id="451" r:id="rId197"/>
    <p:sldId id="452" r:id="rId198"/>
    <p:sldId id="453" r:id="rId199"/>
    <p:sldId id="454" r:id="rId200"/>
    <p:sldId id="455" r:id="rId201"/>
    <p:sldId id="456" r:id="rId202"/>
    <p:sldId id="457" r:id="rId203"/>
    <p:sldId id="458" r:id="rId204"/>
    <p:sldId id="459" r:id="rId205"/>
    <p:sldId id="460" r:id="rId206"/>
    <p:sldId id="461" r:id="rId207"/>
    <p:sldId id="462" r:id="rId208"/>
    <p:sldId id="463" r:id="rId209"/>
    <p:sldId id="464" r:id="rId210"/>
    <p:sldId id="465" r:id="rId211"/>
    <p:sldId id="466" r:id="rId212"/>
    <p:sldId id="467" r:id="rId213"/>
    <p:sldId id="468" r:id="rId214"/>
    <p:sldId id="469" r:id="rId215"/>
    <p:sldId id="470" r:id="rId216"/>
    <p:sldId id="471" r:id="rId217"/>
    <p:sldId id="472" r:id="rId218"/>
    <p:sldId id="473" r:id="rId219"/>
    <p:sldId id="474" r:id="rId220"/>
    <p:sldId id="475" r:id="rId221"/>
    <p:sldId id="476" r:id="rId222"/>
    <p:sldId id="477" r:id="rId223"/>
    <p:sldId id="478" r:id="rId224"/>
    <p:sldId id="479" r:id="rId225"/>
    <p:sldId id="480" r:id="rId226"/>
    <p:sldId id="481" r:id="rId227"/>
    <p:sldId id="482" r:id="rId228"/>
    <p:sldId id="483" r:id="rId229"/>
    <p:sldId id="484" r:id="rId230"/>
    <p:sldId id="485" r:id="rId231"/>
    <p:sldId id="486" r:id="rId232"/>
    <p:sldId id="487" r:id="rId233"/>
    <p:sldId id="488" r:id="rId234"/>
    <p:sldId id="489" r:id="rId235"/>
    <p:sldId id="490" r:id="rId236"/>
    <p:sldId id="491" r:id="rId237"/>
    <p:sldId id="492" r:id="rId238"/>
    <p:sldId id="493" r:id="rId239"/>
    <p:sldId id="494" r:id="rId240"/>
    <p:sldId id="495" r:id="rId241"/>
    <p:sldId id="496" r:id="rId242"/>
    <p:sldId id="497" r:id="rId243"/>
    <p:sldId id="498" r:id="rId244"/>
    <p:sldId id="499" r:id="rId245"/>
    <p:sldId id="500" r:id="rId246"/>
    <p:sldId id="501" r:id="rId247"/>
    <p:sldId id="502" r:id="rId248"/>
    <p:sldId id="503" r:id="rId249"/>
    <p:sldId id="504" r:id="rId250"/>
    <p:sldId id="505" r:id="rId251"/>
    <p:sldId id="506" r:id="rId252"/>
    <p:sldId id="507" r:id="rId253"/>
    <p:sldId id="508" r:id="rId254"/>
    <p:sldId id="509" r:id="rId255"/>
    <p:sldId id="510" r:id="rId256"/>
    <p:sldId id="511" r:id="rId257"/>
    <p:sldId id="512" r:id="rId258"/>
    <p:sldId id="513" r:id="rId259"/>
    <p:sldId id="514" r:id="rId260"/>
    <p:sldId id="515" r:id="rId261"/>
    <p:sldId id="516" r:id="rId262"/>
    <p:sldId id="517" r:id="rId263"/>
    <p:sldId id="518" r:id="rId264"/>
    <p:sldId id="519" r:id="rId265"/>
    <p:sldId id="520" r:id="rId266"/>
    <p:sldId id="521" r:id="rId267"/>
    <p:sldId id="522" r:id="rId268"/>
    <p:sldId id="523" r:id="rId269"/>
    <p:sldId id="524" r:id="rId270"/>
    <p:sldId id="525" r:id="rId271"/>
    <p:sldId id="526" r:id="rId272"/>
    <p:sldId id="527" r:id="rId273"/>
  </p:sldIdLst>
  <p:notesMasterIdLst>
    <p:notesMasterId r:id="rId27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slide" Target="slides/slide151.xml"/><Relationship Id="rId153" Type="http://schemas.openxmlformats.org/officeDocument/2006/relationships/slide" Target="slides/slide152.xml"/><Relationship Id="rId154" Type="http://schemas.openxmlformats.org/officeDocument/2006/relationships/slide" Target="slides/slide153.xml"/><Relationship Id="rId155" Type="http://schemas.openxmlformats.org/officeDocument/2006/relationships/slide" Target="slides/slide154.xml"/><Relationship Id="rId156" Type="http://schemas.openxmlformats.org/officeDocument/2006/relationships/slide" Target="slides/slide155.xml"/><Relationship Id="rId157" Type="http://schemas.openxmlformats.org/officeDocument/2006/relationships/slide" Target="slides/slide156.xml"/><Relationship Id="rId158" Type="http://schemas.openxmlformats.org/officeDocument/2006/relationships/slide" Target="slides/slide157.xml"/><Relationship Id="rId159" Type="http://schemas.openxmlformats.org/officeDocument/2006/relationships/slide" Target="slides/slide158.xml"/><Relationship Id="rId160" Type="http://schemas.openxmlformats.org/officeDocument/2006/relationships/slide" Target="slides/slide159.xml"/><Relationship Id="rId161" Type="http://schemas.openxmlformats.org/officeDocument/2006/relationships/slide" Target="slides/slide160.xml"/><Relationship Id="rId162" Type="http://schemas.openxmlformats.org/officeDocument/2006/relationships/slide" Target="slides/slide161.xml"/><Relationship Id="rId163" Type="http://schemas.openxmlformats.org/officeDocument/2006/relationships/slide" Target="slides/slide162.xml"/><Relationship Id="rId164" Type="http://schemas.openxmlformats.org/officeDocument/2006/relationships/slide" Target="slides/slide163.xml"/><Relationship Id="rId165" Type="http://schemas.openxmlformats.org/officeDocument/2006/relationships/slide" Target="slides/slide164.xml"/><Relationship Id="rId166" Type="http://schemas.openxmlformats.org/officeDocument/2006/relationships/slide" Target="slides/slide165.xml"/><Relationship Id="rId167" Type="http://schemas.openxmlformats.org/officeDocument/2006/relationships/slide" Target="slides/slide166.xml"/><Relationship Id="rId168" Type="http://schemas.openxmlformats.org/officeDocument/2006/relationships/slide" Target="slides/slide167.xml"/><Relationship Id="rId169" Type="http://schemas.openxmlformats.org/officeDocument/2006/relationships/slide" Target="slides/slide168.xml"/><Relationship Id="rId170" Type="http://schemas.openxmlformats.org/officeDocument/2006/relationships/slide" Target="slides/slide169.xml"/><Relationship Id="rId171" Type="http://schemas.openxmlformats.org/officeDocument/2006/relationships/slide" Target="slides/slide170.xml"/><Relationship Id="rId172" Type="http://schemas.openxmlformats.org/officeDocument/2006/relationships/slide" Target="slides/slide171.xml"/><Relationship Id="rId173" Type="http://schemas.openxmlformats.org/officeDocument/2006/relationships/slide" Target="slides/slide172.xml"/><Relationship Id="rId174" Type="http://schemas.openxmlformats.org/officeDocument/2006/relationships/slide" Target="slides/slide173.xml"/><Relationship Id="rId175" Type="http://schemas.openxmlformats.org/officeDocument/2006/relationships/slide" Target="slides/slide174.xml"/><Relationship Id="rId176" Type="http://schemas.openxmlformats.org/officeDocument/2006/relationships/slide" Target="slides/slide175.xml"/><Relationship Id="rId177" Type="http://schemas.openxmlformats.org/officeDocument/2006/relationships/slide" Target="slides/slide176.xml"/><Relationship Id="rId178" Type="http://schemas.openxmlformats.org/officeDocument/2006/relationships/slide" Target="slides/slide177.xml"/><Relationship Id="rId179" Type="http://schemas.openxmlformats.org/officeDocument/2006/relationships/slide" Target="slides/slide178.xml"/><Relationship Id="rId180" Type="http://schemas.openxmlformats.org/officeDocument/2006/relationships/slide" Target="slides/slide179.xml"/><Relationship Id="rId181" Type="http://schemas.openxmlformats.org/officeDocument/2006/relationships/slide" Target="slides/slide180.xml"/><Relationship Id="rId182" Type="http://schemas.openxmlformats.org/officeDocument/2006/relationships/slide" Target="slides/slide181.xml"/><Relationship Id="rId183" Type="http://schemas.openxmlformats.org/officeDocument/2006/relationships/slide" Target="slides/slide182.xml"/><Relationship Id="rId184" Type="http://schemas.openxmlformats.org/officeDocument/2006/relationships/slide" Target="slides/slide183.xml"/><Relationship Id="rId185" Type="http://schemas.openxmlformats.org/officeDocument/2006/relationships/slide" Target="slides/slide184.xml"/><Relationship Id="rId186" Type="http://schemas.openxmlformats.org/officeDocument/2006/relationships/slide" Target="slides/slide185.xml"/><Relationship Id="rId187" Type="http://schemas.openxmlformats.org/officeDocument/2006/relationships/slide" Target="slides/slide186.xml"/><Relationship Id="rId188" Type="http://schemas.openxmlformats.org/officeDocument/2006/relationships/slide" Target="slides/slide187.xml"/><Relationship Id="rId189" Type="http://schemas.openxmlformats.org/officeDocument/2006/relationships/slide" Target="slides/slide188.xml"/><Relationship Id="rId190" Type="http://schemas.openxmlformats.org/officeDocument/2006/relationships/slide" Target="slides/slide189.xml"/><Relationship Id="rId191" Type="http://schemas.openxmlformats.org/officeDocument/2006/relationships/slide" Target="slides/slide190.xml"/><Relationship Id="rId192" Type="http://schemas.openxmlformats.org/officeDocument/2006/relationships/slide" Target="slides/slide191.xml"/><Relationship Id="rId193" Type="http://schemas.openxmlformats.org/officeDocument/2006/relationships/slide" Target="slides/slide192.xml"/><Relationship Id="rId194" Type="http://schemas.openxmlformats.org/officeDocument/2006/relationships/slide" Target="slides/slide193.xml"/><Relationship Id="rId195" Type="http://schemas.openxmlformats.org/officeDocument/2006/relationships/slide" Target="slides/slide194.xml"/><Relationship Id="rId196" Type="http://schemas.openxmlformats.org/officeDocument/2006/relationships/slide" Target="slides/slide195.xml"/><Relationship Id="rId197" Type="http://schemas.openxmlformats.org/officeDocument/2006/relationships/slide" Target="slides/slide196.xml"/><Relationship Id="rId198" Type="http://schemas.openxmlformats.org/officeDocument/2006/relationships/slide" Target="slides/slide197.xml"/><Relationship Id="rId199" Type="http://schemas.openxmlformats.org/officeDocument/2006/relationships/slide" Target="slides/slide198.xml"/><Relationship Id="rId200" Type="http://schemas.openxmlformats.org/officeDocument/2006/relationships/slide" Target="slides/slide199.xml"/><Relationship Id="rId201" Type="http://schemas.openxmlformats.org/officeDocument/2006/relationships/slide" Target="slides/slide200.xml"/><Relationship Id="rId202" Type="http://schemas.openxmlformats.org/officeDocument/2006/relationships/slide" Target="slides/slide201.xml"/><Relationship Id="rId203" Type="http://schemas.openxmlformats.org/officeDocument/2006/relationships/slide" Target="slides/slide202.xml"/><Relationship Id="rId204" Type="http://schemas.openxmlformats.org/officeDocument/2006/relationships/slide" Target="slides/slide203.xml"/><Relationship Id="rId205" Type="http://schemas.openxmlformats.org/officeDocument/2006/relationships/slide" Target="slides/slide204.xml"/><Relationship Id="rId206" Type="http://schemas.openxmlformats.org/officeDocument/2006/relationships/slide" Target="slides/slide205.xml"/><Relationship Id="rId207" Type="http://schemas.openxmlformats.org/officeDocument/2006/relationships/slide" Target="slides/slide206.xml"/><Relationship Id="rId208" Type="http://schemas.openxmlformats.org/officeDocument/2006/relationships/slide" Target="slides/slide207.xml"/><Relationship Id="rId209" Type="http://schemas.openxmlformats.org/officeDocument/2006/relationships/slide" Target="slides/slide208.xml"/><Relationship Id="rId210" Type="http://schemas.openxmlformats.org/officeDocument/2006/relationships/slide" Target="slides/slide209.xml"/><Relationship Id="rId211" Type="http://schemas.openxmlformats.org/officeDocument/2006/relationships/slide" Target="slides/slide210.xml"/><Relationship Id="rId212" Type="http://schemas.openxmlformats.org/officeDocument/2006/relationships/slide" Target="slides/slide211.xml"/><Relationship Id="rId213" Type="http://schemas.openxmlformats.org/officeDocument/2006/relationships/slide" Target="slides/slide212.xml"/><Relationship Id="rId214" Type="http://schemas.openxmlformats.org/officeDocument/2006/relationships/slide" Target="slides/slide213.xml"/><Relationship Id="rId215" Type="http://schemas.openxmlformats.org/officeDocument/2006/relationships/slide" Target="slides/slide214.xml"/><Relationship Id="rId216" Type="http://schemas.openxmlformats.org/officeDocument/2006/relationships/slide" Target="slides/slide215.xml"/><Relationship Id="rId217" Type="http://schemas.openxmlformats.org/officeDocument/2006/relationships/slide" Target="slides/slide216.xml"/><Relationship Id="rId218" Type="http://schemas.openxmlformats.org/officeDocument/2006/relationships/slide" Target="slides/slide217.xml"/><Relationship Id="rId219" Type="http://schemas.openxmlformats.org/officeDocument/2006/relationships/slide" Target="slides/slide218.xml"/><Relationship Id="rId220" Type="http://schemas.openxmlformats.org/officeDocument/2006/relationships/slide" Target="slides/slide219.xml"/><Relationship Id="rId221" Type="http://schemas.openxmlformats.org/officeDocument/2006/relationships/slide" Target="slides/slide220.xml"/><Relationship Id="rId222" Type="http://schemas.openxmlformats.org/officeDocument/2006/relationships/slide" Target="slides/slide221.xml"/><Relationship Id="rId223" Type="http://schemas.openxmlformats.org/officeDocument/2006/relationships/slide" Target="slides/slide222.xml"/><Relationship Id="rId224" Type="http://schemas.openxmlformats.org/officeDocument/2006/relationships/slide" Target="slides/slide223.xml"/><Relationship Id="rId225" Type="http://schemas.openxmlformats.org/officeDocument/2006/relationships/slide" Target="slides/slide224.xml"/><Relationship Id="rId226" Type="http://schemas.openxmlformats.org/officeDocument/2006/relationships/slide" Target="slides/slide225.xml"/><Relationship Id="rId227" Type="http://schemas.openxmlformats.org/officeDocument/2006/relationships/slide" Target="slides/slide226.xml"/><Relationship Id="rId228" Type="http://schemas.openxmlformats.org/officeDocument/2006/relationships/slide" Target="slides/slide227.xml"/><Relationship Id="rId229" Type="http://schemas.openxmlformats.org/officeDocument/2006/relationships/slide" Target="slides/slide228.xml"/><Relationship Id="rId230" Type="http://schemas.openxmlformats.org/officeDocument/2006/relationships/slide" Target="slides/slide229.xml"/><Relationship Id="rId231" Type="http://schemas.openxmlformats.org/officeDocument/2006/relationships/slide" Target="slides/slide230.xml"/><Relationship Id="rId232" Type="http://schemas.openxmlformats.org/officeDocument/2006/relationships/slide" Target="slides/slide231.xml"/><Relationship Id="rId233" Type="http://schemas.openxmlformats.org/officeDocument/2006/relationships/slide" Target="slides/slide232.xml"/><Relationship Id="rId234" Type="http://schemas.openxmlformats.org/officeDocument/2006/relationships/slide" Target="slides/slide233.xml"/><Relationship Id="rId235" Type="http://schemas.openxmlformats.org/officeDocument/2006/relationships/slide" Target="slides/slide234.xml"/><Relationship Id="rId236" Type="http://schemas.openxmlformats.org/officeDocument/2006/relationships/slide" Target="slides/slide235.xml"/><Relationship Id="rId237" Type="http://schemas.openxmlformats.org/officeDocument/2006/relationships/slide" Target="slides/slide236.xml"/><Relationship Id="rId238" Type="http://schemas.openxmlformats.org/officeDocument/2006/relationships/slide" Target="slides/slide237.xml"/><Relationship Id="rId239" Type="http://schemas.openxmlformats.org/officeDocument/2006/relationships/slide" Target="slides/slide238.xml"/><Relationship Id="rId240" Type="http://schemas.openxmlformats.org/officeDocument/2006/relationships/slide" Target="slides/slide239.xml"/><Relationship Id="rId241" Type="http://schemas.openxmlformats.org/officeDocument/2006/relationships/slide" Target="slides/slide240.xml"/><Relationship Id="rId242" Type="http://schemas.openxmlformats.org/officeDocument/2006/relationships/slide" Target="slides/slide241.xml"/><Relationship Id="rId243" Type="http://schemas.openxmlformats.org/officeDocument/2006/relationships/slide" Target="slides/slide242.xml"/><Relationship Id="rId244" Type="http://schemas.openxmlformats.org/officeDocument/2006/relationships/slide" Target="slides/slide243.xml"/><Relationship Id="rId245" Type="http://schemas.openxmlformats.org/officeDocument/2006/relationships/slide" Target="slides/slide244.xml"/><Relationship Id="rId246" Type="http://schemas.openxmlformats.org/officeDocument/2006/relationships/slide" Target="slides/slide245.xml"/><Relationship Id="rId247" Type="http://schemas.openxmlformats.org/officeDocument/2006/relationships/slide" Target="slides/slide246.xml"/><Relationship Id="rId248" Type="http://schemas.openxmlformats.org/officeDocument/2006/relationships/slide" Target="slides/slide247.xml"/><Relationship Id="rId249" Type="http://schemas.openxmlformats.org/officeDocument/2006/relationships/slide" Target="slides/slide248.xml"/><Relationship Id="rId250" Type="http://schemas.openxmlformats.org/officeDocument/2006/relationships/slide" Target="slides/slide249.xml"/><Relationship Id="rId251" Type="http://schemas.openxmlformats.org/officeDocument/2006/relationships/slide" Target="slides/slide250.xml"/><Relationship Id="rId252" Type="http://schemas.openxmlformats.org/officeDocument/2006/relationships/slide" Target="slides/slide251.xml"/><Relationship Id="rId253" Type="http://schemas.openxmlformats.org/officeDocument/2006/relationships/slide" Target="slides/slide252.xml"/><Relationship Id="rId254" Type="http://schemas.openxmlformats.org/officeDocument/2006/relationships/slide" Target="slides/slide253.xml"/><Relationship Id="rId255" Type="http://schemas.openxmlformats.org/officeDocument/2006/relationships/slide" Target="slides/slide254.xml"/><Relationship Id="rId256" Type="http://schemas.openxmlformats.org/officeDocument/2006/relationships/slide" Target="slides/slide255.xml"/><Relationship Id="rId257" Type="http://schemas.openxmlformats.org/officeDocument/2006/relationships/slide" Target="slides/slide256.xml"/><Relationship Id="rId258" Type="http://schemas.openxmlformats.org/officeDocument/2006/relationships/slide" Target="slides/slide257.xml"/><Relationship Id="rId259" Type="http://schemas.openxmlformats.org/officeDocument/2006/relationships/slide" Target="slides/slide258.xml"/><Relationship Id="rId260" Type="http://schemas.openxmlformats.org/officeDocument/2006/relationships/slide" Target="slides/slide259.xml"/><Relationship Id="rId261" Type="http://schemas.openxmlformats.org/officeDocument/2006/relationships/slide" Target="slides/slide260.xml"/><Relationship Id="rId262" Type="http://schemas.openxmlformats.org/officeDocument/2006/relationships/slide" Target="slides/slide261.xml"/><Relationship Id="rId263" Type="http://schemas.openxmlformats.org/officeDocument/2006/relationships/slide" Target="slides/slide262.xml"/><Relationship Id="rId264" Type="http://schemas.openxmlformats.org/officeDocument/2006/relationships/slide" Target="slides/slide263.xml"/><Relationship Id="rId265" Type="http://schemas.openxmlformats.org/officeDocument/2006/relationships/slide" Target="slides/slide264.xml"/><Relationship Id="rId266" Type="http://schemas.openxmlformats.org/officeDocument/2006/relationships/slide" Target="slides/slide265.xml"/><Relationship Id="rId267" Type="http://schemas.openxmlformats.org/officeDocument/2006/relationships/slide" Target="slides/slide266.xml"/><Relationship Id="rId268" Type="http://schemas.openxmlformats.org/officeDocument/2006/relationships/slide" Target="slides/slide267.xml"/><Relationship Id="rId269" Type="http://schemas.openxmlformats.org/officeDocument/2006/relationships/slide" Target="slides/slide268.xml"/><Relationship Id="rId270" Type="http://schemas.openxmlformats.org/officeDocument/2006/relationships/slide" Target="slides/slide269.xml"/><Relationship Id="rId271" Type="http://schemas.openxmlformats.org/officeDocument/2006/relationships/slide" Target="slides/slide270.xml"/><Relationship Id="rId272" Type="http://schemas.openxmlformats.org/officeDocument/2006/relationships/slide" Target="slides/slide271.xml"/><Relationship Id="rId273" Type="http://schemas.openxmlformats.org/officeDocument/2006/relationships/slide" Target="slides/slide272.xml"/><Relationship Id="rId274" Type="http://schemas.openxmlformats.org/officeDocument/2006/relationships/notesMaster" Target="notesMasters/notesMaster1.xml"/><Relationship Id="rId275" Type="http://schemas.openxmlformats.org/officeDocument/2006/relationships/presProps" Target="presProps.xml"/><Relationship Id="rId276" Type="http://schemas.openxmlformats.org/officeDocument/2006/relationships/viewProps" Target="viewProps.xml"/><Relationship Id="rId277" Type="http://schemas.openxmlformats.org/officeDocument/2006/relationships/theme" Target="theme/theme1.xml"/><Relationship Id="rId27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_rels/notesSlide1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8.xml"/>
		</Relationships>
</file>

<file path=ppt/notesSlides/_rels/notesSlide1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9.xml"/>
		</Relationships>
</file>

<file path=ppt/notesSlides/_rels/notesSlide1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0.xml"/>
		</Relationships>
</file>

<file path=ppt/notesSlides/_rels/notesSlide1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1.xml"/>
		</Relationships>
</file>

<file path=ppt/notesSlides/_rels/notesSlide1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2.xml"/>
		</Relationships>
</file>

<file path=ppt/notesSlides/_rels/notesSlide1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3.xml"/>
		</Relationships>
</file>

<file path=ppt/notesSlides/_rels/notesSlide1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4.xml"/>
		</Relationships>
</file>

<file path=ppt/notesSlides/_rels/notesSlide1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5.xml"/>
		</Relationships>
</file>

<file path=ppt/notesSlides/_rels/notesSlide1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6.xml"/>
		</Relationships>
</file>

<file path=ppt/notesSlides/_rels/notesSlide1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7.xml"/>
		</Relationships>
</file>

<file path=ppt/notesSlides/_rels/notesSlide1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8.xml"/>
		</Relationships>
</file>

<file path=ppt/notesSlides/_rels/notesSlide1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9.xml"/>
		</Relationships>
</file>

<file path=ppt/notesSlides/_rels/notesSlide1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0.xml"/>
		</Relationships>
</file>

<file path=ppt/notesSlides/_rels/notesSlide1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1.xml"/>
		</Relationships>
</file>

<file path=ppt/notesSlides/_rels/notesSlide1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2.xml"/>
		</Relationships>
</file>

<file path=ppt/notesSlides/_rels/notesSlide1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3.xml"/>
		</Relationships>
</file>

<file path=ppt/notesSlides/_rels/notesSlide1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4.xml"/>
		</Relationships>
</file>

<file path=ppt/notesSlides/_rels/notesSlide1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5.xml"/>
		</Relationships>
</file>

<file path=ppt/notesSlides/_rels/notesSlide1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6.xml"/>
		</Relationships>
</file>

<file path=ppt/notesSlides/_rels/notesSlide1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7.xml"/>
		</Relationships>
</file>

<file path=ppt/notesSlides/_rels/notesSlide1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8.xml"/>
		</Relationships>
</file>

<file path=ppt/notesSlides/_rels/notesSlide1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9.xml"/>
		</Relationships>
</file>

<file path=ppt/notesSlides/_rels/notesSlide1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0.xml"/>
		</Relationships>
</file>

<file path=ppt/notesSlides/_rels/notesSlide1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1.xml"/>
		</Relationships>
</file>

<file path=ppt/notesSlides/_rels/notesSlide1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2.xml"/>
		</Relationships>
</file>

<file path=ppt/notesSlides/_rels/notesSlide1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3.xml"/>
		</Relationships>
</file>

<file path=ppt/notesSlides/_rels/notesSlide1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4.xml"/>
		</Relationships>
</file>

<file path=ppt/notesSlides/_rels/notesSlide1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5.xml"/>
		</Relationships>
</file>

<file path=ppt/notesSlides/_rels/notesSlide1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6.xml"/>
		</Relationships>
</file>

<file path=ppt/notesSlides/_rels/notesSlide1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7.xml"/>
		</Relationships>
</file>

<file path=ppt/notesSlides/_rels/notesSlide1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8.xml"/>
		</Relationships>
</file>

<file path=ppt/notesSlides/_rels/notesSlide1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9.xml"/>
		</Relationships>
</file>

<file path=ppt/notesSlides/_rels/notesSlide1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0.xml"/>
		</Relationships>
</file>

<file path=ppt/notesSlides/_rels/notesSlide1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1.xml"/>
		</Relationships>
</file>

<file path=ppt/notesSlides/_rels/notesSlide1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2.xml"/>
		</Relationships>
</file>

<file path=ppt/notesSlides/_rels/notesSlide1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3.xml"/>
		</Relationships>
</file>

<file path=ppt/notesSlides/_rels/notesSlide1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4.xml"/>
		</Relationships>
</file>

<file path=ppt/notesSlides/_rels/notesSlide1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5.xml"/>
		</Relationships>
</file>

<file path=ppt/notesSlides/_rels/notesSlide1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6.xml"/>
		</Relationships>
</file>

<file path=ppt/notesSlides/_rels/notesSlide1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7.xml"/>
		</Relationships>
</file>

<file path=ppt/notesSlides/_rels/notesSlide1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8.xml"/>
		</Relationships>
</file>

<file path=ppt/notesSlides/_rels/notesSlide1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9.xml"/>
		</Relationships>
</file>

<file path=ppt/notesSlides/_rels/notesSlide1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0.xml"/>
		</Relationships>
</file>

<file path=ppt/notesSlides/_rels/notesSlide1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1.xml"/>
		</Relationships>
</file>

<file path=ppt/notesSlides/_rels/notesSlide1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2.xml"/>
		</Relationships>
</file>

<file path=ppt/notesSlides/_rels/notesSlide1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3.xml"/>
		</Relationships>
</file>

<file path=ppt/notesSlides/_rels/notesSlide1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4.xml"/>
		</Relationships>
</file>

<file path=ppt/notesSlides/_rels/notesSlide1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5.xml"/>
		</Relationships>
</file>

<file path=ppt/notesSlides/_rels/notesSlide1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6.xml"/>
		</Relationships>
</file>

<file path=ppt/notesSlides/_rels/notesSlide1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7.xml"/>
		</Relationships>
</file>

<file path=ppt/notesSlides/_rels/notesSlide1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8.xml"/>
		</Relationships>
</file>

<file path=ppt/notesSlides/_rels/notesSlide1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9.xml"/>
		</Relationships>
</file>

<file path=ppt/notesSlides/_rels/notesSlide2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0.xml"/>
		</Relationships>
</file>

<file path=ppt/notesSlides/_rels/notesSlide2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1.xml"/>
		</Relationships>
</file>

<file path=ppt/notesSlides/_rels/notesSlide2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2.xml"/>
		</Relationships>
</file>

<file path=ppt/notesSlides/_rels/notesSlide2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3.xml"/>
		</Relationships>
</file>

<file path=ppt/notesSlides/_rels/notesSlide2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4.xml"/>
		</Relationships>
</file>

<file path=ppt/notesSlides/_rels/notesSlide2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5.xml"/>
		</Relationships>
</file>

<file path=ppt/notesSlides/_rels/notesSlide2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6.xml"/>
		</Relationships>
</file>

<file path=ppt/notesSlides/_rels/notesSlide2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7.xml"/>
		</Relationships>
</file>

<file path=ppt/notesSlides/_rels/notesSlide2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8.xml"/>
		</Relationships>
</file>

<file path=ppt/notesSlides/_rels/notesSlide2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9.xml"/>
		</Relationships>
</file>

<file path=ppt/notesSlides/_rels/notesSlide2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0.xml"/>
		</Relationships>
</file>

<file path=ppt/notesSlides/_rels/notesSlide2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1.xml"/>
		</Relationships>
</file>

<file path=ppt/notesSlides/_rels/notesSlide2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2.xml"/>
		</Relationships>
</file>

<file path=ppt/notesSlides/_rels/notesSlide2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3.xml"/>
		</Relationships>
</file>

<file path=ppt/notesSlides/_rels/notesSlide2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4.xml"/>
		</Relationships>
</file>

<file path=ppt/notesSlides/_rels/notesSlide2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5.xml"/>
		</Relationships>
</file>

<file path=ppt/notesSlides/_rels/notesSlide2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6.xml"/>
		</Relationships>
</file>

<file path=ppt/notesSlides/_rels/notesSlide2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7.xml"/>
		</Relationships>
</file>

<file path=ppt/notesSlides/_rels/notesSlide2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8.xml"/>
		</Relationships>
</file>

<file path=ppt/notesSlides/_rels/notesSlide2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9.xml"/>
		</Relationships>
</file>

<file path=ppt/notesSlides/_rels/notesSlide2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0.xml"/>
		</Relationships>
</file>

<file path=ppt/notesSlides/_rels/notesSlide2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1.xml"/>
		</Relationships>
</file>

<file path=ppt/notesSlides/_rels/notesSlide2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2.xml"/>
		</Relationships>
</file>

<file path=ppt/notesSlides/_rels/notesSlide2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3.xml"/>
		</Relationships>
</file>

<file path=ppt/notesSlides/_rels/notesSlide2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4.xml"/>
		</Relationships>
</file>

<file path=ppt/notesSlides/_rels/notesSlide2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5.xml"/>
		</Relationships>
</file>

<file path=ppt/notesSlides/_rels/notesSlide2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6.xml"/>
		</Relationships>
</file>

<file path=ppt/notesSlides/_rels/notesSlide2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7.xml"/>
		</Relationships>
</file>

<file path=ppt/notesSlides/_rels/notesSlide2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8.xml"/>
		</Relationships>
</file>

<file path=ppt/notesSlides/_rels/notesSlide2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9.xml"/>
		</Relationships>
</file>

<file path=ppt/notesSlides/_rels/notesSlide2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0.xml"/>
		</Relationships>
</file>

<file path=ppt/notesSlides/_rels/notesSlide2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1.xml"/>
		</Relationships>
</file>

<file path=ppt/notesSlides/_rels/notesSlide2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2.xml"/>
		</Relationships>
</file>

<file path=ppt/notesSlides/_rels/notesSlide2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3.xml"/>
		</Relationships>
</file>

<file path=ppt/notesSlides/_rels/notesSlide2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4.xml"/>
		</Relationships>
</file>

<file path=ppt/notesSlides/_rels/notesSlide2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5.xml"/>
		</Relationships>
</file>

<file path=ppt/notesSlides/_rels/notesSlide2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6.xml"/>
		</Relationships>
</file>

<file path=ppt/notesSlides/_rels/notesSlide2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7.xml"/>
		</Relationships>
</file>

<file path=ppt/notesSlides/_rels/notesSlide2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8.xml"/>
		</Relationships>
</file>

<file path=ppt/notesSlides/_rels/notesSlide2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9.xml"/>
		</Relationships>
</file>

<file path=ppt/notesSlides/_rels/notesSlide2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0.xml"/>
		</Relationships>
</file>

<file path=ppt/notesSlides/_rels/notesSlide2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1.xml"/>
		</Relationships>
</file>

<file path=ppt/notesSlides/_rels/notesSlide2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2.xml"/>
		</Relationships>
</file>

<file path=ppt/notesSlides/_rels/notesSlide2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3.xml"/>
		</Relationships>
</file>

<file path=ppt/notesSlides/_rels/notesSlide2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4.xml"/>
		</Relationships>
</file>

<file path=ppt/notesSlides/_rels/notesSlide2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5.xml"/>
		</Relationships>
</file>

<file path=ppt/notesSlides/_rels/notesSlide2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6.xml"/>
		</Relationships>
</file>

<file path=ppt/notesSlides/_rels/notesSlide2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7.xml"/>
		</Relationships>
</file>

<file path=ppt/notesSlides/_rels/notesSlide2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8.xml"/>
		</Relationships>
</file>

<file path=ppt/notesSlides/_rels/notesSlide2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9.xml"/>
		</Relationships>
</file>

<file path=ppt/notesSlides/_rels/notesSlide2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0.xml"/>
		</Relationships>
</file>

<file path=ppt/notesSlides/_rels/notesSlide2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1.xml"/>
		</Relationships>
</file>

<file path=ppt/notesSlides/_rels/notesSlide2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2.xml"/>
		</Relationships>
</file>

<file path=ppt/notesSlides/_rels/notesSlide2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3.xml"/>
		</Relationships>
</file>

<file path=ppt/notesSlides/_rels/notesSlide2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4.xml"/>
		</Relationships>
</file>

<file path=ppt/notesSlides/_rels/notesSlide2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5.xml"/>
		</Relationships>
</file>

<file path=ppt/notesSlides/_rels/notesSlide2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6.xml"/>
		</Relationships>
</file>

<file path=ppt/notesSlides/_rels/notesSlide2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7.xml"/>
		</Relationships>
</file>

<file path=ppt/notesSlides/_rels/notesSlide2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8.xml"/>
		</Relationships>
</file>

<file path=ppt/notesSlides/_rels/notesSlide2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9.xml"/>
		</Relationships>
</file>

<file path=ppt/notesSlides/_rels/notesSlide2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0.xml"/>
		</Relationships>
</file>

<file path=ppt/notesSlides/_rels/notesSlide2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1.xml"/>
		</Relationships>
</file>

<file path=ppt/notesSlides/_rels/notesSlide2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2.xml"/>
		</Relationships>
</file>

<file path=ppt/notesSlides/_rels/notesSlide2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3.xml"/>
		</Relationships>
</file>

<file path=ppt/notesSlides/_rels/notesSlide2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4.xml"/>
		</Relationships>
</file>

<file path=ppt/notesSlides/_rels/notesSlide2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5.xml"/>
		</Relationships>
</file>

<file path=ppt/notesSlides/_rels/notesSlide2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6.xml"/>
		</Relationships>
</file>

<file path=ppt/notesSlides/_rels/notesSlide2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7.xml"/>
		</Relationships>
</file>

<file path=ppt/notesSlides/_rels/notesSlide2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8.xml"/>
		</Relationships>
</file>

<file path=ppt/notesSlides/_rels/notesSlide2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9.xml"/>
		</Relationships>
</file>

<file path=ppt/notesSlides/_rels/notesSlide2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0.xml"/>
		</Relationships>
</file>

<file path=ppt/notesSlides/_rels/notesSlide2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1.xml"/>
		</Relationships>
</file>

<file path=ppt/notesSlides/_rels/notesSlide2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5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7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8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0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1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3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4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5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6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7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8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9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0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1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3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4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5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6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7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8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9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0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1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2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3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4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5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6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7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8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9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0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1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2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3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4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5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6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7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8.xml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9.xml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0.xml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1.xml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2.xml"/></Relationships>
</file>

<file path=ppt/slides/_rels/slide1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3.xml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4.xml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5.xml"/></Relationships>
</file>

<file path=ppt/slides/_rels/slide1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6.xml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7.xml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8.xml"/></Relationships>
</file>

<file path=ppt/slides/_rels/slide1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9.xml"/></Relationships>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0.xml"/></Relationships>
</file>

<file path=ppt/slides/_rels/slide2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1.xml"/></Relationships>
</file>

<file path=ppt/slides/_rels/slide2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2.xml"/></Relationships>
</file>

<file path=ppt/slides/_rels/slide2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3.xml"/></Relationships>
</file>

<file path=ppt/slides/_rels/slide2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4.xml"/></Relationships>
</file>

<file path=ppt/slides/_rels/slide20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5.xml"/></Relationships>
</file>

<file path=ppt/slides/_rels/slide2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6.xml"/></Relationships>
</file>

<file path=ppt/slides/_rels/slide2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7.xml"/></Relationships>
</file>

<file path=ppt/slides/_rels/slide2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8.xml"/></Relationships>
</file>

<file path=ppt/slides/_rels/slide2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9.xml"/></Relationships>
</file>

<file path=ppt/slides/_rels/slide2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0.xml"/></Relationships>
</file>

<file path=ppt/slides/_rels/slide2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1.xml"/></Relationships>
</file>

<file path=ppt/slides/_rels/slide2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2.xml"/></Relationships>
</file>

<file path=ppt/slides/_rels/slide2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3.xml"/></Relationships>
</file>

<file path=ppt/slides/_rels/slide2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4.xml"/></Relationships>
</file>

<file path=ppt/slides/_rels/slide2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5.xml"/></Relationships>
</file>

<file path=ppt/slides/_rels/slide2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6.xml"/></Relationships>
</file>

<file path=ppt/slides/_rels/slide2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7.xml"/></Relationships>
</file>

<file path=ppt/slides/_rels/slide2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8.xml"/></Relationships>
</file>

<file path=ppt/slides/_rels/slide2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9.xml"/></Relationships>
</file>

<file path=ppt/slides/_rels/slide2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0.xml"/></Relationships>
</file>

<file path=ppt/slides/_rels/slide2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1.xml"/></Relationships>
</file>

<file path=ppt/slides/_rels/slide2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2.xml"/></Relationships>
</file>

<file path=ppt/slides/_rels/slide2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3.xml"/></Relationships>
</file>

<file path=ppt/slides/_rels/slide2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4.xml"/></Relationships>
</file>

<file path=ppt/slides/_rels/slide2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5.xml"/></Relationships>
</file>

<file path=ppt/slides/_rels/slide2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6.xml"/></Relationships>
</file>

<file path=ppt/slides/_rels/slide2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7.xml"/></Relationships>
</file>

<file path=ppt/slides/_rels/slide2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8.xml"/></Relationships>
</file>

<file path=ppt/slides/_rels/slide2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9.xml"/></Relationships>
</file>

<file path=ppt/slides/_rels/slide2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0.xml"/></Relationships>
</file>

<file path=ppt/slides/_rels/slide2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1.xml"/></Relationships>
</file>

<file path=ppt/slides/_rels/slide2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2.xml"/></Relationships>
</file>

<file path=ppt/slides/_rels/slide2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3.xml"/></Relationships>
</file>

<file path=ppt/slides/_rels/slide2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4.xml"/></Relationships>
</file>

<file path=ppt/slides/_rels/slide2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5.xml"/></Relationships>
</file>

<file path=ppt/slides/_rels/slide2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6.xml"/></Relationships>
</file>

<file path=ppt/slides/_rels/slide2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7.xml"/></Relationships>
</file>

<file path=ppt/slides/_rels/slide2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8.xml"/></Relationships>
</file>

<file path=ppt/slides/_rels/slide2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9.xml"/></Relationships>
</file>

<file path=ppt/slides/_rels/slide2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0.xml"/></Relationships>
</file>

<file path=ppt/slides/_rels/slide2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1.xml"/></Relationships>
</file>

<file path=ppt/slides/_rels/slide2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2.xml"/></Relationships>
</file>

<file path=ppt/slides/_rels/slide2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3.xml"/></Relationships>
</file>

<file path=ppt/slides/_rels/slide2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4.xml"/></Relationships>
</file>

<file path=ppt/slides/_rels/slide2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5.xml"/></Relationships>
</file>

<file path=ppt/slides/_rels/slide2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6.xml"/></Relationships>
</file>

<file path=ppt/slides/_rels/slide2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7.xml"/></Relationships>
</file>

<file path=ppt/slides/_rels/slide2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8.xml"/></Relationships>
</file>

<file path=ppt/slides/_rels/slide2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9.xml"/></Relationships>
</file>

<file path=ppt/slides/_rels/slide2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0.xml"/></Relationships>
</file>

<file path=ppt/slides/_rels/slide2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1.xml"/></Relationships>
</file>

<file path=ppt/slides/_rels/slide2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2.xml"/></Relationships>
</file>

<file path=ppt/slides/_rels/slide2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3.xml"/></Relationships>
</file>

<file path=ppt/slides/_rels/slide2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4.xml"/></Relationships>
</file>

<file path=ppt/slides/_rels/slide2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5.xml"/></Relationships>
</file>

<file path=ppt/slides/_rels/slide2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6.xml"/></Relationships>
</file>

<file path=ppt/slides/_rels/slide2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7.xml"/></Relationships>
</file>

<file path=ppt/slides/_rels/slide2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8.xml"/></Relationships>
</file>

<file path=ppt/slides/_rels/slide2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9.xml"/></Relationships>
</file>

<file path=ppt/slides/_rels/slide2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0.xml"/></Relationships>
</file>

<file path=ppt/slides/_rels/slide2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1.xml"/></Relationships>
</file>

<file path=ppt/slides/_rels/slide2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2.xml"/></Relationships>
</file>

<file path=ppt/slides/_rels/slide2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3.xml"/></Relationships>
</file>

<file path=ppt/slides/_rels/slide2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4.xml"/></Relationships>
</file>

<file path=ppt/slides/_rels/slide2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5.xml"/></Relationships>
</file>

<file path=ppt/slides/_rels/slide2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6.xml"/></Relationships>
</file>

<file path=ppt/slides/_rels/slide2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7.xml"/></Relationships>
</file>

<file path=ppt/slides/_rels/slide2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8.xml"/></Relationships>
</file>

<file path=ppt/slides/_rels/slide2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9.xml"/></Relationships>
</file>

<file path=ppt/slides/_rels/slide2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0.xml"/></Relationships>
</file>

<file path=ppt/slides/_rels/slide2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1.xml"/></Relationships>
</file>

<file path=ppt/slides/_rels/slide2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09360"/>
            <a:ext cx="12192000" cy="36576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0" y="2331720"/>
            <a:ext cx="3959352" cy="27432"/>
          </a:xfrm>
          <a:prstGeom prst="rect">
            <a:avLst/>
          </a:prstGeom>
          <a:solidFill>
            <a:srgbClr val="C5A059"/>
          </a:solidFill>
          <a:ln/>
        </p:spPr>
      </p:sp>
      <p:pic>
        <p:nvPicPr>
          <p:cNvPr id="5" name="Image 0" descr="C:\Users\VELOSO\Documents\GitHub\stsn-connect\public\stsn-cr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4104" y="502920"/>
            <a:ext cx="1371600" cy="1371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1965960"/>
            <a:ext cx="1219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ST. THERESA'S SCHOOL NETWORK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0" y="2423160"/>
            <a:ext cx="1219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</a:t>
            </a:r>
            <a:endParaRPr lang="en-US" sz="6600" dirty="0"/>
          </a:p>
        </p:txBody>
      </p:sp>
      <p:sp>
        <p:nvSpPr>
          <p:cNvPr id="8" name="Text 5"/>
          <p:cNvSpPr/>
          <p:nvPr/>
        </p:nvSpPr>
        <p:spPr>
          <a:xfrm>
            <a:off x="0" y="3657600"/>
            <a:ext cx="1219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Integrated School Management System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343400" y="4251960"/>
            <a:ext cx="3502152" cy="411480"/>
          </a:xfrm>
          <a:prstGeom prst="rect">
            <a:avLst/>
          </a:prstGeom>
          <a:ln w="19050">
            <a:solidFill>
              <a:srgbClr val="C5A05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343400" y="4251960"/>
            <a:ext cx="35021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50" kern="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DEMO GUIDE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25196" y="489204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pPr algn="ctr" indent="0" marL="0">
              <a:buNone/>
            </a:pPr>
            <a:endParaRPr lang="en-US" sz="3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Roles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3351276" y="489204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25+</a:t>
            </a:r>
            <a:pPr algn="ctr" indent="0" marL="0">
              <a:buNone/>
            </a:pPr>
            <a:endParaRPr lang="en-US" sz="3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Modules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6277356" y="489204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60+</a:t>
            </a:r>
            <a:pPr algn="ctr" indent="0" marL="0">
              <a:buNone/>
            </a:pPr>
            <a:endParaRPr lang="en-US" sz="3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Pages / Tabs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9203436" y="489204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pPr algn="ctr" indent="0" marL="0">
              <a:buNone/>
            </a:pPr>
            <a:endParaRPr lang="en-US" sz="3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Academic Units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0" y="6537960"/>
            <a:ext cx="1219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349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June 2026  ·  Confidential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0" y="0"/>
            <a:ext cx="7159752" cy="6858000"/>
          </a:xfrm>
          <a:prstGeom prst="rect">
            <a:avLst/>
          </a:prstGeom>
          <a:solidFill>
            <a:srgbClr val="FFFDF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5029200" cy="54864"/>
          </a:xfrm>
          <a:prstGeom prst="rect">
            <a:avLst/>
          </a:prstGeom>
          <a:solidFill>
            <a:srgbClr val="C5A059"/>
          </a:solidFill>
          <a:ln/>
        </p:spPr>
      </p:sp>
      <p:pic>
        <p:nvPicPr>
          <p:cNvPr id="5" name="Image 0" descr="C:\Users\VELOSO\Documents\GitHub\stsn-connect\public\stsn-cr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28600"/>
            <a:ext cx="685800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274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43000" y="5486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Overview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74320" y="1005840"/>
            <a:ext cx="44805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is a comprehensive, web-based school management system that integrates every aspect of school operations — from admissions and grade encoding to payroll processing and parent communication — in a single, unified platform. Supports both Basic Education (K–12) and College academic structures.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74320" y="2743200"/>
            <a:ext cx="4480560" cy="731520"/>
          </a:xfrm>
          <a:prstGeom prst="rect">
            <a:avLst/>
          </a:prstGeom>
          <a:solidFill>
            <a:srgbClr val="3D2B1F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27889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1463040" y="294436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Roles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74320" y="3611880"/>
            <a:ext cx="4480560" cy="731520"/>
          </a:xfrm>
          <a:prstGeom prst="rect">
            <a:avLst/>
          </a:prstGeom>
          <a:solidFill>
            <a:srgbClr val="3D2B1F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36576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25+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1463040" y="381304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74320" y="4480560"/>
            <a:ext cx="4480560" cy="731520"/>
          </a:xfrm>
          <a:prstGeom prst="rect">
            <a:avLst/>
          </a:prstGeom>
          <a:solidFill>
            <a:srgbClr val="3D2B1F"/>
          </a:solidFill>
          <a:ln/>
        </p:spPr>
      </p:sp>
      <p:sp>
        <p:nvSpPr>
          <p:cNvPr id="16" name="Text 13"/>
          <p:cNvSpPr/>
          <p:nvPr/>
        </p:nvSpPr>
        <p:spPr>
          <a:xfrm>
            <a:off x="457200" y="452628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60+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1463040" y="468172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Pages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303520" y="22860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ROLES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303520" y="548640"/>
            <a:ext cx="649224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0" name="Shape 17"/>
          <p:cNvSpPr/>
          <p:nvPr/>
        </p:nvSpPr>
        <p:spPr>
          <a:xfrm>
            <a:off x="5303520" y="685800"/>
            <a:ext cx="3017520" cy="365760"/>
          </a:xfrm>
          <a:prstGeom prst="rect">
            <a:avLst/>
          </a:prstGeom>
          <a:solidFill>
            <a:srgbClr val="F0ECE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303520" y="685800"/>
            <a:ext cx="36576" cy="36576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2" name="Text 19"/>
          <p:cNvSpPr/>
          <p:nvPr/>
        </p:nvSpPr>
        <p:spPr>
          <a:xfrm>
            <a:off x="5394960" y="704088"/>
            <a:ext cx="2834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5394960" y="868680"/>
            <a:ext cx="28346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system access — all 29 modules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5303520" y="1124712"/>
            <a:ext cx="3017520" cy="365760"/>
          </a:xfrm>
          <a:prstGeom prst="rect">
            <a:avLst/>
          </a:prstGeom>
          <a:solidFill>
            <a:srgbClr val="F0ECE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303520" y="1124712"/>
            <a:ext cx="36576" cy="36576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6" name="Text 23"/>
          <p:cNvSpPr/>
          <p:nvPr/>
        </p:nvSpPr>
        <p:spPr>
          <a:xfrm>
            <a:off x="5394960" y="1143000"/>
            <a:ext cx="2834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Administrator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5394960" y="1307592"/>
            <a:ext cx="28346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 oversight — HR and registrar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5303520" y="1563624"/>
            <a:ext cx="3017520" cy="365760"/>
          </a:xfrm>
          <a:prstGeom prst="rect">
            <a:avLst/>
          </a:prstGeom>
          <a:solidFill>
            <a:srgbClr val="F0ECE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303520" y="1563624"/>
            <a:ext cx="36576" cy="36576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30" name="Text 27"/>
          <p:cNvSpPr/>
          <p:nvPr/>
        </p:nvSpPr>
        <p:spPr>
          <a:xfrm>
            <a:off x="5394960" y="1581912"/>
            <a:ext cx="2834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Principal / Director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5394960" y="1746504"/>
            <a:ext cx="28346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Academic oversight — grading and faculty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5303520" y="2002536"/>
            <a:ext cx="3017520" cy="365760"/>
          </a:xfrm>
          <a:prstGeom prst="rect">
            <a:avLst/>
          </a:prstGeom>
          <a:solidFill>
            <a:srgbClr val="F0ECE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303520" y="2002536"/>
            <a:ext cx="36576" cy="36576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34" name="Text 31"/>
          <p:cNvSpPr/>
          <p:nvPr/>
        </p:nvSpPr>
        <p:spPr>
          <a:xfrm>
            <a:off x="5394960" y="2020824"/>
            <a:ext cx="2834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Registrar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5394960" y="2185416"/>
            <a:ext cx="28346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Admissions, enrollment, and student records</a:t>
            </a:r>
            <a:endParaRPr lang="en-US" sz="750" dirty="0"/>
          </a:p>
        </p:txBody>
      </p:sp>
      <p:sp>
        <p:nvSpPr>
          <p:cNvPr id="36" name="Shape 33"/>
          <p:cNvSpPr/>
          <p:nvPr/>
        </p:nvSpPr>
        <p:spPr>
          <a:xfrm>
            <a:off x="5303520" y="2441448"/>
            <a:ext cx="3017520" cy="365760"/>
          </a:xfrm>
          <a:prstGeom prst="rect">
            <a:avLst/>
          </a:prstGeom>
          <a:solidFill>
            <a:srgbClr val="F0ECE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5303520" y="2441448"/>
            <a:ext cx="36576" cy="36576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38" name="Text 35"/>
          <p:cNvSpPr/>
          <p:nvPr/>
        </p:nvSpPr>
        <p:spPr>
          <a:xfrm>
            <a:off x="5394960" y="2459736"/>
            <a:ext cx="2834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Accounting Staff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5394960" y="2624328"/>
            <a:ext cx="28346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Finance, ledger, AR/AP, and billing</a:t>
            </a:r>
            <a:endParaRPr lang="en-US" sz="750" dirty="0"/>
          </a:p>
        </p:txBody>
      </p:sp>
      <p:sp>
        <p:nvSpPr>
          <p:cNvPr id="40" name="Shape 37"/>
          <p:cNvSpPr/>
          <p:nvPr/>
        </p:nvSpPr>
        <p:spPr>
          <a:xfrm>
            <a:off x="5303520" y="2880360"/>
            <a:ext cx="3017520" cy="365760"/>
          </a:xfrm>
          <a:prstGeom prst="rect">
            <a:avLst/>
          </a:prstGeom>
          <a:solidFill>
            <a:srgbClr val="F0ECE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5303520" y="2880360"/>
            <a:ext cx="36576" cy="36576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2" name="Text 39"/>
          <p:cNvSpPr/>
          <p:nvPr/>
        </p:nvSpPr>
        <p:spPr>
          <a:xfrm>
            <a:off x="5394960" y="2898648"/>
            <a:ext cx="2834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Cashier</a:t>
            </a:r>
            <a:endParaRPr lang="en-US" sz="850" dirty="0"/>
          </a:p>
        </p:txBody>
      </p:sp>
      <p:sp>
        <p:nvSpPr>
          <p:cNvPr id="43" name="Text 40"/>
          <p:cNvSpPr/>
          <p:nvPr/>
        </p:nvSpPr>
        <p:spPr>
          <a:xfrm>
            <a:off x="5394960" y="3063240"/>
            <a:ext cx="28346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 collection and receipts</a:t>
            </a:r>
            <a:endParaRPr lang="en-US" sz="750" dirty="0"/>
          </a:p>
        </p:txBody>
      </p:sp>
      <p:sp>
        <p:nvSpPr>
          <p:cNvPr id="44" name="Shape 41"/>
          <p:cNvSpPr/>
          <p:nvPr/>
        </p:nvSpPr>
        <p:spPr>
          <a:xfrm>
            <a:off x="5303520" y="3319272"/>
            <a:ext cx="3017520" cy="365760"/>
          </a:xfrm>
          <a:prstGeom prst="rect">
            <a:avLst/>
          </a:prstGeom>
          <a:solidFill>
            <a:srgbClr val="F0ECE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303520" y="3319272"/>
            <a:ext cx="36576" cy="36576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6" name="Text 43"/>
          <p:cNvSpPr/>
          <p:nvPr/>
        </p:nvSpPr>
        <p:spPr>
          <a:xfrm>
            <a:off x="5394960" y="3337560"/>
            <a:ext cx="2834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Teacher / Faculty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5394960" y="3502152"/>
            <a:ext cx="28346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Grade encoding and class management</a:t>
            </a:r>
            <a:endParaRPr lang="en-US" sz="750" dirty="0"/>
          </a:p>
        </p:txBody>
      </p:sp>
      <p:sp>
        <p:nvSpPr>
          <p:cNvPr id="48" name="Shape 45"/>
          <p:cNvSpPr/>
          <p:nvPr/>
        </p:nvSpPr>
        <p:spPr>
          <a:xfrm>
            <a:off x="8595360" y="685800"/>
            <a:ext cx="3017520" cy="365760"/>
          </a:xfrm>
          <a:prstGeom prst="rect">
            <a:avLst/>
          </a:prstGeom>
          <a:solidFill>
            <a:srgbClr val="F0ECE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8595360" y="685800"/>
            <a:ext cx="36576" cy="36576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50" name="Text 47"/>
          <p:cNvSpPr/>
          <p:nvPr/>
        </p:nvSpPr>
        <p:spPr>
          <a:xfrm>
            <a:off x="8686800" y="704088"/>
            <a:ext cx="2834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</a:t>
            </a:r>
            <a:endParaRPr lang="en-US" sz="850" dirty="0"/>
          </a:p>
        </p:txBody>
      </p:sp>
      <p:sp>
        <p:nvSpPr>
          <p:cNvPr id="51" name="Text 48"/>
          <p:cNvSpPr/>
          <p:nvPr/>
        </p:nvSpPr>
        <p:spPr>
          <a:xfrm>
            <a:off x="8686800" y="868680"/>
            <a:ext cx="28346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Self-service portal — grades and fees</a:t>
            </a:r>
            <a:endParaRPr lang="en-US" sz="750" dirty="0"/>
          </a:p>
        </p:txBody>
      </p:sp>
      <p:sp>
        <p:nvSpPr>
          <p:cNvPr id="52" name="Shape 49"/>
          <p:cNvSpPr/>
          <p:nvPr/>
        </p:nvSpPr>
        <p:spPr>
          <a:xfrm>
            <a:off x="8595360" y="1124712"/>
            <a:ext cx="3017520" cy="365760"/>
          </a:xfrm>
          <a:prstGeom prst="rect">
            <a:avLst/>
          </a:prstGeom>
          <a:solidFill>
            <a:srgbClr val="F0ECE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8595360" y="1124712"/>
            <a:ext cx="36576" cy="36576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54" name="Text 51"/>
          <p:cNvSpPr/>
          <p:nvPr/>
        </p:nvSpPr>
        <p:spPr>
          <a:xfrm>
            <a:off x="8686800" y="1143000"/>
            <a:ext cx="2834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 Manager</a:t>
            </a:r>
            <a:endParaRPr lang="en-US" sz="850" dirty="0"/>
          </a:p>
        </p:txBody>
      </p:sp>
      <p:sp>
        <p:nvSpPr>
          <p:cNvPr id="55" name="Text 52"/>
          <p:cNvSpPr/>
          <p:nvPr/>
        </p:nvSpPr>
        <p:spPr>
          <a:xfrm>
            <a:off x="8686800" y="1307592"/>
            <a:ext cx="28346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Workforce management and attendance</a:t>
            </a:r>
            <a:endParaRPr lang="en-US" sz="750" dirty="0"/>
          </a:p>
        </p:txBody>
      </p:sp>
      <p:sp>
        <p:nvSpPr>
          <p:cNvPr id="56" name="Shape 53"/>
          <p:cNvSpPr/>
          <p:nvPr/>
        </p:nvSpPr>
        <p:spPr>
          <a:xfrm>
            <a:off x="8595360" y="1563624"/>
            <a:ext cx="3017520" cy="365760"/>
          </a:xfrm>
          <a:prstGeom prst="rect">
            <a:avLst/>
          </a:prstGeom>
          <a:solidFill>
            <a:srgbClr val="F0ECE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8595360" y="1563624"/>
            <a:ext cx="36576" cy="36576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58" name="Text 55"/>
          <p:cNvSpPr/>
          <p:nvPr/>
        </p:nvSpPr>
        <p:spPr>
          <a:xfrm>
            <a:off x="8686800" y="1581912"/>
            <a:ext cx="2834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Guidance Counselor</a:t>
            </a:r>
            <a:endParaRPr lang="en-US" sz="850" dirty="0"/>
          </a:p>
        </p:txBody>
      </p:sp>
      <p:sp>
        <p:nvSpPr>
          <p:cNvPr id="59" name="Text 56"/>
          <p:cNvSpPr/>
          <p:nvPr/>
        </p:nvSpPr>
        <p:spPr>
          <a:xfrm>
            <a:off x="8686800" y="1746504"/>
            <a:ext cx="28346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behavioral records and counseling</a:t>
            </a:r>
            <a:endParaRPr lang="en-US" sz="750" dirty="0"/>
          </a:p>
        </p:txBody>
      </p:sp>
      <p:sp>
        <p:nvSpPr>
          <p:cNvPr id="60" name="Shape 57"/>
          <p:cNvSpPr/>
          <p:nvPr/>
        </p:nvSpPr>
        <p:spPr>
          <a:xfrm>
            <a:off x="8595360" y="2002536"/>
            <a:ext cx="3017520" cy="365760"/>
          </a:xfrm>
          <a:prstGeom prst="rect">
            <a:avLst/>
          </a:prstGeom>
          <a:solidFill>
            <a:srgbClr val="F0ECE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8595360" y="2002536"/>
            <a:ext cx="36576" cy="36576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62" name="Text 59"/>
          <p:cNvSpPr/>
          <p:nvPr/>
        </p:nvSpPr>
        <p:spPr>
          <a:xfrm>
            <a:off x="8686800" y="2020824"/>
            <a:ext cx="2834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Nurse</a:t>
            </a:r>
            <a:endParaRPr lang="en-US" sz="850" dirty="0"/>
          </a:p>
        </p:txBody>
      </p:sp>
      <p:sp>
        <p:nvSpPr>
          <p:cNvPr id="63" name="Text 60"/>
          <p:cNvSpPr/>
          <p:nvPr/>
        </p:nvSpPr>
        <p:spPr>
          <a:xfrm>
            <a:off x="8686800" y="2185416"/>
            <a:ext cx="28346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Clinic visits and health profiles</a:t>
            </a:r>
            <a:endParaRPr lang="en-US" sz="750" dirty="0"/>
          </a:p>
        </p:txBody>
      </p:sp>
      <p:sp>
        <p:nvSpPr>
          <p:cNvPr id="64" name="Shape 61"/>
          <p:cNvSpPr/>
          <p:nvPr/>
        </p:nvSpPr>
        <p:spPr>
          <a:xfrm>
            <a:off x="8595360" y="2441448"/>
            <a:ext cx="3017520" cy="365760"/>
          </a:xfrm>
          <a:prstGeom prst="rect">
            <a:avLst/>
          </a:prstGeom>
          <a:solidFill>
            <a:srgbClr val="F0ECE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8595360" y="2441448"/>
            <a:ext cx="36576" cy="36576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66" name="Text 63"/>
          <p:cNvSpPr/>
          <p:nvPr/>
        </p:nvSpPr>
        <p:spPr>
          <a:xfrm>
            <a:off x="8686800" y="2459736"/>
            <a:ext cx="2834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Payroll Officer</a:t>
            </a:r>
            <a:endParaRPr lang="en-US" sz="850" dirty="0"/>
          </a:p>
        </p:txBody>
      </p:sp>
      <p:sp>
        <p:nvSpPr>
          <p:cNvPr id="67" name="Text 64"/>
          <p:cNvSpPr/>
          <p:nvPr/>
        </p:nvSpPr>
        <p:spPr>
          <a:xfrm>
            <a:off x="8686800" y="2624328"/>
            <a:ext cx="28346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Payroll computation and payslips</a:t>
            </a:r>
            <a:endParaRPr lang="en-US" sz="750" dirty="0"/>
          </a:p>
        </p:txBody>
      </p:sp>
      <p:sp>
        <p:nvSpPr>
          <p:cNvPr id="68" name="Shape 65"/>
          <p:cNvSpPr/>
          <p:nvPr/>
        </p:nvSpPr>
        <p:spPr>
          <a:xfrm>
            <a:off x="8595360" y="2880360"/>
            <a:ext cx="3017520" cy="365760"/>
          </a:xfrm>
          <a:prstGeom prst="rect">
            <a:avLst/>
          </a:prstGeom>
          <a:solidFill>
            <a:srgbClr val="F0ECE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8595360" y="2880360"/>
            <a:ext cx="36576" cy="36576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70" name="Text 67"/>
          <p:cNvSpPr/>
          <p:nvPr/>
        </p:nvSpPr>
        <p:spPr>
          <a:xfrm>
            <a:off x="8686800" y="2898648"/>
            <a:ext cx="2834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Parent / Guardian</a:t>
            </a:r>
            <a:endParaRPr lang="en-US" sz="850" dirty="0"/>
          </a:p>
        </p:txBody>
      </p:sp>
      <p:sp>
        <p:nvSpPr>
          <p:cNvPr id="71" name="Text 68"/>
          <p:cNvSpPr/>
          <p:nvPr/>
        </p:nvSpPr>
        <p:spPr>
          <a:xfrm>
            <a:off x="8686800" y="3063240"/>
            <a:ext cx="28346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View child's academic and financial records</a:t>
            </a:r>
            <a:endParaRPr lang="en-US" sz="750" dirty="0"/>
          </a:p>
        </p:txBody>
      </p:sp>
      <p:sp>
        <p:nvSpPr>
          <p:cNvPr id="72" name="Shape 69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74" name="Text 71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Overview</a:t>
            </a:r>
            <a:endParaRPr lang="en-US" sz="750" dirty="0"/>
          </a:p>
        </p:txBody>
      </p:sp>
      <p:sp>
        <p:nvSpPr>
          <p:cNvPr id="75" name="Text 72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76" name="Text 73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92240"/>
            <a:ext cx="5029200" cy="5486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0" y="0"/>
            <a:ext cx="7159752" cy="6858000"/>
          </a:xfrm>
          <a:prstGeom prst="rect">
            <a:avLst/>
          </a:prstGeom>
          <a:solidFill>
            <a:srgbClr val="FFFDF5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C5A059"/>
          </a:solidFill>
          <a:ln/>
        </p:spPr>
      </p:sp>
      <p:pic>
        <p:nvPicPr>
          <p:cNvPr id="6" name="Image 0" descr="C:\Users\VELOSO\Documents\GitHub\stsn-connect\public\stsn-cr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7432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34747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65760" y="13716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ROLE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365760" y="1691640"/>
            <a:ext cx="42976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365760" y="361188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system access — all 29 modules and all academic contexts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303520" y="502920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RESPONSIBILITIES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303520" y="795528"/>
            <a:ext cx="649224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3" name="Text 10"/>
          <p:cNvSpPr/>
          <p:nvPr/>
        </p:nvSpPr>
        <p:spPr>
          <a:xfrm>
            <a:off x="5303520" y="914400"/>
            <a:ext cx="64922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1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Configure all system settings and academic parameters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1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 user accounts, roles, and permissions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1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every module across all academic units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1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 audit logs and system-wide reports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1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Override approvals at any level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1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 delegation of approval authority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16" name="Text 13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 Overview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COMMAND CENTER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36576" cy="7772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" y="1371600"/>
            <a:ext cx="11521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System-wide command center showing real-time KPIs, pending approval counts, recent activity, and quick-navigation shortcuts — tailored to each user's role and permissions.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240280"/>
            <a:ext cx="5303520" cy="4251960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240280"/>
            <a:ext cx="530352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276856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65760" y="2560320"/>
            <a:ext cx="51206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KPI cards (enrolled students, pending assessments, headcount)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Quick-navigation tiles to all permitted modules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Pending approval badge counters per module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Recent system activity feed with timestamps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Role-specific welcome greeting and contextual alerts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Academic year and term context indicator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852160" y="2240280"/>
            <a:ext cx="6035040" cy="4251960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52160" y="2240280"/>
            <a:ext cx="6035040" cy="274320"/>
          </a:xfrm>
          <a:prstGeom prst="rect">
            <a:avLst/>
          </a:prstGeom>
          <a:solidFill>
            <a:srgbClr val="4A3728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0" y="2276856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943600" y="2560320"/>
            <a:ext cx="5852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User logs in and lands on the Dashboard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Dashboard resolves role and renders permitted KPI cards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User reviews key metrics and pending action counts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User clicks a quick-link tile to navigate to a module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 Pending badges update in real-time as actions are completed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0" name="Text 18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  ·  Dashboard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Command Center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 MANAGEMENT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 Center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36576" cy="7772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" y="1371600"/>
            <a:ext cx="11521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Unified approval queue consolidating all pending workflow items across every module — enrollments, discounts, leave requests, assessment approvals, and payroll runs — in one place.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212848"/>
            <a:ext cx="11521440" cy="274320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231136"/>
            <a:ext cx="11338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TABS: All Pending  ·  Enrollments  ·  Assessments  ·  Discounts  ·  Leave Requests  ·  Payroll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2578608"/>
            <a:ext cx="530352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578608"/>
            <a:ext cx="530352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615184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" y="2898648"/>
            <a:ext cx="512064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Unified queue for all pending approvals across modules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Filter by module type, date range, priority, and submitter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Bulk approve or reject multiple items simultaneously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Contextual detail panel with full request information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approval notes or rejection reasons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badge count showing pending items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Escalation indicators for SLA-breached items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 approval trail with actor and timestamp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852160" y="2578608"/>
            <a:ext cx="603504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2578608"/>
            <a:ext cx="6035040" cy="274320"/>
          </a:xfrm>
          <a:prstGeom prst="rect">
            <a:avLst/>
          </a:prstGeom>
          <a:solidFill>
            <a:srgbClr val="4A3728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0" y="2615184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943600" y="2898648"/>
            <a:ext cx="585216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Navigate to Action Center from the sidebar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System displays all items the user is authorized to approve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Apply filters to narrow down by type or date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Click a pending item to view the full detail panel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 Add a note, then approve or reject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 System sends item to next approval level or marks complete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  Action is logged in the audit trail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2" name="Text 20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  ·  Action Center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 Management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NAVIGATION TABS  ·  WORKFLOW MANAGEMENT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 Center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2588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2588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132588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1" name="Text 9"/>
          <p:cNvSpPr/>
          <p:nvPr/>
        </p:nvSpPr>
        <p:spPr>
          <a:xfrm>
            <a:off x="292608" y="164592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" y="137160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Pending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" y="164592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Consolidated queue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89320" y="132588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89320" y="132588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6" name="Shape 14"/>
          <p:cNvSpPr/>
          <p:nvPr/>
        </p:nvSpPr>
        <p:spPr>
          <a:xfrm>
            <a:off x="5989320" y="132588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7" name="Text 15"/>
          <p:cNvSpPr/>
          <p:nvPr/>
        </p:nvSpPr>
        <p:spPr>
          <a:xfrm>
            <a:off x="6007608" y="164592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36792" y="137160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Enrollments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36792" y="164592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Awaiting registrar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251460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51460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" y="251460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3" name="Text 21"/>
          <p:cNvSpPr/>
          <p:nvPr/>
        </p:nvSpPr>
        <p:spPr>
          <a:xfrm>
            <a:off x="292608" y="283464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" y="256032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Assessments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1792" y="283464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Awaiting accounting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989320" y="251460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89320" y="251460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28" name="Shape 26"/>
          <p:cNvSpPr/>
          <p:nvPr/>
        </p:nvSpPr>
        <p:spPr>
          <a:xfrm>
            <a:off x="5989320" y="251460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9" name="Text 27"/>
          <p:cNvSpPr/>
          <p:nvPr/>
        </p:nvSpPr>
        <p:spPr>
          <a:xfrm>
            <a:off x="6007608" y="283464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36792" y="256032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Discounts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36792" y="283464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Awaiting approval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74320" y="370332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370332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34" name="Shape 32"/>
          <p:cNvSpPr/>
          <p:nvPr/>
        </p:nvSpPr>
        <p:spPr>
          <a:xfrm>
            <a:off x="274320" y="370332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35" name="Text 33"/>
          <p:cNvSpPr/>
          <p:nvPr/>
        </p:nvSpPr>
        <p:spPr>
          <a:xfrm>
            <a:off x="292608" y="402336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1792" y="374904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Leave Requests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1792" y="402336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Awaiting supervisor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989320" y="370332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989320" y="370332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40" name="Shape 38"/>
          <p:cNvSpPr/>
          <p:nvPr/>
        </p:nvSpPr>
        <p:spPr>
          <a:xfrm>
            <a:off x="5989320" y="370332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1" name="Text 39"/>
          <p:cNvSpPr/>
          <p:nvPr/>
        </p:nvSpPr>
        <p:spPr>
          <a:xfrm>
            <a:off x="6007608" y="402336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336792" y="374904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Payroll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336792" y="402336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Awaiting authorization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46" name="Text 44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  ·  Action Center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Navigation Tabs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  ·  WORKFLOW MANAGEMENT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 Center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11521440" cy="27432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2801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DIALOGS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572768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572768"/>
            <a:ext cx="36576" cy="59436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161848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Approval Detail Panel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181965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request view with approve/reject controls and notes field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16" name="Text 14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  ·  Action Center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ADMISSIONS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Enrollment (Admission)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36576" cy="7772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" y="1371600"/>
            <a:ext cx="11521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interface for processing student admissions each term — search students, process enrollments via multi-step wizard, review online applications, manage enrollment status, and generate the Certificate of Registration (COR).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212848"/>
            <a:ext cx="11521440" cy="274320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231136"/>
            <a:ext cx="11338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TABS: Admissions &amp; Directory  ·  Online Queue  ·  Bulk Import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2578608"/>
            <a:ext cx="530352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578608"/>
            <a:ext cx="530352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615184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" y="2898648"/>
            <a:ext cx="512064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search filtered by grade level, section, and status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KPI cards: enrolled, pending/for-assessment, online app count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Multi-step Enrollment Wizard for complete student intake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Online application review queue for self-submitted enrollments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Bulk CSV import from official registrar template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 (Certificate of Registration) preview and print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 filtering: Enrolled, Pending, For Assessment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852160" y="2578608"/>
            <a:ext cx="603504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2578608"/>
            <a:ext cx="6035040" cy="274320"/>
          </a:xfrm>
          <a:prstGeom prst="rect">
            <a:avLst/>
          </a:prstGeom>
          <a:solidFill>
            <a:srgbClr val="4A3728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0" y="2615184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943600" y="2898648"/>
            <a:ext cx="585216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Navigate to Enrollment module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Review pending online applications from the Online Queue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Click 'New Enrollment' to open the Enrollment Wizard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Step 1 — Personal Information: name, birthdate, LRN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 Step 2 — Guardian/Parent: parent name, relationship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 Step 3 — Academic: grade level, section, payment terms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  Step 4 — Assessment: auto-computed tuition &amp; misc fees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8.  Step 5 — Documents: attach enrollment requirements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9.  Submit; accounting approves; status → 'Enrolled'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10.  Generate and print the COR for the student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2" name="Text 20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  ·  Enrollment (Admission)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Admissions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NAVIGATION TABS  ·  ADMISSIONS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Enrollment (Admission)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2588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2588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132588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1" name="Text 9"/>
          <p:cNvSpPr/>
          <p:nvPr/>
        </p:nvSpPr>
        <p:spPr>
          <a:xfrm>
            <a:off x="292608" y="164592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" y="137160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Admissions &amp; Directory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" y="164592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students with enrollment status and KPI cards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89320" y="132588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89320" y="132588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6" name="Shape 14"/>
          <p:cNvSpPr/>
          <p:nvPr/>
        </p:nvSpPr>
        <p:spPr>
          <a:xfrm>
            <a:off x="5989320" y="132588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7" name="Text 15"/>
          <p:cNvSpPr/>
          <p:nvPr/>
        </p:nvSpPr>
        <p:spPr>
          <a:xfrm>
            <a:off x="6007608" y="164592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36792" y="137160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Online Queue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36792" y="164592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Self-submitted applications from the Student Portal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251460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51460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" y="251460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3" name="Text 21"/>
          <p:cNvSpPr/>
          <p:nvPr/>
        </p:nvSpPr>
        <p:spPr>
          <a:xfrm>
            <a:off x="292608" y="283464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" y="256032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Bulk Import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1792" y="283464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CSV masterlist upload with validation preview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8" name="Text 26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  ·  Enrollment (Admission)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Navigation Tabs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  ·  ADMISSIONS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Enrollment (Admission)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Enrollment Wizard — Step 1: Personal Information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1152144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62763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FIELDS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First Name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6" name="Text 14"/>
          <p:cNvSpPr/>
          <p:nvPr/>
        </p:nvSpPr>
        <p:spPr>
          <a:xfrm>
            <a:off x="422452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Middle Name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9" name="Text 17"/>
          <p:cNvSpPr/>
          <p:nvPr/>
        </p:nvSpPr>
        <p:spPr>
          <a:xfrm>
            <a:off x="806500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Last Name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Birthdate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5" name="Text 23"/>
          <p:cNvSpPr/>
          <p:nvPr/>
        </p:nvSpPr>
        <p:spPr>
          <a:xfrm>
            <a:off x="422452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Gender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95528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5528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8" name="Text 26"/>
          <p:cNvSpPr/>
          <p:nvPr/>
        </p:nvSpPr>
        <p:spPr>
          <a:xfrm>
            <a:off x="806500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LRN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008376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3008376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31" name="Text 29"/>
          <p:cNvSpPr/>
          <p:nvPr/>
        </p:nvSpPr>
        <p:spPr>
          <a:xfrm>
            <a:off x="384048" y="3063240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Contact Number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114800" y="3008376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14800" y="3008376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34" name="Text 32"/>
          <p:cNvSpPr/>
          <p:nvPr/>
        </p:nvSpPr>
        <p:spPr>
          <a:xfrm>
            <a:off x="4224528" y="3063240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955280" y="3008376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955280" y="3008376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37" name="Text 35"/>
          <p:cNvSpPr/>
          <p:nvPr/>
        </p:nvSpPr>
        <p:spPr>
          <a:xfrm>
            <a:off x="8065008" y="3063240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Home Address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40" name="Text 38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  ·  Enrollment Wizard — Step 1: Personal Information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  ·  ADMISSIONS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Enrollment (Admission)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Enrollment Wizard — Step 2: Guardian / Parent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1152144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62763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FIELDS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Parent/Guardian Name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6" name="Text 14"/>
          <p:cNvSpPr/>
          <p:nvPr/>
        </p:nvSpPr>
        <p:spPr>
          <a:xfrm>
            <a:off x="422452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Relationship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9" name="Text 17"/>
          <p:cNvSpPr/>
          <p:nvPr/>
        </p:nvSpPr>
        <p:spPr>
          <a:xfrm>
            <a:off x="806500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Contact Number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5" name="Text 23"/>
          <p:cNvSpPr/>
          <p:nvPr/>
        </p:nvSpPr>
        <p:spPr>
          <a:xfrm>
            <a:off x="422452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Occupation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8" name="Text 26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  ·  Enrollment Wizard — Step 2: Guardian / Parent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  ·  ADMISSIONS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Enrollment (Admission)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Enrollment Wizard — Step 3: Academic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1152144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62763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FIELDS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Academic Unit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6" name="Text 14"/>
          <p:cNvSpPr/>
          <p:nvPr/>
        </p:nvSpPr>
        <p:spPr>
          <a:xfrm>
            <a:off x="422452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Grade Level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9" name="Text 17"/>
          <p:cNvSpPr/>
          <p:nvPr/>
        </p:nvSpPr>
        <p:spPr>
          <a:xfrm>
            <a:off x="806500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Program/Track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5" name="Text 23"/>
          <p:cNvSpPr/>
          <p:nvPr/>
        </p:nvSpPr>
        <p:spPr>
          <a:xfrm>
            <a:off x="422452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 Terms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95528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5528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8" name="Text 26"/>
          <p:cNvSpPr/>
          <p:nvPr/>
        </p:nvSpPr>
        <p:spPr>
          <a:xfrm>
            <a:off x="806500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Year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31" name="Text 29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  ·  Enrollment Wizard — Step 3: Academic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  ·  ADMISSIONS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Enrollment (Admission)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Enrollment Wizard — Step 4: Assessment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1152144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62763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FIELDS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Tuition Fee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6" name="Text 14"/>
          <p:cNvSpPr/>
          <p:nvPr/>
        </p:nvSpPr>
        <p:spPr>
          <a:xfrm>
            <a:off x="422452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Miscellaneous Fees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9" name="Text 17"/>
          <p:cNvSpPr/>
          <p:nvPr/>
        </p:nvSpPr>
        <p:spPr>
          <a:xfrm>
            <a:off x="806500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Book Package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 Schedule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5" name="Text 23"/>
          <p:cNvSpPr/>
          <p:nvPr/>
        </p:nvSpPr>
        <p:spPr>
          <a:xfrm>
            <a:off x="422452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Amount Due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8" name="Text 26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  ·  Enrollment Wizard — Step 4: Assessment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  ·  ADMISSIONS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Enrollment (Admission)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Enrollment Wizard — Step 5: Documents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1152144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62763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FIELDS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 Card / Form 138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6" name="Text 14"/>
          <p:cNvSpPr/>
          <p:nvPr/>
        </p:nvSpPr>
        <p:spPr>
          <a:xfrm>
            <a:off x="422452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PSA Birth Certificate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9" name="Text 17"/>
          <p:cNvSpPr/>
          <p:nvPr/>
        </p:nvSpPr>
        <p:spPr>
          <a:xfrm>
            <a:off x="806500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Good Moral Certificate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Medical Certificate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5" name="Text 23"/>
          <p:cNvSpPr/>
          <p:nvPr/>
        </p:nvSpPr>
        <p:spPr>
          <a:xfrm>
            <a:off x="422452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2x2 ID Photo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8" name="Text 26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  ·  Enrollment Wizard — Step 5: Documents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  ·  ADMISSIONS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Enrollment (Admission)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11521440" cy="27432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2801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DIALOGS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572768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572768"/>
            <a:ext cx="36576" cy="59436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161848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 Preview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181965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Certificate of Registration with school header, student details, enrolled subjects, fee summary, and Print/Download controls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231136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231136"/>
            <a:ext cx="36576" cy="59436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227685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Import Preview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2478024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Tabular preview of CSV rows with validation status before confirming bulk import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0" name="Text 18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  ·  Enrollment (Admission)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Directory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36576" cy="7772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" y="1371600"/>
            <a:ext cx="11521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Centralized lookup for all student records across the school. Staff can search, filter, and navigate to individual student profiles from this single view, regardless of enrollment status.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240280"/>
            <a:ext cx="5303520" cy="4251960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240280"/>
            <a:ext cx="530352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276856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65760" y="2560320"/>
            <a:ext cx="51206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Global search by name, LRN, or student ID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Filter by grade level, section, enrollment status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Quick-action row buttons to open the full student profile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Column sorting and paginated data table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Export student list to CSV or Excel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Role-based column visibility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852160" y="2240280"/>
            <a:ext cx="6035040" cy="4251960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52160" y="2240280"/>
            <a:ext cx="6035040" cy="274320"/>
          </a:xfrm>
          <a:prstGeom prst="rect">
            <a:avLst/>
          </a:prstGeom>
          <a:solidFill>
            <a:srgbClr val="4A3728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0" y="2276856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943600" y="2560320"/>
            <a:ext cx="5852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Navigate to Student Directory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Use search or filter to locate a student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Click a student row to open the Student Profile panel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View academic history, enrollment records, financial summary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 Navigate to sub-sections (grades, ledger, documents)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0" name="Text 18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  ·  Student Directory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Records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  ·  RECORDS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Directory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11521440" cy="27432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2801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DIALOGS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572768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572768"/>
            <a:ext cx="36576" cy="59436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161848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Profile Panel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181965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Slide-over showing the student's complete profile: academic records, financial ledger, and documents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16" name="Text 14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  ·  Student Directory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ACADEMIC ADMINISTRATION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 Sectioning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36576" cy="7772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" y="1371600"/>
            <a:ext cx="11521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Create, organize, and manage class sections for each academic term. Sections are assigned advisers and populated with enrolled students.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212848"/>
            <a:ext cx="11521440" cy="274320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231136"/>
            <a:ext cx="11338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TABS: Sections  ·  Student Roster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2578608"/>
            <a:ext cx="530352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578608"/>
            <a:ext cx="530352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615184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" y="2898648"/>
            <a:ext cx="512064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sections per grade level and academic year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Assign section advisers from the faculty roster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and manage student roster per section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LRN validation for student entries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capacity indicators and enrollment counts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Bulk student assignment from enrolled student list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852160" y="2578608"/>
            <a:ext cx="603504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2578608"/>
            <a:ext cx="6035040" cy="274320"/>
          </a:xfrm>
          <a:prstGeom prst="rect">
            <a:avLst/>
          </a:prstGeom>
          <a:solidFill>
            <a:srgbClr val="4A3728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0" y="2615184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943600" y="2898648"/>
            <a:ext cx="585216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Navigate to Class Sectioning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Create a new section: grade level, name, academic year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Assign a faculty adviser to the section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Add enrolled students to the section roster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 Section becomes available for scheduling and grading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2" name="Text 20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  ·  Class Sectioning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Academic Administration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  ·  ACADEMIC ADMINISTRATION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 Sectioning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Section Form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1152144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62763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FIELDS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Name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6" name="Text 14"/>
          <p:cNvSpPr/>
          <p:nvPr/>
        </p:nvSpPr>
        <p:spPr>
          <a:xfrm>
            <a:off x="422452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Grade Level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9" name="Text 17"/>
          <p:cNvSpPr/>
          <p:nvPr/>
        </p:nvSpPr>
        <p:spPr>
          <a:xfrm>
            <a:off x="806500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Academic Year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Adviser (Faculty)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5" name="Text 23"/>
          <p:cNvSpPr/>
          <p:nvPr/>
        </p:nvSpPr>
        <p:spPr>
          <a:xfrm>
            <a:off x="422452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Capacity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8" name="Text 26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  ·  New Section Form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  ·  ACADEMIC ADMINISTRATION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 Sectioning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11521440" cy="27432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2801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DIALOGS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572768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572768"/>
            <a:ext cx="36576" cy="59436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161848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Students to Section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181965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 enrolled students and bulk-add to the section roster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16" name="Text 14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  ·  Class Sectioning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ACADEMIC ADMINISTRATION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 Scheduling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36576" cy="7772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" y="1371600"/>
            <a:ext cx="11521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class schedules by assigning subjects to sections, specifying meeting times, and allocating rooms — with built-in conflict detection.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212848"/>
            <a:ext cx="11521440" cy="274320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231136"/>
            <a:ext cx="11338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TABS: By Section  ·  By Teacher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2578608"/>
            <a:ext cx="530352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578608"/>
            <a:ext cx="530352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615184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" y="2898648"/>
            <a:ext cx="512064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Subject-to-section schedule assignment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 slot and room allocation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Conflict detection for overlapping schedules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Teacher-subject-schedule linking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 grid view by day and time slot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Print-ready schedule output per section or teacher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852160" y="2578608"/>
            <a:ext cx="603504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2578608"/>
            <a:ext cx="6035040" cy="274320"/>
          </a:xfrm>
          <a:prstGeom prst="rect">
            <a:avLst/>
          </a:prstGeom>
          <a:solidFill>
            <a:srgbClr val="4A3728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0" y="2615184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943600" y="2898648"/>
            <a:ext cx="585216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Open Class Scheduling for the academic year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Select a section to configure its schedule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Add subjects: teacher, day, time, room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System flags conflicts if any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 Publish the schedule for the term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2" name="Text 20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  ·  Class Scheduling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Academic Administration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  ·  ACADEMIC ADMINISTRATION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 Scheduling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 Entry Form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1152144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62763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FIELDS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6" name="Text 14"/>
          <p:cNvSpPr/>
          <p:nvPr/>
        </p:nvSpPr>
        <p:spPr>
          <a:xfrm>
            <a:off x="422452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Subject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9" name="Text 17"/>
          <p:cNvSpPr/>
          <p:nvPr/>
        </p:nvSpPr>
        <p:spPr>
          <a:xfrm>
            <a:off x="806500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Teacher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Day(s)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5" name="Text 23"/>
          <p:cNvSpPr/>
          <p:nvPr/>
        </p:nvSpPr>
        <p:spPr>
          <a:xfrm>
            <a:off x="422452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 Start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95528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5528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8" name="Text 26"/>
          <p:cNvSpPr/>
          <p:nvPr/>
        </p:nvSpPr>
        <p:spPr>
          <a:xfrm>
            <a:off x="806500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 End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008376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3008376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31" name="Text 29"/>
          <p:cNvSpPr/>
          <p:nvPr/>
        </p:nvSpPr>
        <p:spPr>
          <a:xfrm>
            <a:off x="384048" y="3063240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Room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114800" y="3008376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14800" y="3008376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34" name="Text 32"/>
          <p:cNvSpPr/>
          <p:nvPr/>
        </p:nvSpPr>
        <p:spPr>
          <a:xfrm>
            <a:off x="4224528" y="3063240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Year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37" name="Text 35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  ·  Schedule Entry Form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  ·  ACADEMIC ADMINISTRATION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 Scheduling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11521440" cy="27432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2801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DIALOGS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572768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572768"/>
            <a:ext cx="36576" cy="59436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161848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Conflict Alert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181965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Detected scheduling conflicts with affected sections, teachers, or rooms and suggested resolution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16" name="Text 14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  ·  Class Scheduling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ACADEMIC ADMINISTRATION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Faculty Management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36576" cy="7772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" y="1371600"/>
            <a:ext cx="11521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 the school's teaching staff — faculty profiles, subject assignments, and teaching workload tracking.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212848"/>
            <a:ext cx="11521440" cy="274320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231136"/>
            <a:ext cx="11338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TABS: Faculty List  ·  Subject Assignments  ·  Workload Summary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2578608"/>
            <a:ext cx="530352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578608"/>
            <a:ext cx="530352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615184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" y="2898648"/>
            <a:ext cx="512064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Faculty master list with employment and contact details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Subject assignment per faculty member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Teaching load computation and display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Faculty profile with academic background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Filter by department, employment status, and subject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852160" y="2578608"/>
            <a:ext cx="603504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2578608"/>
            <a:ext cx="6035040" cy="274320"/>
          </a:xfrm>
          <a:prstGeom prst="rect">
            <a:avLst/>
          </a:prstGeom>
          <a:solidFill>
            <a:srgbClr val="4A3728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0" y="2615184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943600" y="2898648"/>
            <a:ext cx="585216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Navigate to Faculty Management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View the faculty list and search for a teacher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Open the faculty profile to review assignments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Assign subjects to the faculty member for the term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 Review the teaching load summary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2" name="Text 20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  ·  Faculty Management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Academic Administration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NAVIGATION TABS  ·  ACADEMIC ADMINISTRATION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Faculty Management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2588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2588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132588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1" name="Text 9"/>
          <p:cNvSpPr/>
          <p:nvPr/>
        </p:nvSpPr>
        <p:spPr>
          <a:xfrm>
            <a:off x="292608" y="164592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" y="137160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Faculty List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" y="164592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teaching staff with search and quick profile access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89320" y="132588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89320" y="132588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6" name="Shape 14"/>
          <p:cNvSpPr/>
          <p:nvPr/>
        </p:nvSpPr>
        <p:spPr>
          <a:xfrm>
            <a:off x="5989320" y="132588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7" name="Text 15"/>
          <p:cNvSpPr/>
          <p:nvPr/>
        </p:nvSpPr>
        <p:spPr>
          <a:xfrm>
            <a:off x="6007608" y="164592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36792" y="137160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Subject Assignments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36792" y="164592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Faculty-to-subject mapping for the current term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251460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51460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" y="251460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3" name="Text 21"/>
          <p:cNvSpPr/>
          <p:nvPr/>
        </p:nvSpPr>
        <p:spPr>
          <a:xfrm>
            <a:off x="292608" y="283464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" y="256032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Workload Summary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1792" y="283464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Teaching load units per faculty with overload indicators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8" name="Text 26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  ·  Faculty Management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Navigation Tabs</a:t>
            </a:r>
            <a:endParaRPr lang="en-US" sz="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  ·  ACADEMIC ADMINISTRATION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Faculty Management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Faculty Profile Form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1152144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62763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FIELDS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Employee Name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6" name="Text 14"/>
          <p:cNvSpPr/>
          <p:nvPr/>
        </p:nvSpPr>
        <p:spPr>
          <a:xfrm>
            <a:off x="422452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Employee ID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9" name="Text 17"/>
          <p:cNvSpPr/>
          <p:nvPr/>
        </p:nvSpPr>
        <p:spPr>
          <a:xfrm>
            <a:off x="806500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Department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Employment Status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5" name="Text 23"/>
          <p:cNvSpPr/>
          <p:nvPr/>
        </p:nvSpPr>
        <p:spPr>
          <a:xfrm>
            <a:off x="422452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Specialization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95528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5528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8" name="Text 26"/>
          <p:cNvSpPr/>
          <p:nvPr/>
        </p:nvSpPr>
        <p:spPr>
          <a:xfrm>
            <a:off x="806500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Educational Attainment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008376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3008376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31" name="Text 29"/>
          <p:cNvSpPr/>
          <p:nvPr/>
        </p:nvSpPr>
        <p:spPr>
          <a:xfrm>
            <a:off x="384048" y="3063240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Contact Info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34" name="Text 32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  ·  Faculty Profile Form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</a:t>
            </a:r>
            <a:endParaRPr lang="en-US" sz="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ACADEMIC ADMINISTRATION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Curriculum / Syllabus Pathways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36576" cy="7772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" y="1371600"/>
            <a:ext cx="11521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Define academic subject pathways for each grade level, program, and academic unit. Serves as the master reference for offered subjects and prerequisite chains.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212848"/>
            <a:ext cx="11521440" cy="274320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231136"/>
            <a:ext cx="11338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TABS: Subject Catalog  ·  Curriculum Matrix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2578608"/>
            <a:ext cx="530352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578608"/>
            <a:ext cx="530352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615184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" y="2898648"/>
            <a:ext cx="512064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Subject catalog with code, title, and unit credits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Grade-level-to-subject mapping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Program track assignment (Science, Arts, ABM, HUMSS, etc.)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Prerequisite chain configuration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Curriculum view by academic unit (Basic Ed vs. College)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Export curriculum matrix to CSV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852160" y="2578608"/>
            <a:ext cx="603504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2578608"/>
            <a:ext cx="6035040" cy="274320"/>
          </a:xfrm>
          <a:prstGeom prst="rect">
            <a:avLst/>
          </a:prstGeom>
          <a:solidFill>
            <a:srgbClr val="4A3728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0" y="2615184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943600" y="2898648"/>
            <a:ext cx="585216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Open Curriculum module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Select the academic unit and program track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Add subjects to the appropriate grade/year level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Set prerequisites where applicable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 Publish as reference for enrollment and scheduling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2" name="Text 20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  ·  Curriculum / Syllabus Pathways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Academic Administration</a:t>
            </a:r>
            <a:endParaRPr lang="en-US" sz="7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  ·  ACADEMIC ADMINISTRATION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Curriculum / Syllabus Pathways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Subject Form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1152144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62763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FIELDS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Subject Code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6" name="Text 14"/>
          <p:cNvSpPr/>
          <p:nvPr/>
        </p:nvSpPr>
        <p:spPr>
          <a:xfrm>
            <a:off x="422452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Subject Title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9" name="Text 17"/>
          <p:cNvSpPr/>
          <p:nvPr/>
        </p:nvSpPr>
        <p:spPr>
          <a:xfrm>
            <a:off x="806500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Units/Credits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Grade Level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5" name="Text 23"/>
          <p:cNvSpPr/>
          <p:nvPr/>
        </p:nvSpPr>
        <p:spPr>
          <a:xfrm>
            <a:off x="422452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Program Track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95528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5528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8" name="Text 26"/>
          <p:cNvSpPr/>
          <p:nvPr/>
        </p:nvSpPr>
        <p:spPr>
          <a:xfrm>
            <a:off x="806500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Academic Unit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008376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3008376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31" name="Text 29"/>
          <p:cNvSpPr/>
          <p:nvPr/>
        </p:nvSpPr>
        <p:spPr>
          <a:xfrm>
            <a:off x="384048" y="3063240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Prerequisites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34" name="Text 32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  ·  Add Subject Form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</a:t>
            </a:r>
            <a:endParaRPr lang="en-US" sz="7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ACADEMIC RECORDS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Grades Directory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36576" cy="7772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" y="1371600"/>
            <a:ext cx="11521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Searchable view of all student grade records across sections, subjects, and grading periods. Central reference for academic performance monitoring.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212848"/>
            <a:ext cx="11521440" cy="274320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231136"/>
            <a:ext cx="11338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TABS: By Section  ·  By Student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2578608"/>
            <a:ext cx="530352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578608"/>
            <a:ext cx="530352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615184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" y="2898648"/>
            <a:ext cx="512064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Grade search by student, section, subject, or period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Filter by grade level, section, and academic year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View grade breakdown per subject and per period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Honor roll and academic standing indicators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Export grade summary to CSV or Excel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Drill-down to individual student grade sheets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852160" y="2578608"/>
            <a:ext cx="603504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2578608"/>
            <a:ext cx="6035040" cy="274320"/>
          </a:xfrm>
          <a:prstGeom prst="rect">
            <a:avLst/>
          </a:prstGeom>
          <a:solidFill>
            <a:srgbClr val="4A3728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0" y="2615184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943600" y="2898648"/>
            <a:ext cx="585216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Open Grades Directory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Filter by grade level, section, and grading period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View the grade summary table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Click a student row to open the detailed grade sheet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 Export grade data for reporting or archiving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2" name="Text 20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  ·  Grades Directory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Academic Records</a:t>
            </a:r>
            <a:endParaRPr lang="en-US" sz="7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  ·  ACADEMIC RECORDS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Grades Directory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11521440" cy="27432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2801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DIALOGS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572768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572768"/>
            <a:ext cx="36576" cy="59436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161848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Grade Sheet Detail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181965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grade sheet with all subjects, grading period scores, and final grade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74320" y="2414016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706624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706624"/>
            <a:ext cx="36576" cy="59436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275234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Grade Summary Report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" y="295351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Class-wide grade summary with averages per subject and student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3364992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364992"/>
            <a:ext cx="36576" cy="59436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341071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Honor Roll Report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" y="36118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Students qualifying for honor roll based on grade thresholds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5" name="Text 23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  ·  Grades Directory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</a:t>
            </a:r>
            <a:endParaRPr lang="en-US" sz="7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Registrar Reports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36576" cy="7772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" y="1371600"/>
            <a:ext cx="11521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Suite of official reports for enrollment, student records, and academic documentation. Preview on-screen and export as PDF or Excel.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240280"/>
            <a:ext cx="5303520" cy="4251960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240280"/>
            <a:ext cx="530352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276856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65760" y="2560320"/>
            <a:ext cx="51206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Masterlist with enrollment status and grade level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Enrollment Summary by program, grade level, and status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 (Certificate of Registration) batch generation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Grade Summary Report by section and grading period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 range and academic year filter for all reports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Export to PDF and Excel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852160" y="2240280"/>
            <a:ext cx="6035040" cy="4251960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52160" y="2240280"/>
            <a:ext cx="6035040" cy="274320"/>
          </a:xfrm>
          <a:prstGeom prst="rect">
            <a:avLst/>
          </a:prstGeom>
          <a:solidFill>
            <a:srgbClr val="4A3728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0" y="2276856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943600" y="2560320"/>
            <a:ext cx="5852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Navigate to Registrar Reports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Select the report type from the catalog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Set filter parameters (academic year, grade level, date range)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Click 'Preview' to view the report on-screen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 Export to PDF or Excel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0" name="Text 18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  ·  Registrar Reports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Reports</a:t>
            </a:r>
            <a:endParaRPr lang="en-US" sz="7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  ·  REPORTS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Registrar Reports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11521440" cy="27432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2801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DIALOGS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572768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572768"/>
            <a:ext cx="36576" cy="59436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161848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 Preview Modal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181965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Full-page report preview with Print, Export PDF, and Export Excel controls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74320" y="2414016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706624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706624"/>
            <a:ext cx="36576" cy="59436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275234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Masterlist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" y="295351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 roster with LRN, grade level, section, and enrollment status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3364992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364992"/>
            <a:ext cx="36576" cy="59436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341071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Enrollment Summary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" y="36118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Statistical breakdown of enrollees by grade level, program, and status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4023360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4023360"/>
            <a:ext cx="36576" cy="59436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5" name="Text 23"/>
          <p:cNvSpPr/>
          <p:nvPr/>
        </p:nvSpPr>
        <p:spPr>
          <a:xfrm>
            <a:off x="411480" y="406908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 (Certificate of Registration)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11480" y="427024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Official COR per student with enrolled subjects and fee summary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" y="4681728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4681728"/>
            <a:ext cx="36576" cy="59436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9" name="Text 27"/>
          <p:cNvSpPr/>
          <p:nvPr/>
        </p:nvSpPr>
        <p:spPr>
          <a:xfrm>
            <a:off x="411480" y="4727448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Grade Summary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11480" y="492861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Academic performance summary by section and grading period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33" name="Text 31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  ·  Registrar Reports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</a:t>
            </a:r>
            <a:endParaRPr lang="en-US" sz="7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Accounting Dashboard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36576" cy="7772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" y="1371600"/>
            <a:ext cx="11521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financial overview: total revenue, receivables, and billing pipeline. KPI cards, AR aging widgets, and trend charts for at-a-glance financial health monitoring.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240280"/>
            <a:ext cx="5303520" cy="4251960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240280"/>
            <a:ext cx="530352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276856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65760" y="2560320"/>
            <a:ext cx="51206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enrolled students with assessed and collected fee totals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 aging summary (30/60/90/120+ day buckets)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Revenue trend chart by month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debtors watchlist with outstanding balances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 method breakdown chart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Quick-links to key accounting sub-modules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852160" y="2240280"/>
            <a:ext cx="6035040" cy="4251960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52160" y="2240280"/>
            <a:ext cx="6035040" cy="274320"/>
          </a:xfrm>
          <a:prstGeom prst="rect">
            <a:avLst/>
          </a:prstGeom>
          <a:solidFill>
            <a:srgbClr val="4A3728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0" y="2276856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943600" y="2560320"/>
            <a:ext cx="5852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Accounting staff logs in and sees the Dashboard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Review KPI cards for assessments and collections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Check the AR aging widget to identify overdue accounts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Click a debtor row to navigate to the student's ledger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 Review the trend chart for monthly collection performance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0" name="Text 18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  ·  Accounting Dashboard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Finance</a:t>
            </a:r>
            <a:endParaRPr lang="en-US" sz="7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Accounts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36576" cy="7772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" y="1371600"/>
            <a:ext cx="11521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financial management for student billing and collections — individual student ledger, discount management, assessment approval, and financial hold administration.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212848"/>
            <a:ext cx="11521440" cy="274320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231136"/>
            <a:ext cx="11338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TABS: Student Ledger  ·  Discounts  ·  Billing &amp; Assessment  ·  Financial Holds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2578608"/>
            <a:ext cx="530352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578608"/>
            <a:ext cx="530352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615184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" y="2898648"/>
            <a:ext cx="512064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Per-student debit/credit ledger with running balance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Fee assessment breakdown per enrolled student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Discount application and multi-level approval workflow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Financial hold application and release controls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Statement of Account (SOA) generation and download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 history with receipt references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852160" y="2578608"/>
            <a:ext cx="603504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2578608"/>
            <a:ext cx="6035040" cy="274320"/>
          </a:xfrm>
          <a:prstGeom prst="rect">
            <a:avLst/>
          </a:prstGeom>
          <a:solidFill>
            <a:srgbClr val="4A3728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0" y="2615184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943600" y="2898648"/>
            <a:ext cx="585216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Navigate to Student Accounts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Search for a specific student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Open the student's ledger to view transactions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Apply discounts if the student qualifies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 Approve assessment when enrollment wizard submits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 Apply a financial hold if the student has unpaid balance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2" name="Text 20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  ·  Student Accounts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Finance</a:t>
            </a:r>
            <a:endParaRPr lang="en-US" sz="7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NAVIGATION TABS  ·  FINANCE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Accounts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2588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2588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132588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1" name="Text 9"/>
          <p:cNvSpPr/>
          <p:nvPr/>
        </p:nvSpPr>
        <p:spPr>
          <a:xfrm>
            <a:off x="292608" y="164592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" y="137160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Ledger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" y="164592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Debit/credit entries, running balance, and transaction history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89320" y="132588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89320" y="132588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6" name="Shape 14"/>
          <p:cNvSpPr/>
          <p:nvPr/>
        </p:nvSpPr>
        <p:spPr>
          <a:xfrm>
            <a:off x="5989320" y="132588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7" name="Text 15"/>
          <p:cNvSpPr/>
          <p:nvPr/>
        </p:nvSpPr>
        <p:spPr>
          <a:xfrm>
            <a:off x="6007608" y="164592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36792" y="137160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Discounts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36792" y="164592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Discount types, application requests, and approval workflow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251460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51460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" y="251460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3" name="Text 21"/>
          <p:cNvSpPr/>
          <p:nvPr/>
        </p:nvSpPr>
        <p:spPr>
          <a:xfrm>
            <a:off x="292608" y="283464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" y="256032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Billing &amp; Assessment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1792" y="283464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Fee assessment per student with approval queue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989320" y="251460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89320" y="251460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28" name="Shape 26"/>
          <p:cNvSpPr/>
          <p:nvPr/>
        </p:nvSpPr>
        <p:spPr>
          <a:xfrm>
            <a:off x="5989320" y="251460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9" name="Text 27"/>
          <p:cNvSpPr/>
          <p:nvPr/>
        </p:nvSpPr>
        <p:spPr>
          <a:xfrm>
            <a:off x="6007608" y="283464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36792" y="256032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Financial Holds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36792" y="283464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holds with hold type and release controls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34" name="Text 32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  ·  Student Accounts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Navigation Tabs</a:t>
            </a:r>
            <a:endParaRPr lang="en-US" sz="7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  ·  FINANCE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Accounts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Discount Application Form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1152144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62763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FIELDS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Name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6" name="Text 14"/>
          <p:cNvSpPr/>
          <p:nvPr/>
        </p:nvSpPr>
        <p:spPr>
          <a:xfrm>
            <a:off x="422452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Discount Type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9" name="Text 17"/>
          <p:cNvSpPr/>
          <p:nvPr/>
        </p:nvSpPr>
        <p:spPr>
          <a:xfrm>
            <a:off x="806500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Discount Amount / %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Applicable Fees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5" name="Text 23"/>
          <p:cNvSpPr/>
          <p:nvPr/>
        </p:nvSpPr>
        <p:spPr>
          <a:xfrm>
            <a:off x="422452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Supporting Document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95528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5528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8" name="Text 26"/>
          <p:cNvSpPr/>
          <p:nvPr/>
        </p:nvSpPr>
        <p:spPr>
          <a:xfrm>
            <a:off x="806500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Remarks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31" name="Text 29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  ·  Discount Application Form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</a:t>
            </a:r>
            <a:endParaRPr lang="en-US" sz="7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  ·  FINANCE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Accounts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Financial Hold Form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1152144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62763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FIELDS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Name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6" name="Text 14"/>
          <p:cNvSpPr/>
          <p:nvPr/>
        </p:nvSpPr>
        <p:spPr>
          <a:xfrm>
            <a:off x="422452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Hold Type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9" name="Text 17"/>
          <p:cNvSpPr/>
          <p:nvPr/>
        </p:nvSpPr>
        <p:spPr>
          <a:xfrm>
            <a:off x="806500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Hold Reason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Amount Due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5" name="Text 23"/>
          <p:cNvSpPr/>
          <p:nvPr/>
        </p:nvSpPr>
        <p:spPr>
          <a:xfrm>
            <a:off x="422452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Effective Date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8" name="Text 26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  ·  Financial Hold Form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</a:t>
            </a:r>
            <a:endParaRPr lang="en-US" sz="7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  ·  FINANCE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Accounts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11521440" cy="27432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2801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DIALOGS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572768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572768"/>
            <a:ext cx="36576" cy="59436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161848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Statement of Account Preview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181965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Printable SOA with all fees, discounts, payments, and outstanding balance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231136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231136"/>
            <a:ext cx="36576" cy="59436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227685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Discount Approval Modal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2478024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Approve/reject a discount request with notes and approval level tracking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0" name="Text 18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  ·  Student Accounts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</a:t>
            </a:r>
            <a:endParaRPr lang="en-US" sz="7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FINANCE SETUP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Accounting Setup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36576" cy="7772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" y="1371600"/>
            <a:ext cx="11521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configuration tables for the financial system — chart of accounts, cost centers, supplier master, item catalog, and discount type definitions.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212848"/>
            <a:ext cx="11521440" cy="274320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231136"/>
            <a:ext cx="11338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TABS: Chart of Accounts  ·  Cost Centers  ·  Supplier Management  ·  Item / Product Mgmt  ·  Discount Types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2578608"/>
            <a:ext cx="530352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578608"/>
            <a:ext cx="530352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615184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" y="2898648"/>
            <a:ext cx="512064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Chart of Accounts: hierarchical GL structure with type classification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 Centers: department-level cost segmentation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Supplier Management: vendor master with contact, terms, and balance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Item/Product Management: fee items and services with pricing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Discount Types: configurable definitions with eligibility rules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852160" y="2578608"/>
            <a:ext cx="603504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2578608"/>
            <a:ext cx="6035040" cy="274320"/>
          </a:xfrm>
          <a:prstGeom prst="rect">
            <a:avLst/>
          </a:prstGeom>
          <a:solidFill>
            <a:srgbClr val="4A3728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0" y="2615184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943600" y="2898648"/>
            <a:ext cx="585216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Open Accounting Setup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Configure the Chart of Accounts by adding GL accounts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Create cost centers for each department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Add suppliers/vendors with payment terms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 Define fee items for student billing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 Configure discount types for student applications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2" name="Text 20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  ·  Accounting Setup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Finance Setup</a:t>
            </a:r>
            <a:endParaRPr lang="en-US" sz="7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NAVIGATION TABS  ·  FINANCE SETUP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Accounting Setup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2588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2588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132588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1" name="Text 9"/>
          <p:cNvSpPr/>
          <p:nvPr/>
        </p:nvSpPr>
        <p:spPr>
          <a:xfrm>
            <a:off x="292608" y="164592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" y="137160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Chart of Accounts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" y="164592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 account hierarchy: Asset, Liability, Equity, Revenue, Expense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89320" y="132588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89320" y="132588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6" name="Shape 14"/>
          <p:cNvSpPr/>
          <p:nvPr/>
        </p:nvSpPr>
        <p:spPr>
          <a:xfrm>
            <a:off x="5989320" y="132588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7" name="Text 15"/>
          <p:cNvSpPr/>
          <p:nvPr/>
        </p:nvSpPr>
        <p:spPr>
          <a:xfrm>
            <a:off x="6007608" y="164592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36792" y="137160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 Centers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36792" y="164592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Departmental cost allocation units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251460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51460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" y="251460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3" name="Text 21"/>
          <p:cNvSpPr/>
          <p:nvPr/>
        </p:nvSpPr>
        <p:spPr>
          <a:xfrm>
            <a:off x="292608" y="283464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" y="256032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Supplier Management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1792" y="283464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Vendor master with contact info and payment terms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989320" y="251460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89320" y="251460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28" name="Shape 26"/>
          <p:cNvSpPr/>
          <p:nvPr/>
        </p:nvSpPr>
        <p:spPr>
          <a:xfrm>
            <a:off x="5989320" y="251460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9" name="Text 27"/>
          <p:cNvSpPr/>
          <p:nvPr/>
        </p:nvSpPr>
        <p:spPr>
          <a:xfrm>
            <a:off x="6007608" y="283464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36792" y="256032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Item / Product Mgmt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36792" y="283464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Fee items and products used in student billing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74320" y="370332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370332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34" name="Shape 32"/>
          <p:cNvSpPr/>
          <p:nvPr/>
        </p:nvSpPr>
        <p:spPr>
          <a:xfrm>
            <a:off x="274320" y="370332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35" name="Text 33"/>
          <p:cNvSpPr/>
          <p:nvPr/>
        </p:nvSpPr>
        <p:spPr>
          <a:xfrm>
            <a:off x="292608" y="402336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1792" y="374904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Discount Types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1792" y="402336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Named discount definitions with eligibility rules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40" name="Text 38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  ·  Accounting Setup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Navigation Tabs</a:t>
            </a:r>
            <a:endParaRPr lang="en-US" sz="7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  ·  FINANCE SETUP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Accounting Setup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GL Account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1152144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62763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FIELDS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 Code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6" name="Text 14"/>
          <p:cNvSpPr/>
          <p:nvPr/>
        </p:nvSpPr>
        <p:spPr>
          <a:xfrm>
            <a:off x="422452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 Name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9" name="Text 17"/>
          <p:cNvSpPr/>
          <p:nvPr/>
        </p:nvSpPr>
        <p:spPr>
          <a:xfrm>
            <a:off x="806500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 Type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Parent Account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5" name="Text 23"/>
          <p:cNvSpPr/>
          <p:nvPr/>
        </p:nvSpPr>
        <p:spPr>
          <a:xfrm>
            <a:off x="422452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 Center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95528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5528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8" name="Text 26"/>
          <p:cNvSpPr/>
          <p:nvPr/>
        </p:nvSpPr>
        <p:spPr>
          <a:xfrm>
            <a:off x="806500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31" name="Text 29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  ·  Add GL Account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</a:t>
            </a:r>
            <a:endParaRPr lang="en-US" sz="7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  ·  FINANCE SETUP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Accounting Setup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Supplier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1152144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62763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FIELDS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Supplier Name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6" name="Text 14"/>
          <p:cNvSpPr/>
          <p:nvPr/>
        </p:nvSpPr>
        <p:spPr>
          <a:xfrm>
            <a:off x="422452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Contact Person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9" name="Text 17"/>
          <p:cNvSpPr/>
          <p:nvPr/>
        </p:nvSpPr>
        <p:spPr>
          <a:xfrm>
            <a:off x="806500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Phone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5" name="Text 23"/>
          <p:cNvSpPr/>
          <p:nvPr/>
        </p:nvSpPr>
        <p:spPr>
          <a:xfrm>
            <a:off x="422452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 Terms (Days)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95528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5528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8" name="Text 26"/>
          <p:cNvSpPr/>
          <p:nvPr/>
        </p:nvSpPr>
        <p:spPr>
          <a:xfrm>
            <a:off x="806500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Tax ID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31" name="Text 29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  ·  Add Supplier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</a:t>
            </a:r>
            <a:endParaRPr lang="en-US" sz="7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  ·  FINANCE SETUP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Accounting Setup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Fee Item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1152144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62763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FIELDS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Item Code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6" name="Text 14"/>
          <p:cNvSpPr/>
          <p:nvPr/>
        </p:nvSpPr>
        <p:spPr>
          <a:xfrm>
            <a:off x="422452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Item Name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9" name="Text 17"/>
          <p:cNvSpPr/>
          <p:nvPr/>
        </p:nvSpPr>
        <p:spPr>
          <a:xfrm>
            <a:off x="806500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Category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Unit Price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5" name="Text 23"/>
          <p:cNvSpPr/>
          <p:nvPr/>
        </p:nvSpPr>
        <p:spPr>
          <a:xfrm>
            <a:off x="422452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Tax Applicable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95528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5528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8" name="Text 26"/>
          <p:cNvSpPr/>
          <p:nvPr/>
        </p:nvSpPr>
        <p:spPr>
          <a:xfrm>
            <a:off x="806500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 Account Link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31" name="Text 29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  ·  Add Fee Item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</a:t>
            </a:r>
            <a:endParaRPr lang="en-US" sz="7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Journal Entries (General Ledger)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36576" cy="7772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" y="1371600"/>
            <a:ext cx="11521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 all financial transactions in double-entry format. Each entry must balance (debits = credits) before it can be posted to the general ledger.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212848"/>
            <a:ext cx="11521440" cy="274320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231136"/>
            <a:ext cx="11338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TABS: Journal Entries List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2578608"/>
            <a:ext cx="530352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578608"/>
            <a:ext cx="530352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615184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" y="2898648"/>
            <a:ext cx="512064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Double-entry creation with debit/credit line items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 account selection from the Chart of Accounts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Reference number and document attachment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Batch posting of multiple entries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by date, account, and reference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Reverse entry creation for corrections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852160" y="2578608"/>
            <a:ext cx="603504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2578608"/>
            <a:ext cx="6035040" cy="274320"/>
          </a:xfrm>
          <a:prstGeom prst="rect">
            <a:avLst/>
          </a:prstGeom>
          <a:solidFill>
            <a:srgbClr val="4A3728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0" y="2615184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943600" y="2898648"/>
            <a:ext cx="585216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Open Journal Entries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Click 'New Entry'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Enter the entry date, reference number, and description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Add debit and credit line items from the Chart of Accounts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 Verify that total debits equal total credits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 Post the entry to the general ledger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2" name="Text 20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  ·  Journal Entries (General Ledger)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Finance</a:t>
            </a:r>
            <a:endParaRPr lang="en-US" sz="7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  ·  FINANCE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Journal Entries (General Ledger)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Journal Entry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1152144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62763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FIELDS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Entry Date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6" name="Text 14"/>
          <p:cNvSpPr/>
          <p:nvPr/>
        </p:nvSpPr>
        <p:spPr>
          <a:xfrm>
            <a:off x="422452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Reference Number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9" name="Text 17"/>
          <p:cNvSpPr/>
          <p:nvPr/>
        </p:nvSpPr>
        <p:spPr>
          <a:xfrm>
            <a:off x="806500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Description / Memo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Line Items: Account | Description | Debit | Credit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5" name="Text 23"/>
          <p:cNvSpPr/>
          <p:nvPr/>
        </p:nvSpPr>
        <p:spPr>
          <a:xfrm>
            <a:off x="422452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Attachment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8" name="Text 26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  ·  New Journal Entry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</a:t>
            </a:r>
            <a:endParaRPr lang="en-US" sz="7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  ·  FINANCE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Journal Entries (General Ledger)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11521440" cy="27432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2801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DIALOGS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572768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572768"/>
            <a:ext cx="36576" cy="59436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161848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Journal Entry Detail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181965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Read-only view of a posted entry with full line item breakdown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16" name="Text 14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  ·  Journal Entries (General Ledger)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</a:t>
            </a:r>
            <a:endParaRPr lang="en-US" sz="7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Accounts Receivable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36576" cy="7772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" y="1371600"/>
            <a:ext cx="11521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 all money owed to the school. Includes sales invoice management and an aging analysis by overdue buckets for collection monitoring.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212848"/>
            <a:ext cx="11521440" cy="274320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231136"/>
            <a:ext cx="11338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TABS: Sales Invoice  ·  AR Aging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2578608"/>
            <a:ext cx="530352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578608"/>
            <a:ext cx="530352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615184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" y="2898648"/>
            <a:ext cx="512064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 invoice creation with line items and due dates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Customer/student AR balance tracking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 matching and invoice settlement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 Aging by 30/60/90/120+ day buckets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Overdue invoice alerts and collection notes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852160" y="2578608"/>
            <a:ext cx="603504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2578608"/>
            <a:ext cx="6035040" cy="274320"/>
          </a:xfrm>
          <a:prstGeom prst="rect">
            <a:avLst/>
          </a:prstGeom>
          <a:solidFill>
            <a:srgbClr val="4A3728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0" y="2615184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943600" y="2898648"/>
            <a:ext cx="585216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Create a sales invoice for a customer or student billing event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Set the due date and payment terms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Monitor the AR aging report for overdue invoices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Record payment when customer pays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 Generate AR aging summary for management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2" name="Text 20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  ·  Accounts Receivable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Finance</a:t>
            </a:r>
            <a:endParaRPr lang="en-US" sz="7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  ·  FINANCE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Accounts Receivable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Sales Invoice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1152144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62763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FIELDS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Invoice Number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6" name="Text 14"/>
          <p:cNvSpPr/>
          <p:nvPr/>
        </p:nvSpPr>
        <p:spPr>
          <a:xfrm>
            <a:off x="422452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Invoice Date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9" name="Text 17"/>
          <p:cNvSpPr/>
          <p:nvPr/>
        </p:nvSpPr>
        <p:spPr>
          <a:xfrm>
            <a:off x="806500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Due Date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/ Student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5" name="Text 23"/>
          <p:cNvSpPr/>
          <p:nvPr/>
        </p:nvSpPr>
        <p:spPr>
          <a:xfrm>
            <a:off x="422452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Line Items: Item | Qty | Unit Price | Total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95528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5528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8" name="Text 26"/>
          <p:cNvSpPr/>
          <p:nvPr/>
        </p:nvSpPr>
        <p:spPr>
          <a:xfrm>
            <a:off x="806500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31" name="Text 29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  ·  New Sales Invoice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</a:t>
            </a:r>
            <a:endParaRPr lang="en-US" sz="7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  ·  FINANCE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Accounts Receivable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11521440" cy="27432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2801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DIALOGS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572768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572768"/>
            <a:ext cx="36576" cy="59436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161848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Invoice Detail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181965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invoice with payment history, balance due, and payment recording controls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74320" y="2414016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706624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706624"/>
            <a:ext cx="36576" cy="59436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275234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 Aging Report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" y="295351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Customer-by-customer aging breakdown with totals per bucket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1" name="Text 19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  ·  Accounts Receivable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</a:t>
            </a:r>
            <a:endParaRPr lang="en-US" sz="7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Accounts Payable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36576" cy="7772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" y="1371600"/>
            <a:ext cx="11521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 vendor invoices and the school's outstanding payment obligations. Track what is owed to suppliers and provide aging analysis for payment prioritization.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212848"/>
            <a:ext cx="11521440" cy="274320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231136"/>
            <a:ext cx="11338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TABS: Purchase Invoice  ·  AP Aging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2578608"/>
            <a:ext cx="530352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578608"/>
            <a:ext cx="530352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615184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" y="2898648"/>
            <a:ext cx="512064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Purchase invoice entry from vendor bills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 account coding per invoice line item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 scheduling and due date tracking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 Aging by vendor and aging bucket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 invoices as paid upon settlement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852160" y="2578608"/>
            <a:ext cx="603504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2578608"/>
            <a:ext cx="6035040" cy="274320"/>
          </a:xfrm>
          <a:prstGeom prst="rect">
            <a:avLst/>
          </a:prstGeom>
          <a:solidFill>
            <a:srgbClr val="4A3728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0" y="2615184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943600" y="2898648"/>
            <a:ext cx="585216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Receive a vendor bill and open Purchase Invoices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Enter the invoice with vendor, date, and line items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Code each line to the appropriate GL account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Schedule the payment based on vendor payment terms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 On payment date: mark invoice as paid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 Monitor AP aging for no overdue vendor payments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2" name="Text 20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  ·  Accounts Payable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Finance</a:t>
            </a:r>
            <a:endParaRPr lang="en-US" sz="7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  ·  FINANCE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Accounts Payable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Purchase Invoice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1152144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62763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FIELDS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Invoice Number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6" name="Text 14"/>
          <p:cNvSpPr/>
          <p:nvPr/>
        </p:nvSpPr>
        <p:spPr>
          <a:xfrm>
            <a:off x="422452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Vendor / Supplier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9" name="Text 17"/>
          <p:cNvSpPr/>
          <p:nvPr/>
        </p:nvSpPr>
        <p:spPr>
          <a:xfrm>
            <a:off x="806500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Invoice Date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Due Date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5" name="Text 23"/>
          <p:cNvSpPr/>
          <p:nvPr/>
        </p:nvSpPr>
        <p:spPr>
          <a:xfrm>
            <a:off x="422452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Line Items: Description | GL Account | Cost Center | Amount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8" name="Text 26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  ·  New Purchase Invoice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</a:t>
            </a:r>
            <a:endParaRPr lang="en-US" sz="7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  ·  FINANCE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Accounts Payable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11521440" cy="27432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2801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DIALOGS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572768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572768"/>
            <a:ext cx="36576" cy="59436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161848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 Recording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181965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 payment to vendor, select payment method, update status to Paid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74320" y="2414016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706624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706624"/>
            <a:ext cx="36576" cy="59436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275234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 Aging Report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" y="295351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Vendor-by-vendor aging breakdown with payment due prioritization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1" name="Text 19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  ·  Accounts Payable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</a:t>
            </a:r>
            <a:endParaRPr lang="en-US" sz="7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Financial Reports &amp; Statements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36576" cy="7772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" y="1371600"/>
            <a:ext cx="11521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suite of formal accounting statements — Trial Balance, Balance Sheet, Income Statement, and Cash Flow — each with period selection and export capability.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212848"/>
            <a:ext cx="11521440" cy="274320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231136"/>
            <a:ext cx="11338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TABS: Trial Balance  ·  Balance Sheet  ·  Income Statement  ·  Cash Flow Report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2578608"/>
            <a:ext cx="530352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578608"/>
            <a:ext cx="530352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615184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" y="2898648"/>
            <a:ext cx="512064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Trial Balance: debit/credit totals per GL account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Balance Sheet: Assets = Liabilities + Equity snapshot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Income Statement: Revenue − Expenses = Net Income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Cash Flow: Operating, Investing, and Financing activity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Period and date range selector for all statements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Comparative period columns (current vs. prior year)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Export to PDF and Excel for audit submissions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852160" y="2578608"/>
            <a:ext cx="603504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2578608"/>
            <a:ext cx="6035040" cy="274320"/>
          </a:xfrm>
          <a:prstGeom prst="rect">
            <a:avLst/>
          </a:prstGeom>
          <a:solidFill>
            <a:srgbClr val="4A3728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0" y="2615184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943600" y="2898648"/>
            <a:ext cx="585216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Navigate to Financial Reports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Select the desired statement type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Set the date range or as-of date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Review the generated statement on-screen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 Export to PDF for management or audit submission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2" name="Text 20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  ·  Financial Reports &amp; Statements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Finance</a:t>
            </a:r>
            <a:endParaRPr lang="en-US" sz="7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NAVIGATION TABS  ·  FINANCE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Financial Reports &amp; Statements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2588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2588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132588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1" name="Text 9"/>
          <p:cNvSpPr/>
          <p:nvPr/>
        </p:nvSpPr>
        <p:spPr>
          <a:xfrm>
            <a:off x="292608" y="164592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" y="137160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Trial Balance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" y="164592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 debit/credit totals verifying ledger balance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89320" y="132588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89320" y="132588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6" name="Shape 14"/>
          <p:cNvSpPr/>
          <p:nvPr/>
        </p:nvSpPr>
        <p:spPr>
          <a:xfrm>
            <a:off x="5989320" y="132588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7" name="Text 15"/>
          <p:cNvSpPr/>
          <p:nvPr/>
        </p:nvSpPr>
        <p:spPr>
          <a:xfrm>
            <a:off x="6007608" y="164592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36792" y="137160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Balance Sheet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36792" y="164592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Assets, liabilities, and equity as of a specific date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251460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51460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" y="251460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3" name="Text 21"/>
          <p:cNvSpPr/>
          <p:nvPr/>
        </p:nvSpPr>
        <p:spPr>
          <a:xfrm>
            <a:off x="292608" y="283464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" y="256032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Income Statement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1792" y="283464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Revenue and expenses yielding net income for a period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989320" y="251460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89320" y="251460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28" name="Shape 26"/>
          <p:cNvSpPr/>
          <p:nvPr/>
        </p:nvSpPr>
        <p:spPr>
          <a:xfrm>
            <a:off x="5989320" y="251460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9" name="Text 27"/>
          <p:cNvSpPr/>
          <p:nvPr/>
        </p:nvSpPr>
        <p:spPr>
          <a:xfrm>
            <a:off x="6007608" y="283464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36792" y="256032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Cash Flow Report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36792" y="283464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Operating, investing, and financing cash flows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34" name="Text 32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  ·  Financial Reports &amp; Statements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Navigation Tabs</a:t>
            </a:r>
            <a:endParaRPr lang="en-US" sz="7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  ·  FINANCE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Financial Reports &amp; Statements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11521440" cy="27432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2801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DIALOGS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572768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572768"/>
            <a:ext cx="36576" cy="59436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161848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Statement Preview &amp; Export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181965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On-screen preview with Print, Export PDF, and Export Excel buttons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74320" y="2414016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706624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706624"/>
            <a:ext cx="36576" cy="59436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275234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Trial Balance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" y="295351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Two-column debit/credit totals for all active GL accounts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3364992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364992"/>
            <a:ext cx="36576" cy="59436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341071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Balance Sheet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" y="36118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Standard balance sheet format with sub-totals per category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4023360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4023360"/>
            <a:ext cx="36576" cy="59436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5" name="Text 23"/>
          <p:cNvSpPr/>
          <p:nvPr/>
        </p:nvSpPr>
        <p:spPr>
          <a:xfrm>
            <a:off x="411480" y="406908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Income Statement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11480" y="427024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Revenue less expenses with gross profit and net income lines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" y="4681728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4681728"/>
            <a:ext cx="36576" cy="59436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9" name="Text 27"/>
          <p:cNvSpPr/>
          <p:nvPr/>
        </p:nvSpPr>
        <p:spPr>
          <a:xfrm>
            <a:off x="411480" y="4727448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Cash Flow Statement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11480" y="492861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Indirect method with operating, investing, and financing sections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33" name="Text 31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  ·  Financial Reports &amp; Statements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</a:t>
            </a:r>
            <a:endParaRPr lang="en-US" sz="7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COLLECTIONS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Cashiering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36576" cy="7772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" y="1371600"/>
            <a:ext cx="11521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Point-of-collection interface for processing student payments. Cashiers receive payments for approved assessments, generate official receipts, view collection history, and produce cashiering reports for daily reconciliation.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212848"/>
            <a:ext cx="11521440" cy="274320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231136"/>
            <a:ext cx="11338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TABS: Payment Queue  ·  Collection History  ·  Reports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2578608"/>
            <a:ext cx="530352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578608"/>
            <a:ext cx="530352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615184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" y="2898648"/>
            <a:ext cx="512064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 queue for students with approved assessments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 entry with multiple payment methods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Official receipt generation with OR number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Partial payment recording with balance tracking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Collection history with OR search and reprint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Daily collection summary and cashier's report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852160" y="2578608"/>
            <a:ext cx="603504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2578608"/>
            <a:ext cx="6035040" cy="274320"/>
          </a:xfrm>
          <a:prstGeom prst="rect">
            <a:avLst/>
          </a:prstGeom>
          <a:solidFill>
            <a:srgbClr val="4A3728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0" y="2615184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943600" y="2898648"/>
            <a:ext cx="585216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Student presents to the cashier window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Search for the student in the Payment Queue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Review the approved assessment and payment schedule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Enter the payment amount and payment method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 System generates an Official Receipt (OR)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 Cashier prints and hands OR to the student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  At end of day, generate the Daily Collection Report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2" name="Text 20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  ·  Cashiering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Collections</a:t>
            </a:r>
            <a:endParaRPr lang="en-US" sz="7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NAVIGATION TABS  ·  COLLECTIONS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Cashiering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2588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2588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132588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1" name="Text 9"/>
          <p:cNvSpPr/>
          <p:nvPr/>
        </p:nvSpPr>
        <p:spPr>
          <a:xfrm>
            <a:off x="292608" y="164592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" y="137160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 Queue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" y="164592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Students with approved assessments ready for payment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89320" y="132588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89320" y="132588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6" name="Shape 14"/>
          <p:cNvSpPr/>
          <p:nvPr/>
        </p:nvSpPr>
        <p:spPr>
          <a:xfrm>
            <a:off x="5989320" y="132588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7" name="Text 15"/>
          <p:cNvSpPr/>
          <p:nvPr/>
        </p:nvSpPr>
        <p:spPr>
          <a:xfrm>
            <a:off x="6007608" y="164592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36792" y="137160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Collection History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36792" y="164592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posted payments with OR numbers and reprint option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251460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51460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" y="251460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3" name="Text 21"/>
          <p:cNvSpPr/>
          <p:nvPr/>
        </p:nvSpPr>
        <p:spPr>
          <a:xfrm>
            <a:off x="292608" y="283464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" y="256032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1792" y="283464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Daily collection report, bank deposit, and collection by type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8" name="Text 26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  ·  Cashiering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Navigation Tabs</a:t>
            </a:r>
            <a:endParaRPr lang="en-US" sz="7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  ·  COLLECTIONS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Cashiering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 Entry Form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1152144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62763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FIELDS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Name / ID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6" name="Text 14"/>
          <p:cNvSpPr/>
          <p:nvPr/>
        </p:nvSpPr>
        <p:spPr>
          <a:xfrm>
            <a:off x="422452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Assessment Reference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9" name="Text 17"/>
          <p:cNvSpPr/>
          <p:nvPr/>
        </p:nvSpPr>
        <p:spPr>
          <a:xfrm>
            <a:off x="806500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Amount to Pay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 Method (Cash / Check / Online)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5" name="Text 23"/>
          <p:cNvSpPr/>
          <p:nvPr/>
        </p:nvSpPr>
        <p:spPr>
          <a:xfrm>
            <a:off x="422452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 Number / Bank Reference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95528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5528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8" name="Text 26"/>
          <p:cNvSpPr/>
          <p:nvPr/>
        </p:nvSpPr>
        <p:spPr>
          <a:xfrm>
            <a:off x="806500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Cashier Name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008376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3008376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31" name="Text 29"/>
          <p:cNvSpPr/>
          <p:nvPr/>
        </p:nvSpPr>
        <p:spPr>
          <a:xfrm>
            <a:off x="384048" y="3063240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34" name="Text 32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  ·  Payment Entry Form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</a:t>
            </a:r>
            <a:endParaRPr lang="en-US" sz="7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  ·  COLLECTIONS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Cashiering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11521440" cy="27432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2801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DIALOGS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572768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572768"/>
            <a:ext cx="36576" cy="59436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161848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Official Receipt Preview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181965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Print-ready OR with OR number, school name, student name, amount, and payment details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231136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231136"/>
            <a:ext cx="36576" cy="59436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227685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Reprint Receipt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2478024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Reprint any previously issued receipt by OR number or student name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74320" y="307238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3364992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364992"/>
            <a:ext cx="36576" cy="59436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341071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Daily Collection Report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" y="36118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Summary of all payments collected on a specific date by payment method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4023360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4023360"/>
            <a:ext cx="36576" cy="59436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5" name="Text 23"/>
          <p:cNvSpPr/>
          <p:nvPr/>
        </p:nvSpPr>
        <p:spPr>
          <a:xfrm>
            <a:off x="411480" y="406908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Bank Deposit Summary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11480" y="427024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Breakdown of check and online payments for bank deposit preparation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" y="4681728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4681728"/>
            <a:ext cx="36576" cy="59436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9" name="Text 27"/>
          <p:cNvSpPr/>
          <p:nvPr/>
        </p:nvSpPr>
        <p:spPr>
          <a:xfrm>
            <a:off x="411480" y="4727448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Collection by Payment Type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11480" y="492861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Breakdown of cash, check, and online transfer collections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33" name="Text 31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  ·  Cashiering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</a:t>
            </a:r>
            <a:endParaRPr lang="en-US" sz="7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INSTRUCTION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Teacher Board (Faculty Portal)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36576" cy="7772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" y="1371600"/>
            <a:ext cx="11521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Faculty-facing interface for accessing assigned classes, viewing schedules, and entering student grades — a focused view of teaching responsibilities for the current term.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212848"/>
            <a:ext cx="11521440" cy="274320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231136"/>
            <a:ext cx="11338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TABS: My Classes  ·  Schedule  ·  Students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2578608"/>
            <a:ext cx="530352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578608"/>
            <a:ext cx="530352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615184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" y="2898648"/>
            <a:ext cx="512064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 Classes list with subject, section, schedule, and student count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 roster with enrolled students per subject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Grade encoding access per subject from the class card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Teaching schedule overview by day and time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 navigation to grade sheets for each class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852160" y="2578608"/>
            <a:ext cx="603504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2578608"/>
            <a:ext cx="6035040" cy="274320"/>
          </a:xfrm>
          <a:prstGeom prst="rect">
            <a:avLst/>
          </a:prstGeom>
          <a:solidFill>
            <a:srgbClr val="4A3728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0" y="2615184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943600" y="2898648"/>
            <a:ext cx="585216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Teacher logs in and sees My Classes list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Reviews the teaching schedule for the current week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Clicks a class card to view the roster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Clicks 'Grade Encoding' to open the grade sheet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 Enters grades for each student and saves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2" name="Text 20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  ·  Teacher Board (Faculty Portal)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Instruction</a:t>
            </a:r>
            <a:endParaRPr lang="en-US" sz="7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NAVIGATION TABS  ·  INSTRUCTION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Teacher Board (Faculty Portal)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2588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2588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132588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1" name="Text 9"/>
          <p:cNvSpPr/>
          <p:nvPr/>
        </p:nvSpPr>
        <p:spPr>
          <a:xfrm>
            <a:off x="292608" y="164592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" y="137160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 Classes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" y="164592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subjects assigned to the teacher for the current term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89320" y="132588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89320" y="132588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6" name="Shape 14"/>
          <p:cNvSpPr/>
          <p:nvPr/>
        </p:nvSpPr>
        <p:spPr>
          <a:xfrm>
            <a:off x="5989320" y="132588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7" name="Text 15"/>
          <p:cNvSpPr/>
          <p:nvPr/>
        </p:nvSpPr>
        <p:spPr>
          <a:xfrm>
            <a:off x="6007608" y="164592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36792" y="137160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36792" y="164592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Weekly teaching schedule: day, time, subject, and room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251460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51460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" y="251460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3" name="Text 21"/>
          <p:cNvSpPr/>
          <p:nvPr/>
        </p:nvSpPr>
        <p:spPr>
          <a:xfrm>
            <a:off x="292608" y="283464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" y="256032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1792" y="283464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Combined student roster across all assigned classes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8" name="Text 26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  ·  Teacher Board (Faculty Portal)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Navigation Tabs</a:t>
            </a:r>
            <a:endParaRPr lang="en-US" sz="75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INSTRUCTION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Grade Encoding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36576" cy="7772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" y="1371600"/>
            <a:ext cx="11521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Spreadsheet-style interface for entering student grades by grading period. Teachers configure grade items, set weights, and input scores that are automatically computed into final grades.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212848"/>
            <a:ext cx="11521440" cy="274320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231136"/>
            <a:ext cx="11338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TABS: Grade Sheet  ·  Grade Summary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2578608"/>
            <a:ext cx="530352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578608"/>
            <a:ext cx="530352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615184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" y="2898648"/>
            <a:ext cx="512064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Grade sheet table: one row per student, one column per grade item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Grading period selector (1st–4th Quarter or Midterm/Finals)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Grade item management: quizzes, activities, exams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Weight configuration per grade component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Auto-computation of weighted averages and final grades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Grade summary view showing all periods and overall final grade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Submit grades for registrar review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852160" y="2578608"/>
            <a:ext cx="603504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2578608"/>
            <a:ext cx="6035040" cy="274320"/>
          </a:xfrm>
          <a:prstGeom prst="rect">
            <a:avLst/>
          </a:prstGeom>
          <a:solidFill>
            <a:srgbClr val="4A3728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0" y="2615184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943600" y="2898648"/>
            <a:ext cx="585216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Open Grade Encoding from the Teacher Board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Select subject, section, and grading period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Add grade items with categories and weights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Input student scores in the grade sheet cells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 System computes weighted averages automatically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 Review the grade summary and submit the grade sheet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2" name="Text 20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  ·  Grade Encoding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Instruction</a:t>
            </a:r>
            <a:endParaRPr lang="en-US" sz="75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  ·  INSTRUCTION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Grade Encoding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Grade Item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1152144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62763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FIELDS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Item Name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6" name="Text 14"/>
          <p:cNvSpPr/>
          <p:nvPr/>
        </p:nvSpPr>
        <p:spPr>
          <a:xfrm>
            <a:off x="422452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Category (Written Work / Performance Task / Periodic Assessment)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9" name="Text 17"/>
          <p:cNvSpPr/>
          <p:nvPr/>
        </p:nvSpPr>
        <p:spPr>
          <a:xfrm>
            <a:off x="806500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Maximum Score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Weight (%)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5" name="Text 23"/>
          <p:cNvSpPr/>
          <p:nvPr/>
        </p:nvSpPr>
        <p:spPr>
          <a:xfrm>
            <a:off x="422452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Grading Period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8" name="Text 26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  ·  Add Grade Item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</a:t>
            </a:r>
            <a:endParaRPr lang="en-US" sz="75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  ·  INSTRUCTION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Grade Encoding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Grade Weights Setup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1152144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62763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FIELDS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Written Work Weight (%)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6" name="Text 14"/>
          <p:cNvSpPr/>
          <p:nvPr/>
        </p:nvSpPr>
        <p:spPr>
          <a:xfrm>
            <a:off x="422452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Performance Tasks Weight (%)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9" name="Text 17"/>
          <p:cNvSpPr/>
          <p:nvPr/>
        </p:nvSpPr>
        <p:spPr>
          <a:xfrm>
            <a:off x="806500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Periodic Assessment Weight (%)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Apply to: Current Period / All Periods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5" name="Text 23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  ·  Grade Weights Setup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</a:t>
            </a:r>
            <a:endParaRPr lang="en-US" sz="75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  ·  INSTRUCTION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Grade Encoding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11521440" cy="27432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2801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DIALOGS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572768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572768"/>
            <a:ext cx="36576" cy="59436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161848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Grade Item Modal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181965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a new grade component to the current grade sheet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231136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231136"/>
            <a:ext cx="36576" cy="59436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227685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 Grade Weights Modal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2478024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Configure percentage weight per grade category per grading period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889504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889504"/>
            <a:ext cx="36576" cy="59436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2935224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Submit Grades Confirmation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1480" y="313639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Confirmation before submitting the finalized grade sheet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4" name="Text 22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  ·  Grade Encoding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</a:t>
            </a:r>
            <a:endParaRPr lang="en-US" sz="75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INSTRUCTION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Online Learning (LMS)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36576" cy="7772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" y="1371600"/>
            <a:ext cx="11521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Integrated LMS for teachers and students. Teachers organize modules and resources; students access video lessons, complete activities, and track their learning progress.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212848"/>
            <a:ext cx="11521440" cy="274320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231136"/>
            <a:ext cx="11338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TABS: Modules  ·  My Progress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2578608"/>
            <a:ext cx="530352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578608"/>
            <a:ext cx="530352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615184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" y="2898648"/>
            <a:ext cx="512064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and lesson organization by subject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Video lesson player with progress tracking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Downloadable learning materials and resources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Activity and quiz access within each module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Completion tracking per student per module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Teacher view of student progress and completion rates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852160" y="2578608"/>
            <a:ext cx="603504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2578608"/>
            <a:ext cx="6035040" cy="274320"/>
          </a:xfrm>
          <a:prstGeom prst="rect">
            <a:avLst/>
          </a:prstGeom>
          <a:solidFill>
            <a:srgbClr val="4A3728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0" y="2615184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943600" y="2898648"/>
            <a:ext cx="585216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Teacher creates a learning module with title and subject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Adds lessons (video, PDF, activities) to the module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Publishes the module for student access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Students navigate to Online Learning and see assigned modules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 Students watch lessons, download materials, complete activities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 Progress tracked automatically — teacher views completion rates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2" name="Text 20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  ·  Online Learning (LMS)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Instruction</a:t>
            </a:r>
            <a:endParaRPr lang="en-US" sz="75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  ·  INSTRUCTION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Online Learning (LMS)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Module Form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1152144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62763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FIELDS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Title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6" name="Text 14"/>
          <p:cNvSpPr/>
          <p:nvPr/>
        </p:nvSpPr>
        <p:spPr>
          <a:xfrm>
            <a:off x="422452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Subject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9" name="Text 17"/>
          <p:cNvSpPr/>
          <p:nvPr/>
        </p:nvSpPr>
        <p:spPr>
          <a:xfrm>
            <a:off x="806500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Grade Level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5" name="Text 23"/>
          <p:cNvSpPr/>
          <p:nvPr/>
        </p:nvSpPr>
        <p:spPr>
          <a:xfrm>
            <a:off x="422452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Publish Status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8" name="Text 26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  ·  Create Module Form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</a:t>
            </a:r>
            <a:endParaRPr lang="en-US" sz="75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  ·  INSTRUCTION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Online Learning (LMS)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Lesson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1152144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62763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FIELDS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Lesson Title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6" name="Text 14"/>
          <p:cNvSpPr/>
          <p:nvPr/>
        </p:nvSpPr>
        <p:spPr>
          <a:xfrm>
            <a:off x="422452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Content Type (Video / PDF / Link / Activity)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9" name="Text 17"/>
          <p:cNvSpPr/>
          <p:nvPr/>
        </p:nvSpPr>
        <p:spPr>
          <a:xfrm>
            <a:off x="806500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URL or File Upload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 Number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5" name="Text 23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  ·  Add Lesson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</a:t>
            </a:r>
            <a:endParaRPr lang="en-US" sz="75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SELF-SERVICE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Portal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36576" cy="7772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" y="1371600"/>
            <a:ext cx="11521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 self-service hub for enrolled students — enrollment records, academic report card, financial ledger, personal profile, online learning, and self-service enrollment in a single tabbed interface.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212848"/>
            <a:ext cx="11521440" cy="274320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231136"/>
            <a:ext cx="11338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TABS: Records Overview  ·  Academic Report Card  ·  Financial Ledger  ·  Student Profile  ·  Online Learning  ·  Enrollment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2578608"/>
            <a:ext cx="530352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578608"/>
            <a:ext cx="530352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615184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" y="2898648"/>
            <a:ext cx="512064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Records Overview: enrollment status, GPA, fee balance, important dates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Academic Report Card: grades by subject and period with GPA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Financial Ledger: fee breakdown, payment history, and balance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Profile: personal details, emergency contacts, health info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Online Learning: LMS module browser and progress tracker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Enrollment: self-service enrollment form for the next term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852160" y="2578608"/>
            <a:ext cx="603504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2578608"/>
            <a:ext cx="6035040" cy="274320"/>
          </a:xfrm>
          <a:prstGeom prst="rect">
            <a:avLst/>
          </a:prstGeom>
          <a:solidFill>
            <a:srgbClr val="4A3728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0" y="2615184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943600" y="2898648"/>
            <a:ext cx="585216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Student logs in and lands on Records Overview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Checks enrollment status and GPA summary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Navigates to Academic Report Card to view grades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Checks Financial Ledger for outstanding balance and payment history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 Updates personal profile if needed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 Files self-service enrollment for the next term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2" name="Text 20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  ·  Student Portal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Self-Service</a:t>
            </a:r>
            <a:endParaRPr lang="en-US" sz="75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NAVIGATION TABS  ·  STUDENT SELF-SERVICE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Portal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2588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2588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132588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1" name="Text 9"/>
          <p:cNvSpPr/>
          <p:nvPr/>
        </p:nvSpPr>
        <p:spPr>
          <a:xfrm>
            <a:off x="292608" y="164592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" y="137160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Records Overview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" y="164592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Enrollment status dashboard with KPI cards and upcoming deadlines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89320" y="132588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89320" y="132588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6" name="Shape 14"/>
          <p:cNvSpPr/>
          <p:nvPr/>
        </p:nvSpPr>
        <p:spPr>
          <a:xfrm>
            <a:off x="5989320" y="132588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7" name="Text 15"/>
          <p:cNvSpPr/>
          <p:nvPr/>
        </p:nvSpPr>
        <p:spPr>
          <a:xfrm>
            <a:off x="6007608" y="164592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36792" y="137160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Academic Report Card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36792" y="164592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Grade summary per subject and grading period with GPA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251460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51460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" y="251460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3" name="Text 21"/>
          <p:cNvSpPr/>
          <p:nvPr/>
        </p:nvSpPr>
        <p:spPr>
          <a:xfrm>
            <a:off x="292608" y="283464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" y="256032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Financial Ledger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1792" y="283464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Fee breakdown, payment history, and remaining balance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989320" y="251460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89320" y="251460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28" name="Shape 26"/>
          <p:cNvSpPr/>
          <p:nvPr/>
        </p:nvSpPr>
        <p:spPr>
          <a:xfrm>
            <a:off x="5989320" y="251460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9" name="Text 27"/>
          <p:cNvSpPr/>
          <p:nvPr/>
        </p:nvSpPr>
        <p:spPr>
          <a:xfrm>
            <a:off x="6007608" y="283464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36792" y="256032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Profile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36792" y="283464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Personal info, emergency contacts, and health profile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74320" y="370332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370332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34" name="Shape 32"/>
          <p:cNvSpPr/>
          <p:nvPr/>
        </p:nvSpPr>
        <p:spPr>
          <a:xfrm>
            <a:off x="274320" y="370332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35" name="Text 33"/>
          <p:cNvSpPr/>
          <p:nvPr/>
        </p:nvSpPr>
        <p:spPr>
          <a:xfrm>
            <a:off x="292608" y="402336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1792" y="374904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Online Learning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1792" y="402336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LMS module access with video lessons and completion tracking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989320" y="370332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989320" y="370332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40" name="Shape 38"/>
          <p:cNvSpPr/>
          <p:nvPr/>
        </p:nvSpPr>
        <p:spPr>
          <a:xfrm>
            <a:off x="5989320" y="370332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1" name="Text 39"/>
          <p:cNvSpPr/>
          <p:nvPr/>
        </p:nvSpPr>
        <p:spPr>
          <a:xfrm>
            <a:off x="6007608" y="402336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336792" y="374904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Enrollment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336792" y="402336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Self-service enrollment form with subject selection and requirements upload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46" name="Text 44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  ·  Student Portal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Navigation Tabs</a:t>
            </a:r>
            <a:endParaRPr lang="en-US" sz="75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  ·  STUDENT SELF-SERVICE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Portal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Self-Service Enrollment Form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1152144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62763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FIELDS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Academic Year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6" name="Text 14"/>
          <p:cNvSpPr/>
          <p:nvPr/>
        </p:nvSpPr>
        <p:spPr>
          <a:xfrm>
            <a:off x="422452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Grade Level / Year Level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9" name="Text 17"/>
          <p:cNvSpPr/>
          <p:nvPr/>
        </p:nvSpPr>
        <p:spPr>
          <a:xfrm>
            <a:off x="806500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Program / Track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Subject Selection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5" name="Text 23"/>
          <p:cNvSpPr/>
          <p:nvPr/>
        </p:nvSpPr>
        <p:spPr>
          <a:xfrm>
            <a:off x="422452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 Terms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95528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5528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8" name="Text 26"/>
          <p:cNvSpPr/>
          <p:nvPr/>
        </p:nvSpPr>
        <p:spPr>
          <a:xfrm>
            <a:off x="806500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Upload: Form 138, Good Moral, PSA Birth Cert, Medical Cert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31" name="Text 29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  ·  Self-Service Enrollment Form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</a:t>
            </a:r>
            <a:endParaRPr lang="en-US" sz="75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  ·  STUDENT SELF-SERVICE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Portal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Profile Update Form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1152144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62763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FIELDS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Personal Details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6" name="Text 14"/>
          <p:cNvSpPr/>
          <p:nvPr/>
        </p:nvSpPr>
        <p:spPr>
          <a:xfrm>
            <a:off x="422452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Address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9" name="Text 17"/>
          <p:cNvSpPr/>
          <p:nvPr/>
        </p:nvSpPr>
        <p:spPr>
          <a:xfrm>
            <a:off x="806500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Contact Number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Emergency Contact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5" name="Text 23"/>
          <p:cNvSpPr/>
          <p:nvPr/>
        </p:nvSpPr>
        <p:spPr>
          <a:xfrm>
            <a:off x="422452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Blood Type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95528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5528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8" name="Text 26"/>
          <p:cNvSpPr/>
          <p:nvPr/>
        </p:nvSpPr>
        <p:spPr>
          <a:xfrm>
            <a:off x="806500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Allergies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008376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3008376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31" name="Text 29"/>
          <p:cNvSpPr/>
          <p:nvPr/>
        </p:nvSpPr>
        <p:spPr>
          <a:xfrm>
            <a:off x="384048" y="3063240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Chronic Conditions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34" name="Text 32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  ·  Profile Update Form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</a:t>
            </a:r>
            <a:endParaRPr lang="en-US" sz="75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  ·  STUDENT SELF-SERVICE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Portal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11521440" cy="27432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2801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DIALOGS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572768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572768"/>
            <a:ext cx="36576" cy="59436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161848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Statement of Account Preview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181965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Downloadable SOA in PDF with all fees, discounts, and payments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231136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231136"/>
            <a:ext cx="36576" cy="59436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227685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Grade Detail Drill-down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2478024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view of a subject's grade breakdown by component and period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0" name="Text 18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  ·  Student Portal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</a:t>
            </a:r>
            <a:endParaRPr lang="en-US" sz="75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HUMAN RESOURCES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 Management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36576" cy="7772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" y="1371600"/>
            <a:ext cx="11521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Comprehensive HR platform covering the entire employee lifecycle — from recruitment and onboarding through daily attendance, leave management, and separation.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212848"/>
            <a:ext cx="11521440" cy="274320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231136"/>
            <a:ext cx="11338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TABS: HR Dashboard  ·  Employee Life Cycles  ·  Time Management  ·  Shift Management  ·  Attendance Monitoring  ·  Leave Management  ·  Recruitment  ·  Onboarding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2578608"/>
            <a:ext cx="530352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578608"/>
            <a:ext cx="530352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615184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" y="2898648"/>
            <a:ext cx="512064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 Dashboard with workforce KPIs and alert cards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 employee lifecycle management (hire to separation)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Daily attendance monitoring with clock-in/out records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Shift template creation and employee assignment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Leave management with filing, approval, and balance tracking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Recruitment pipeline with job postings and applicant tracking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Onboarding checklist for new hires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852160" y="2578608"/>
            <a:ext cx="603504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2578608"/>
            <a:ext cx="6035040" cy="274320"/>
          </a:xfrm>
          <a:prstGeom prst="rect">
            <a:avLst/>
          </a:prstGeom>
          <a:solidFill>
            <a:srgbClr val="4A3728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0" y="2615184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943600" y="2898648"/>
            <a:ext cx="585216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Open HR Dashboard for a high-level workforce summary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Navigate to Employee Life Cycles for a specific employee record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Check Time Management for today's attendance logs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Review and process pending leave applications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 For recruitment: create job postings and track applicants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 For onboarding: generate and track the new hire checklist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2" name="Text 20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  ·  HR Management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Human Resources</a:t>
            </a:r>
            <a:endParaRPr lang="en-US" sz="75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NAVIGATION TABS  ·  HUMAN RESOURCES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 Management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2588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2588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132588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1" name="Text 9"/>
          <p:cNvSpPr/>
          <p:nvPr/>
        </p:nvSpPr>
        <p:spPr>
          <a:xfrm>
            <a:off x="292608" y="164592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" y="137160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 Dashboard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" y="164592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KPIs: headcount, attendance rate, leave balances, open positions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89320" y="132588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89320" y="132588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6" name="Shape 14"/>
          <p:cNvSpPr/>
          <p:nvPr/>
        </p:nvSpPr>
        <p:spPr>
          <a:xfrm>
            <a:off x="5989320" y="132588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7" name="Text 15"/>
          <p:cNvSpPr/>
          <p:nvPr/>
        </p:nvSpPr>
        <p:spPr>
          <a:xfrm>
            <a:off x="6007608" y="164592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36792" y="137160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Employee Life Cycles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36792" y="164592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Employee master list with history, promotions, and status changes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251460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51460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" y="251460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3" name="Text 21"/>
          <p:cNvSpPr/>
          <p:nvPr/>
        </p:nvSpPr>
        <p:spPr>
          <a:xfrm>
            <a:off x="292608" y="283464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" y="256032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 Management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1792" y="283464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Daily time records (DTR), hours worked, and overtime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989320" y="251460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89320" y="251460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28" name="Shape 26"/>
          <p:cNvSpPr/>
          <p:nvPr/>
        </p:nvSpPr>
        <p:spPr>
          <a:xfrm>
            <a:off x="5989320" y="251460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9" name="Text 27"/>
          <p:cNvSpPr/>
          <p:nvPr/>
        </p:nvSpPr>
        <p:spPr>
          <a:xfrm>
            <a:off x="6007608" y="283464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36792" y="256032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Shift Management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36792" y="283464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Shift templates and employee-to-shift assignment calendar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74320" y="370332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370332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34" name="Shape 32"/>
          <p:cNvSpPr/>
          <p:nvPr/>
        </p:nvSpPr>
        <p:spPr>
          <a:xfrm>
            <a:off x="274320" y="370332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35" name="Text 33"/>
          <p:cNvSpPr/>
          <p:nvPr/>
        </p:nvSpPr>
        <p:spPr>
          <a:xfrm>
            <a:off x="292608" y="402336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1792" y="374904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Attendance Monitoring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1792" y="402336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Day-by-day records: present, absent, late, early-out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989320" y="370332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989320" y="370332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40" name="Shape 38"/>
          <p:cNvSpPr/>
          <p:nvPr/>
        </p:nvSpPr>
        <p:spPr>
          <a:xfrm>
            <a:off x="5989320" y="370332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1" name="Text 39"/>
          <p:cNvSpPr/>
          <p:nvPr/>
        </p:nvSpPr>
        <p:spPr>
          <a:xfrm>
            <a:off x="6007608" y="402336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336792" y="374904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Leave Management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336792" y="402336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Leave application queue, approvals, balance ledger, and calendar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74320" y="489204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74320" y="489204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46" name="Shape 44"/>
          <p:cNvSpPr/>
          <p:nvPr/>
        </p:nvSpPr>
        <p:spPr>
          <a:xfrm>
            <a:off x="274320" y="489204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7" name="Text 45"/>
          <p:cNvSpPr/>
          <p:nvPr/>
        </p:nvSpPr>
        <p:spPr>
          <a:xfrm>
            <a:off x="292608" y="521208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21792" y="493776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Recruitment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21792" y="521208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Job postings, applicants, interviews, and job offers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989320" y="489204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989320" y="489204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52" name="Shape 50"/>
          <p:cNvSpPr/>
          <p:nvPr/>
        </p:nvSpPr>
        <p:spPr>
          <a:xfrm>
            <a:off x="5989320" y="489204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53" name="Text 51"/>
          <p:cNvSpPr/>
          <p:nvPr/>
        </p:nvSpPr>
        <p:spPr>
          <a:xfrm>
            <a:off x="6007608" y="521208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336792" y="493776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Onboarding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336792" y="521208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hire checklist with completion tracking per requirement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58" name="Text 56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  ·  HR Management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Navigation Tabs</a:t>
            </a:r>
            <a:endParaRPr lang="en-US" sz="75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  ·  HUMAN RESOURCES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 Management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Employee Form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1152144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62763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FIELDS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Employee Name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6" name="Text 14"/>
          <p:cNvSpPr/>
          <p:nvPr/>
        </p:nvSpPr>
        <p:spPr>
          <a:xfrm>
            <a:off x="422452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Employee ID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9" name="Text 17"/>
          <p:cNvSpPr/>
          <p:nvPr/>
        </p:nvSpPr>
        <p:spPr>
          <a:xfrm>
            <a:off x="806500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Department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Position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5" name="Text 23"/>
          <p:cNvSpPr/>
          <p:nvPr/>
        </p:nvSpPr>
        <p:spPr>
          <a:xfrm>
            <a:off x="422452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Employment Type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95528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5528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8" name="Text 26"/>
          <p:cNvSpPr/>
          <p:nvPr/>
        </p:nvSpPr>
        <p:spPr>
          <a:xfrm>
            <a:off x="806500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 Hired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008376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3008376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31" name="Text 29"/>
          <p:cNvSpPr/>
          <p:nvPr/>
        </p:nvSpPr>
        <p:spPr>
          <a:xfrm>
            <a:off x="384048" y="3063240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Salary Rate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114800" y="3008376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14800" y="3008376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34" name="Text 32"/>
          <p:cNvSpPr/>
          <p:nvPr/>
        </p:nvSpPr>
        <p:spPr>
          <a:xfrm>
            <a:off x="4224528" y="3063240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Tax Setup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955280" y="3008376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955280" y="3008376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37" name="Text 35"/>
          <p:cNvSpPr/>
          <p:nvPr/>
        </p:nvSpPr>
        <p:spPr>
          <a:xfrm>
            <a:off x="8065008" y="3063240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Benefits Enrollment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40" name="Text 38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  ·  New Employee Form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</a:t>
            </a:r>
            <a:endParaRPr lang="en-US" sz="75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  ·  HUMAN RESOURCES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 Management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Leave Application Form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1152144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62763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FIELDS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Employee Name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6" name="Text 14"/>
          <p:cNvSpPr/>
          <p:nvPr/>
        </p:nvSpPr>
        <p:spPr>
          <a:xfrm>
            <a:off x="422452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Leave Type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9" name="Text 17"/>
          <p:cNvSpPr/>
          <p:nvPr/>
        </p:nvSpPr>
        <p:spPr>
          <a:xfrm>
            <a:off x="806500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 From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 To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5" name="Text 23"/>
          <p:cNvSpPr/>
          <p:nvPr/>
        </p:nvSpPr>
        <p:spPr>
          <a:xfrm>
            <a:off x="422452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Number of Days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95528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5528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8" name="Text 26"/>
          <p:cNvSpPr/>
          <p:nvPr/>
        </p:nvSpPr>
        <p:spPr>
          <a:xfrm>
            <a:off x="806500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Reason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008376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3008376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31" name="Text 29"/>
          <p:cNvSpPr/>
          <p:nvPr/>
        </p:nvSpPr>
        <p:spPr>
          <a:xfrm>
            <a:off x="384048" y="3063240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Supporting Document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34" name="Text 32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  ·  Leave Application Form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</a:t>
            </a:r>
            <a:endParaRPr lang="en-US" sz="75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  ·  HUMAN RESOURCES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 Management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Recruitment Job Posting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1152144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62763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FIELDS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Position Title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6" name="Text 14"/>
          <p:cNvSpPr/>
          <p:nvPr/>
        </p:nvSpPr>
        <p:spPr>
          <a:xfrm>
            <a:off x="422452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Department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9" name="Text 17"/>
          <p:cNvSpPr/>
          <p:nvPr/>
        </p:nvSpPr>
        <p:spPr>
          <a:xfrm>
            <a:off x="806500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Employment Type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Slots Available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5" name="Text 23"/>
          <p:cNvSpPr/>
          <p:nvPr/>
        </p:nvSpPr>
        <p:spPr>
          <a:xfrm>
            <a:off x="422452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Job Description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95528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5528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8" name="Text 26"/>
          <p:cNvSpPr/>
          <p:nvPr/>
        </p:nvSpPr>
        <p:spPr>
          <a:xfrm>
            <a:off x="806500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Requirements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008376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3008376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31" name="Text 29"/>
          <p:cNvSpPr/>
          <p:nvPr/>
        </p:nvSpPr>
        <p:spPr>
          <a:xfrm>
            <a:off x="384048" y="3063240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Application Deadline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34" name="Text 32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  ·  Recruitment Job Posting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</a:t>
            </a:r>
            <a:endParaRPr lang="en-US" sz="75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  ·  HUMAN RESOURCES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 Management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11521440" cy="27432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2801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DIALOGS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572768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572768"/>
            <a:ext cx="36576" cy="59436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161848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Employee Profile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181965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employee record with employment history, benefits, and documents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231136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231136"/>
            <a:ext cx="36576" cy="59436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227685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Leave Approval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2478024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 or reject a leave application with supervisor notes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889504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889504"/>
            <a:ext cx="36576" cy="59436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2935224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Attendance Correction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1480" y="313639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correction of missed clock-in/out with justification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4" name="Text 22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  ·  HR Management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</a:t>
            </a:r>
            <a:endParaRPr lang="en-US" sz="75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PAYROLL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Payroll Management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36576" cy="7772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" y="1371600"/>
            <a:ext cx="11521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 payroll cycle: setup payroll run, compute gross pay, apply deductions (SSS, PhilHealth, Pag-IBIG, BIR), generate payslips, and authorize payment release.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212848"/>
            <a:ext cx="11521440" cy="274320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231136"/>
            <a:ext cx="11338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TABS: Payroll Dashboard  ·  Payroll Management  ·  Salary Payouts  ·  Taxes  ·  Benefits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2578608"/>
            <a:ext cx="530352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578608"/>
            <a:ext cx="530352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615184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" y="2898648"/>
            <a:ext cx="512064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Payroll Dashboard with KPIs for current period totals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Payroll run generation with period lock and computation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Automatic government contribution deduction (SSS, PhilHealth, Pag-IBIG)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BIR withholding tax computation based on compensation brackets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Payslip generation per employee in PDF format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Salary payout batch creation and bank file export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Benefits administration (HMO, allowances, 13th month)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852160" y="2578608"/>
            <a:ext cx="603504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2578608"/>
            <a:ext cx="6035040" cy="274320"/>
          </a:xfrm>
          <a:prstGeom prst="rect">
            <a:avLst/>
          </a:prstGeom>
          <a:solidFill>
            <a:srgbClr val="4A3728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0" y="2615184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943600" y="2898648"/>
            <a:ext cx="585216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Open Payroll Management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Create a new payroll run for the current cut-off period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System auto-computes gross pay based on salary rates and DTR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Review and adjust for corrections or additions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 Run final computation — system applies all deductions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 Generate payslips per employee for review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  Submit payroll run for approval via Action Center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8.  On approval: create salary payout batch and export bank file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2" name="Text 20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  ·  Payroll Management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Payroll</a:t>
            </a:r>
            <a:endParaRPr lang="en-US" sz="75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NAVIGATION TABS  ·  PAYROLL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Payroll Management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2588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2588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132588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1" name="Text 9"/>
          <p:cNvSpPr/>
          <p:nvPr/>
        </p:nvSpPr>
        <p:spPr>
          <a:xfrm>
            <a:off x="292608" y="164592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" y="137160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Payroll Dashboard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" y="164592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Current period KPIs: total gross, deductions, net pay, headcount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89320" y="132588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89320" y="132588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6" name="Shape 14"/>
          <p:cNvSpPr/>
          <p:nvPr/>
        </p:nvSpPr>
        <p:spPr>
          <a:xfrm>
            <a:off x="5989320" y="132588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7" name="Text 15"/>
          <p:cNvSpPr/>
          <p:nvPr/>
        </p:nvSpPr>
        <p:spPr>
          <a:xfrm>
            <a:off x="6007608" y="164592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36792" y="137160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Payroll Management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36792" y="164592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Payroll run list with period, status, and amounts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251460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51460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" y="251460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3" name="Text 21"/>
          <p:cNvSpPr/>
          <p:nvPr/>
        </p:nvSpPr>
        <p:spPr>
          <a:xfrm>
            <a:off x="292608" y="283464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" y="256032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Salary Payouts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1792" y="283464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 batch list with release status and bank file export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989320" y="251460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89320" y="251460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28" name="Shape 26"/>
          <p:cNvSpPr/>
          <p:nvPr/>
        </p:nvSpPr>
        <p:spPr>
          <a:xfrm>
            <a:off x="5989320" y="251460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9" name="Text 27"/>
          <p:cNvSpPr/>
          <p:nvPr/>
        </p:nvSpPr>
        <p:spPr>
          <a:xfrm>
            <a:off x="6007608" y="283464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36792" y="256032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Taxes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36792" y="283464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BIR withholding tax configuration, computation, and BIR forms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74320" y="370332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370332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34" name="Shape 32"/>
          <p:cNvSpPr/>
          <p:nvPr/>
        </p:nvSpPr>
        <p:spPr>
          <a:xfrm>
            <a:off x="274320" y="370332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35" name="Text 33"/>
          <p:cNvSpPr/>
          <p:nvPr/>
        </p:nvSpPr>
        <p:spPr>
          <a:xfrm>
            <a:off x="292608" y="402336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1792" y="374904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Benefits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1792" y="402336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SSS, PhilHealth, Pag-IBIG tables and benefit enrollment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40" name="Text 38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  ·  Payroll Management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Navigation Tabs</a:t>
            </a:r>
            <a:endParaRPr lang="en-US" sz="75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  ·  PAYROLL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Payroll Management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Payroll Run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1152144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62763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FIELDS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 Period (From – To)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6" name="Text 14"/>
          <p:cNvSpPr/>
          <p:nvPr/>
        </p:nvSpPr>
        <p:spPr>
          <a:xfrm>
            <a:off x="422452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Cut-off Type (Semi-monthly / Monthly)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9" name="Text 17"/>
          <p:cNvSpPr/>
          <p:nvPr/>
        </p:nvSpPr>
        <p:spPr>
          <a:xfrm>
            <a:off x="806500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Employees Included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 Date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5" name="Text 23"/>
          <p:cNvSpPr/>
          <p:nvPr/>
        </p:nvSpPr>
        <p:spPr>
          <a:xfrm>
            <a:off x="422452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Remarks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8" name="Text 26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  ·  New Payroll Run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</a:t>
            </a:r>
            <a:endParaRPr lang="en-US" sz="75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  ·  PAYROLL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Payroll Management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Salary Adjustment Form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1152144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62763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FIELDS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Employee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6" name="Text 14"/>
          <p:cNvSpPr/>
          <p:nvPr/>
        </p:nvSpPr>
        <p:spPr>
          <a:xfrm>
            <a:off x="422452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Adjustment Type (Addition / Deduction)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9" name="Text 17"/>
          <p:cNvSpPr/>
          <p:nvPr/>
        </p:nvSpPr>
        <p:spPr>
          <a:xfrm>
            <a:off x="806500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Amount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5" name="Text 23"/>
          <p:cNvSpPr/>
          <p:nvPr/>
        </p:nvSpPr>
        <p:spPr>
          <a:xfrm>
            <a:off x="422452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Effective Period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8" name="Text 26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  ·  Salary Adjustment Form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</a:t>
            </a:r>
            <a:endParaRPr lang="en-US" sz="75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  ·  PAYROLL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Payroll Management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11521440" cy="27432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2801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DIALOGS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572768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572768"/>
            <a:ext cx="36576" cy="59436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161848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Payslip Preview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181965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Individual payslip with gross pay, itemized deductions, net pay — downloadable as PDF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231136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231136"/>
            <a:ext cx="36576" cy="59436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227685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Batch Payout Release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2478024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 and authorize salary payout batch with total and employee count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74320" y="307238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3364992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364992"/>
            <a:ext cx="36576" cy="59436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341071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Payroll Register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" y="36118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payroll register with each employee's gross, deductions, and net pay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4023360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4023360"/>
            <a:ext cx="36576" cy="59436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5" name="Text 23"/>
          <p:cNvSpPr/>
          <p:nvPr/>
        </p:nvSpPr>
        <p:spPr>
          <a:xfrm>
            <a:off x="411480" y="406908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SSS/PhilHealth/Pag-IBIG Report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11480" y="427024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Government contribution summary for remittance preparation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" y="4681728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4681728"/>
            <a:ext cx="36576" cy="59436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9" name="Text 27"/>
          <p:cNvSpPr/>
          <p:nvPr/>
        </p:nvSpPr>
        <p:spPr>
          <a:xfrm>
            <a:off x="411480" y="4727448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BIR Monthly Withholding Tax Report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11480" y="492861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Monthly alpha list with withheld taxes for BIR submission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33" name="Text 31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  ·  Payroll Management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</a:t>
            </a:r>
            <a:endParaRPr lang="en-US" sz="75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WELFARE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Guidance Office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36576" cy="7772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" y="1371600"/>
            <a:ext cx="11521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Maintain comprehensive records of student behavioral incidents, counseling sessions, and pastoral notes with follow-up tracking and confidentiality controls.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212848"/>
            <a:ext cx="11521440" cy="274320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231136"/>
            <a:ext cx="11338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TABS: Anecdotal Records  ·  Counseling Sessions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2578608"/>
            <a:ext cx="530352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578608"/>
            <a:ext cx="530352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615184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" y="2898648"/>
            <a:ext cx="512064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Anecdotal record logging by incident type (Behavioral, Academic, Attendance, Social, Commendation, Disciplinary)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Counseling session records with session type, concern area, and counselor notes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Follow-up date tracking and completion marking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Confidentiality flag for sensitive records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and filter by student, type, and date range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Student-linked record view for holistic case tracking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852160" y="2578608"/>
            <a:ext cx="603504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2578608"/>
            <a:ext cx="6035040" cy="274320"/>
          </a:xfrm>
          <a:prstGeom prst="rect">
            <a:avLst/>
          </a:prstGeom>
          <a:solidFill>
            <a:srgbClr val="4A3728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0" y="2615184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943600" y="2898648"/>
            <a:ext cx="585216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Open the Guidance Office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Search for a student to log a new record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Add an Anecdotal Record: incident type, description, action taken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Or log a Counseling Session: session type, concern area, summary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 Set a follow-up date if further monitoring is needed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 Mark follow-up as done once completed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  Generate a guidance report for administration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2" name="Text 20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  ·  Guidance Office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Welfare</a:t>
            </a:r>
            <a:endParaRPr lang="en-US" sz="75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  ·  STUDENT WELFARE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Guidance Office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Anecdotal Record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1152144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62763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FIELDS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6" name="Text 14"/>
          <p:cNvSpPr/>
          <p:nvPr/>
        </p:nvSpPr>
        <p:spPr>
          <a:xfrm>
            <a:off x="422452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 Date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9" name="Text 17"/>
          <p:cNvSpPr/>
          <p:nvPr/>
        </p:nvSpPr>
        <p:spPr>
          <a:xfrm>
            <a:off x="806500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Type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5" name="Text 23"/>
          <p:cNvSpPr/>
          <p:nvPr/>
        </p:nvSpPr>
        <p:spPr>
          <a:xfrm>
            <a:off x="422452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 Taken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95528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5528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8" name="Text 26"/>
          <p:cNvSpPr/>
          <p:nvPr/>
        </p:nvSpPr>
        <p:spPr>
          <a:xfrm>
            <a:off x="806500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Follow-Up Date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008376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3008376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31" name="Text 29"/>
          <p:cNvSpPr/>
          <p:nvPr/>
        </p:nvSpPr>
        <p:spPr>
          <a:xfrm>
            <a:off x="384048" y="3063240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Reported By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114800" y="3008376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14800" y="3008376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34" name="Text 32"/>
          <p:cNvSpPr/>
          <p:nvPr/>
        </p:nvSpPr>
        <p:spPr>
          <a:xfrm>
            <a:off x="4224528" y="3063240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37" name="Text 35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  ·  New Anecdotal Record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</a:t>
            </a:r>
            <a:endParaRPr lang="en-US" sz="75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  ·  STUDENT WELFARE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Guidance Office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Counseling Session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1152144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62763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FIELDS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6" name="Text 14"/>
          <p:cNvSpPr/>
          <p:nvPr/>
        </p:nvSpPr>
        <p:spPr>
          <a:xfrm>
            <a:off x="422452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 Date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9" name="Text 17"/>
          <p:cNvSpPr/>
          <p:nvPr/>
        </p:nvSpPr>
        <p:spPr>
          <a:xfrm>
            <a:off x="806500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 Type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Concern Area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5" name="Text 23"/>
          <p:cNvSpPr/>
          <p:nvPr/>
        </p:nvSpPr>
        <p:spPr>
          <a:xfrm>
            <a:off x="422452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 Summary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95528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5528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8" name="Text 26"/>
          <p:cNvSpPr/>
          <p:nvPr/>
        </p:nvSpPr>
        <p:spPr>
          <a:xfrm>
            <a:off x="806500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Recommendations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008376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3008376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31" name="Text 29"/>
          <p:cNvSpPr/>
          <p:nvPr/>
        </p:nvSpPr>
        <p:spPr>
          <a:xfrm>
            <a:off x="384048" y="3063240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 Session Date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114800" y="3008376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14800" y="3008376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34" name="Text 32"/>
          <p:cNvSpPr/>
          <p:nvPr/>
        </p:nvSpPr>
        <p:spPr>
          <a:xfrm>
            <a:off x="4224528" y="3063240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Counselor Name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955280" y="3008376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955280" y="3008376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37" name="Text 35"/>
          <p:cNvSpPr/>
          <p:nvPr/>
        </p:nvSpPr>
        <p:spPr>
          <a:xfrm>
            <a:off x="8065008" y="3063240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40" name="Text 38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  ·  New Counseling Session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</a:t>
            </a:r>
            <a:endParaRPr lang="en-US" sz="75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  ·  STUDENT WELFARE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Guidance Office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11521440" cy="27432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2801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DIALOGS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572768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572768"/>
            <a:ext cx="36576" cy="59436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161848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 Detail View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181965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anecdotal record or counseling session with edit controls and follow-up tracking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16" name="Text 14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  ·  Guidance Office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</a:t>
            </a:r>
            <a:endParaRPr lang="en-US" sz="75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WELFARE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Guidance Reports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36576" cy="7772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" y="1371600"/>
            <a:ext cx="11521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Statistical summaries and detailed reports on student behavioral records, counseling sessions, and incident trends for school administration and compliance.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240280"/>
            <a:ext cx="5303520" cy="4251960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240280"/>
            <a:ext cx="530352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276856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65760" y="2560320"/>
            <a:ext cx="51206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frequency report by type and date range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Counseling session summary by concern area and type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case history compilation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Referral tracking and follow-up status report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Export to PDF and Excel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852160" y="2240280"/>
            <a:ext cx="6035040" cy="4251960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52160" y="2240280"/>
            <a:ext cx="6035040" cy="274320"/>
          </a:xfrm>
          <a:prstGeom prst="rect">
            <a:avLst/>
          </a:prstGeom>
          <a:solidFill>
            <a:srgbClr val="4A3728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0" y="2276856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943600" y="2560320"/>
            <a:ext cx="5852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Navigate to Guidance Reports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Select the report type and date range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Preview the report on-screen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Export to PDF or Excel for submission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0" name="Text 18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  ·  Guidance Reports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Welfare</a:t>
            </a:r>
            <a:endParaRPr lang="en-US" sz="75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  ·  STUDENT WELFARE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Guidance Reports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11521440" cy="27432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2801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DIALOGS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572768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572768"/>
            <a:ext cx="36576" cy="59436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161848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 Preview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181965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On-screen report preview with Export PDF and Export Excel controls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74320" y="2414016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706624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706624"/>
            <a:ext cx="36576" cy="59436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275234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Frequency Report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" y="295351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Count of incidents by type for a period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3364992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364992"/>
            <a:ext cx="36576" cy="59436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341071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Counseling Session Summary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" y="36118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Summary of sessions by type, concern area, and status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4023360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4023360"/>
            <a:ext cx="36576" cy="59436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5" name="Text 23"/>
          <p:cNvSpPr/>
          <p:nvPr/>
        </p:nvSpPr>
        <p:spPr>
          <a:xfrm>
            <a:off x="411480" y="406908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Case History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11480" y="427024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Chronological case log for a specific student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" y="4681728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4681728"/>
            <a:ext cx="36576" cy="59436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9" name="Text 27"/>
          <p:cNvSpPr/>
          <p:nvPr/>
        </p:nvSpPr>
        <p:spPr>
          <a:xfrm>
            <a:off x="411480" y="4727448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Follow-Up Status Report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11480" y="492861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Cases with pending follow-up dates and completion status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33" name="Text 31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  ·  Guidance Reports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</a:t>
            </a:r>
            <a:endParaRPr lang="en-US" sz="75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HEALTH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Clinic Module (School Nurse)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36576" cy="7772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" y="1371600"/>
            <a:ext cx="11521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 and track student health visits, maintain student health profiles, and manage medical incidents — the digital health office log for all student health events.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212848"/>
            <a:ext cx="11521440" cy="274320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231136"/>
            <a:ext cx="11338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TABS: Health Visits  ·  Health Profiles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2578608"/>
            <a:ext cx="530352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578608"/>
            <a:ext cx="530352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615184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" y="2898648"/>
            <a:ext cx="512064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visit log with chief complaint, vital signs, action taken, and disposition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health profile with blood type, allergies, and chronic conditions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Disposition: Released, Sent Home, Referred to Hospital, Observation, For Follow-up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Emergency contact and PhilHealth information per student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Visit history per student with date and complaint timeline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852160" y="2578608"/>
            <a:ext cx="603504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2578608"/>
            <a:ext cx="6035040" cy="274320"/>
          </a:xfrm>
          <a:prstGeom prst="rect">
            <a:avLst/>
          </a:prstGeom>
          <a:solidFill>
            <a:srgbClr val="4A3728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0" y="2615184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943600" y="2898648"/>
            <a:ext cx="585216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Student comes to the clinic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Nurse searches and opens the student's health profile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Logs the health visit: chief complaint, vital signs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Notes the action taken (medication, first aid, rest)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 Sets the disposition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 Updates health profile with new medical information if needed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  End-of-day: generates clinic visit summary report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2" name="Text 20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  ·  Clinic Module (School Nurse)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Health</a:t>
            </a:r>
            <a:endParaRPr lang="en-US" sz="75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  ·  STUDENT HEALTH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Clinic Module (School Nurse)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 Health Visit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1152144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62763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FIELDS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Name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6" name="Text 14"/>
          <p:cNvSpPr/>
          <p:nvPr/>
        </p:nvSpPr>
        <p:spPr>
          <a:xfrm>
            <a:off x="422452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9" name="Text 17"/>
          <p:cNvSpPr/>
          <p:nvPr/>
        </p:nvSpPr>
        <p:spPr>
          <a:xfrm>
            <a:off x="806500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Visit Date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Visit Time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5" name="Text 23"/>
          <p:cNvSpPr/>
          <p:nvPr/>
        </p:nvSpPr>
        <p:spPr>
          <a:xfrm>
            <a:off x="422452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Chief Complaint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95528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5528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8" name="Text 26"/>
          <p:cNvSpPr/>
          <p:nvPr/>
        </p:nvSpPr>
        <p:spPr>
          <a:xfrm>
            <a:off x="806500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Vital Signs (BP, Temp, Pulse, Resp Rate, Weight)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008376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3008376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31" name="Text 29"/>
          <p:cNvSpPr/>
          <p:nvPr/>
        </p:nvSpPr>
        <p:spPr>
          <a:xfrm>
            <a:off x="384048" y="3063240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 Taken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114800" y="3008376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14800" y="3008376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34" name="Text 32"/>
          <p:cNvSpPr/>
          <p:nvPr/>
        </p:nvSpPr>
        <p:spPr>
          <a:xfrm>
            <a:off x="4224528" y="3063240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Disposition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955280" y="3008376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955280" y="3008376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37" name="Text 35"/>
          <p:cNvSpPr/>
          <p:nvPr/>
        </p:nvSpPr>
        <p:spPr>
          <a:xfrm>
            <a:off x="8065008" y="3063240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Recorded By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40" name="Text 38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  ·  Log Health Visit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</a:t>
            </a:r>
            <a:endParaRPr lang="en-US" sz="75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  ·  STUDENT HEALTH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Clinic Module (School Nurse)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Profile Form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1152144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62763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FIELDS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Blood Type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6" name="Text 14"/>
          <p:cNvSpPr/>
          <p:nvPr/>
        </p:nvSpPr>
        <p:spPr>
          <a:xfrm>
            <a:off x="422452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Known Allergies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9" name="Text 17"/>
          <p:cNvSpPr/>
          <p:nvPr/>
        </p:nvSpPr>
        <p:spPr>
          <a:xfrm>
            <a:off x="806500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Chronic Conditions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Emergency Contact Name/Phone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5" name="Text 23"/>
          <p:cNvSpPr/>
          <p:nvPr/>
        </p:nvSpPr>
        <p:spPr>
          <a:xfrm>
            <a:off x="422452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Physician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95528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5528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8" name="Text 26"/>
          <p:cNvSpPr/>
          <p:nvPr/>
        </p:nvSpPr>
        <p:spPr>
          <a:xfrm>
            <a:off x="806500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PhilHealth Number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31" name="Text 29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  ·  Health Profile Form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</a:t>
            </a:r>
            <a:endParaRPr lang="en-US" sz="75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  ·  STUDENT HEALTH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Clinic Module (School Nurse)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11521440" cy="27432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2801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DIALOGS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572768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572768"/>
            <a:ext cx="36576" cy="59436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161848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Visit Detail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181965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clinic visit record with all fields and vital signs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231136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231136"/>
            <a:ext cx="36576" cy="59436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227685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Profile Detail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2478024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 student health profile with all medical history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0" name="Text 18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  ·  Clinic Module (School Nurse)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</a:t>
            </a:r>
            <a:endParaRPr lang="en-US" sz="75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HEALTH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Consultation (Appointments)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36576" cy="7772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" y="1371600"/>
            <a:ext cx="11521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 appointment bookings between students/parents and school staff (guidance, nurses, teachers). Calendar-based scheduling with consultation notes.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212848"/>
            <a:ext cx="11521440" cy="274320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231136"/>
            <a:ext cx="11338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TABS: Appointments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2578608"/>
            <a:ext cx="530352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578608"/>
            <a:ext cx="530352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615184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" y="2898648"/>
            <a:ext cx="512064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Appointment booking with staff and time slot selection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Appointment calendar view by day and week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Consultation notes logged after the appointment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Status: Pending, Confirmed, Completed, Cancelled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Online booking by students through Student Portal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852160" y="2578608"/>
            <a:ext cx="603504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2578608"/>
            <a:ext cx="6035040" cy="274320"/>
          </a:xfrm>
          <a:prstGeom prst="rect">
            <a:avLst/>
          </a:prstGeom>
          <a:solidFill>
            <a:srgbClr val="4A3728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0" y="2615184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943600" y="2898648"/>
            <a:ext cx="585216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Student books a consultation through the Student Portal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Staff member confirms the appointment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On the appointment date: staff conducts the consultation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Staff logs consultation notes and marks Completed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2" name="Text 20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  ·  Consultation (Appointments)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Health</a:t>
            </a:r>
            <a:endParaRPr lang="en-US" sz="75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  ·  STUDENT HEALTH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Consultation (Appointments)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Book Appointment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1152144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62763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FIELDS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Staff Member / Department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6" name="Text 14"/>
          <p:cNvSpPr/>
          <p:nvPr/>
        </p:nvSpPr>
        <p:spPr>
          <a:xfrm>
            <a:off x="422452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Appointment Date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9" name="Text 17"/>
          <p:cNvSpPr/>
          <p:nvPr/>
        </p:nvSpPr>
        <p:spPr>
          <a:xfrm>
            <a:off x="806500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 Slot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Purpose / Concern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5" name="Text 23"/>
          <p:cNvSpPr/>
          <p:nvPr/>
        </p:nvSpPr>
        <p:spPr>
          <a:xfrm>
            <a:off x="422452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8" name="Text 26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  ·  Book Appointment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</a:t>
            </a:r>
            <a:endParaRPr lang="en-US" sz="75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  ·  STUDENT HEALTH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Consultation (Appointments)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11521440" cy="27432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2801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DIALOGS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572768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572768"/>
            <a:ext cx="36576" cy="59436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161848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Appointment Detail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181965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Appointment view with consultation notes and status update controls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16" name="Text 14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  ·  Consultation (Appointments)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</a:t>
            </a:r>
            <a:endParaRPr lang="en-US" sz="75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HEALTH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Clinic Reports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36576" cy="7772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" y="1371600"/>
            <a:ext cx="11521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Summary and analytical reports on student health visits, common ailments, and medical trends for school health program planning and compliance documentation.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240280"/>
            <a:ext cx="5303520" cy="4251960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240280"/>
            <a:ext cx="530352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276856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65760" y="2560320"/>
            <a:ext cx="51206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Visit frequency report by ailment, grade level, and date range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Medical clearance issuance log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incident trend analysis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medical referral report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Export to PDF and Excel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852160" y="2240280"/>
            <a:ext cx="6035040" cy="4251960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52160" y="2240280"/>
            <a:ext cx="6035040" cy="274320"/>
          </a:xfrm>
          <a:prstGeom prst="rect">
            <a:avLst/>
          </a:prstGeom>
          <a:solidFill>
            <a:srgbClr val="4A3728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0" y="2276856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943600" y="2560320"/>
            <a:ext cx="5852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Navigate to Clinic Reports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Select report type and date range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Preview the report, export to PDF or Excel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0" name="Text 18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  ·  Clinic Reports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Health</a:t>
            </a:r>
            <a:endParaRPr lang="en-US" sz="75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  ·  STUDENT HEALTH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Clinic Reports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11521440" cy="27432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2801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DIALOGS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572768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572768"/>
            <a:ext cx="36576" cy="59436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161848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 Preview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181965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On-screen preview with Export PDF and Export Excel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74320" y="2414016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706624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706624"/>
            <a:ext cx="36576" cy="59436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275234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Visit Frequency Report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" y="295351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Count of clinic visits by chief complaint category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3364992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364992"/>
            <a:ext cx="36576" cy="59436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341071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Incident Summary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" y="36118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Significant medical incidents and their dispositions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4023360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4023360"/>
            <a:ext cx="36576" cy="59436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5" name="Text 23"/>
          <p:cNvSpPr/>
          <p:nvPr/>
        </p:nvSpPr>
        <p:spPr>
          <a:xfrm>
            <a:off x="411480" y="406908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Medical Referral Report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11480" y="427024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Students referred to hospital or specialist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" y="4681728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4681728"/>
            <a:ext cx="36576" cy="59436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9" name="Text 27"/>
          <p:cNvSpPr/>
          <p:nvPr/>
        </p:nvSpPr>
        <p:spPr>
          <a:xfrm>
            <a:off x="411480" y="4727448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Medical Clearance Log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11480" y="492861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 of medical clearances issued during a period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33" name="Text 31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  ·  Clinic Reports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</a:t>
            </a:r>
            <a:endParaRPr lang="en-US" sz="75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ADMINISTRATION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Access &amp; Authority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36576" cy="7772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" y="1371600"/>
            <a:ext cx="11521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management center: manage user accounts, reset credentials, monitor access events, and manage delegation of approval authority between staff.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212848"/>
            <a:ext cx="11521440" cy="274320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231136"/>
            <a:ext cx="11338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TABS: User Security  ·  Delegation Mgmt  ·  Audit Log  ·  Admin Reports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2578608"/>
            <a:ext cx="530352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578608"/>
            <a:ext cx="530352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615184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" y="2898648"/>
            <a:ext cx="512064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account list with role, status, and last-login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Password reset and account lock/unlock controls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 assignment and permission review per user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Approval authority delegation with date range and module scope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 system audit trail with all actions timestamped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reports on user activity and access patterns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852160" y="2578608"/>
            <a:ext cx="603504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2578608"/>
            <a:ext cx="6035040" cy="274320"/>
          </a:xfrm>
          <a:prstGeom prst="rect">
            <a:avLst/>
          </a:prstGeom>
          <a:solidFill>
            <a:srgbClr val="4A3728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0" y="2615184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943600" y="2898648"/>
            <a:ext cx="585216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Navigate to User Access &amp; Authority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Review user accounts for security anomalies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Reset a user's password or unlock a locked account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Create a delegation record to transfer approval authority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 Check the audit log for unusual activity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 Generate admin reports on access and activity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2" name="Text 20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  ·  User Access &amp; Authority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Administration</a:t>
            </a:r>
            <a:endParaRPr lang="en-US" sz="75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NAVIGATION TABS  ·  SYSTEM ADMINISTRATION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Access &amp; Authority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2588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2588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132588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1" name="Text 9"/>
          <p:cNvSpPr/>
          <p:nvPr/>
        </p:nvSpPr>
        <p:spPr>
          <a:xfrm>
            <a:off x="292608" y="164592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" y="137160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Security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" y="164592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accounts with status, role, and credential management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89320" y="132588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89320" y="132588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6" name="Shape 14"/>
          <p:cNvSpPr/>
          <p:nvPr/>
        </p:nvSpPr>
        <p:spPr>
          <a:xfrm>
            <a:off x="5989320" y="132588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7" name="Text 15"/>
          <p:cNvSpPr/>
          <p:nvPr/>
        </p:nvSpPr>
        <p:spPr>
          <a:xfrm>
            <a:off x="6007608" y="164592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36792" y="137160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Delegation Mgmt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36792" y="164592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and past delegation records with scope and date range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251460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51460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" y="251460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3" name="Text 21"/>
          <p:cNvSpPr/>
          <p:nvPr/>
        </p:nvSpPr>
        <p:spPr>
          <a:xfrm>
            <a:off x="292608" y="283464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" y="256032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 Log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1792" y="283464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Chronological log of all system actions: who, what, when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989320" y="251460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89320" y="251460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28" name="Shape 26"/>
          <p:cNvSpPr/>
          <p:nvPr/>
        </p:nvSpPr>
        <p:spPr>
          <a:xfrm>
            <a:off x="5989320" y="251460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9" name="Text 27"/>
          <p:cNvSpPr/>
          <p:nvPr/>
        </p:nvSpPr>
        <p:spPr>
          <a:xfrm>
            <a:off x="6007608" y="283464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36792" y="256032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Reports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36792" y="283464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activity, module access, and failed login analysis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34" name="Text 32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  ·  User Access &amp; Authority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Navigation Tabs</a:t>
            </a:r>
            <a:endParaRPr lang="en-US" sz="75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  ·  SYSTEM ADMINISTRATION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Access &amp; Authority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Delegation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1152144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62763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FIELDS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Delegating Officer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6" name="Text 14"/>
          <p:cNvSpPr/>
          <p:nvPr/>
        </p:nvSpPr>
        <p:spPr>
          <a:xfrm>
            <a:off x="422452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Delegate (Recipient)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9" name="Text 17"/>
          <p:cNvSpPr/>
          <p:nvPr/>
        </p:nvSpPr>
        <p:spPr>
          <a:xfrm>
            <a:off x="806500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Scope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Effective Date From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5" name="Text 23"/>
          <p:cNvSpPr/>
          <p:nvPr/>
        </p:nvSpPr>
        <p:spPr>
          <a:xfrm>
            <a:off x="422452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Effective Date To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95528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5528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8" name="Text 26"/>
          <p:cNvSpPr/>
          <p:nvPr/>
        </p:nvSpPr>
        <p:spPr>
          <a:xfrm>
            <a:off x="806500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Reason / Authority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008376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3008376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31" name="Text 29"/>
          <p:cNvSpPr/>
          <p:nvPr/>
        </p:nvSpPr>
        <p:spPr>
          <a:xfrm>
            <a:off x="384048" y="3063240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Authorized By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34" name="Text 32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  ·  Create Delegation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</a:t>
            </a:r>
            <a:endParaRPr lang="en-US" sz="75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  ·  SYSTEM ADMINISTRATION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Access &amp; Authority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11521440" cy="27432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2801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DIALOGS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572768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572768"/>
            <a:ext cx="36576" cy="59436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161848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Account Detail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181965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profile with role, status, last-login, and action buttons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231136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231136"/>
            <a:ext cx="36576" cy="59436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227685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 Entry Detail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2478024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audit log entry with full description and affected record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74320" y="307238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3364992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364992"/>
            <a:ext cx="36576" cy="59436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341071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Activity Report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" y="36118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Actions per user within a date range, sorted by module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4023360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4023360"/>
            <a:ext cx="36576" cy="59436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5" name="Text 23"/>
          <p:cNvSpPr/>
          <p:nvPr/>
        </p:nvSpPr>
        <p:spPr>
          <a:xfrm>
            <a:off x="411480" y="406908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Failed Login Report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11480" y="427024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Failed login attempts with IP address and timestamp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" y="4681728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4681728"/>
            <a:ext cx="36576" cy="59436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9" name="Text 27"/>
          <p:cNvSpPr/>
          <p:nvPr/>
        </p:nvSpPr>
        <p:spPr>
          <a:xfrm>
            <a:off x="411480" y="4727448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Access Report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11480" y="492861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Count of logins and actions per module for usage analysis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33" name="Text 31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  ·  User Access &amp; Authority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</a:t>
            </a:r>
            <a:endParaRPr lang="en-US" sz="75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ADMINISTRATION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Setup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36576" cy="7772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" y="1371600"/>
            <a:ext cx="11521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Master system configuration — school information, academic calendar parameters, grading period structures, and global settings that govern all other modules.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212848"/>
            <a:ext cx="11521440" cy="274320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231136"/>
            <a:ext cx="11338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TABS: School Setup  ·  Academic Year  ·  Grading Periods  ·  System Configuration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2578608"/>
            <a:ext cx="530352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578608"/>
            <a:ext cx="530352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615184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" y="2898648"/>
            <a:ext cx="512064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profile: name, address, principal, DepEd school ID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Academic year setup with start and end dates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term configuration (Semester / Trimester / Annual)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Grading period definitions with date ranges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Academic unit context switching (Basic Ed / College)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Global system preferences and notification settings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852160" y="2578608"/>
            <a:ext cx="603504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2578608"/>
            <a:ext cx="6035040" cy="274320"/>
          </a:xfrm>
          <a:prstGeom prst="rect">
            <a:avLst/>
          </a:prstGeom>
          <a:solidFill>
            <a:srgbClr val="4A3728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0" y="2615184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943600" y="2898648"/>
            <a:ext cx="585216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Open Core Setup at the start of each academic year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Verify and update the school profile information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Create the new academic year with start and end dates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Define grading periods for the year (e.g., 1st Quarter: June–August)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 Activate the academic year as the current active context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 All enrollment, grading, and scheduling use these settings as reference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2" name="Text 20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  ·  Core Setup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Administration</a:t>
            </a:r>
            <a:endParaRPr lang="en-US" sz="75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NAVIGATION TABS  ·  SYSTEM ADMINISTRATION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Setup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2588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2588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132588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1" name="Text 9"/>
          <p:cNvSpPr/>
          <p:nvPr/>
        </p:nvSpPr>
        <p:spPr>
          <a:xfrm>
            <a:off x="292608" y="164592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" y="137160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Setup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" y="164592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name, address, DepEd ID, and logo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89320" y="132588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89320" y="132588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6" name="Shape 14"/>
          <p:cNvSpPr/>
          <p:nvPr/>
        </p:nvSpPr>
        <p:spPr>
          <a:xfrm>
            <a:off x="5989320" y="132588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7" name="Text 15"/>
          <p:cNvSpPr/>
          <p:nvPr/>
        </p:nvSpPr>
        <p:spPr>
          <a:xfrm>
            <a:off x="6007608" y="164592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36792" y="137160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Academic Year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36792" y="164592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Academic year list with start/end dates and active status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251460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51460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" y="251460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3" name="Text 21"/>
          <p:cNvSpPr/>
          <p:nvPr/>
        </p:nvSpPr>
        <p:spPr>
          <a:xfrm>
            <a:off x="292608" y="283464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" y="256032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Grading Periods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1792" y="283464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Grading period definitions with date ranges per academic year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989320" y="251460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89320" y="251460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28" name="Shape 26"/>
          <p:cNvSpPr/>
          <p:nvPr/>
        </p:nvSpPr>
        <p:spPr>
          <a:xfrm>
            <a:off x="5989320" y="251460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9" name="Text 27"/>
          <p:cNvSpPr/>
          <p:nvPr/>
        </p:nvSpPr>
        <p:spPr>
          <a:xfrm>
            <a:off x="6007608" y="283464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36792" y="256032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Configuration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36792" y="283464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Global preferences, email notification settings, and feature toggles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34" name="Text 32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  ·  Core Setup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Navigation Tabs</a:t>
            </a:r>
            <a:endParaRPr lang="en-US" sz="75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  ·  SYSTEM ADMINISTRATION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Setup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Academic Year Form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1152144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62763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FIELDS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Year Label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6" name="Text 14"/>
          <p:cNvSpPr/>
          <p:nvPr/>
        </p:nvSpPr>
        <p:spPr>
          <a:xfrm>
            <a:off x="422452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 Date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9" name="Text 17"/>
          <p:cNvSpPr/>
          <p:nvPr/>
        </p:nvSpPr>
        <p:spPr>
          <a:xfrm>
            <a:off x="806500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 Date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Terms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5" name="Text 23"/>
          <p:cNvSpPr/>
          <p:nvPr/>
        </p:nvSpPr>
        <p:spPr>
          <a:xfrm>
            <a:off x="422452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Status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8" name="Text 26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  ·  Academic Year Form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</a:t>
            </a:r>
            <a:endParaRPr lang="en-US" sz="75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  ·  SYSTEM ADMINISTRATION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Setup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Grading Period Form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1152144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62763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FIELDS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Period Name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6" name="Text 14"/>
          <p:cNvSpPr/>
          <p:nvPr/>
        </p:nvSpPr>
        <p:spPr>
          <a:xfrm>
            <a:off x="422452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 Date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9" name="Text 17"/>
          <p:cNvSpPr/>
          <p:nvPr/>
        </p:nvSpPr>
        <p:spPr>
          <a:xfrm>
            <a:off x="806500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 Date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Academic Year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5" name="Text 23"/>
          <p:cNvSpPr/>
          <p:nvPr/>
        </p:nvSpPr>
        <p:spPr>
          <a:xfrm>
            <a:off x="422452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Sequence Number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8" name="Text 26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Administrator  ·  Grading Period Form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</a:t>
            </a:r>
            <a:endParaRPr lang="en-US" sz="75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92240"/>
            <a:ext cx="5029200" cy="5486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0" y="0"/>
            <a:ext cx="7159752" cy="6858000"/>
          </a:xfrm>
          <a:prstGeom prst="rect">
            <a:avLst/>
          </a:prstGeom>
          <a:solidFill>
            <a:srgbClr val="FFFDF5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C5A059"/>
          </a:solidFill>
          <a:ln/>
        </p:spPr>
      </p:sp>
      <p:pic>
        <p:nvPicPr>
          <p:cNvPr id="6" name="Image 0" descr="C:\Users\VELOSO\Documents\GitHub\stsn-connect\public\stsn-cr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7432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34747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65760" y="13716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ROLE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365760" y="1691640"/>
            <a:ext cx="42976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Administrator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365760" y="361188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 oversight — HR, registrar, and admin reporting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303520" y="502920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RESPONSIBILITIES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303520" y="795528"/>
            <a:ext cx="649224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3" name="Text 10"/>
          <p:cNvSpPr/>
          <p:nvPr/>
        </p:nvSpPr>
        <p:spPr>
          <a:xfrm>
            <a:off x="5303520" y="914400"/>
            <a:ext cx="64922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1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 overall school operations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1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Oversee HR records, staffing levels, and attendance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1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 HR-related pending actions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1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View student directory and enrollment summaries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1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 admin and registrar reports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16" name="Text 13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Administrator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 Overview</a:t>
            </a:r>
            <a:endParaRPr lang="en-US" sz="75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COMMAND CENTER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36576" cy="7772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" y="1371600"/>
            <a:ext cx="11521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System-wide command center showing real-time KPIs, pending approval counts, recent activity, and quick-navigation shortcuts — tailored to each user's role and permissions.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240280"/>
            <a:ext cx="5303520" cy="4251960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240280"/>
            <a:ext cx="530352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276856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65760" y="2560320"/>
            <a:ext cx="51206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KPI cards (enrolled students, pending assessments, headcount)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Quick-navigation tiles to all permitted modules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Pending approval badge counters per module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Recent system activity feed with timestamps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Role-specific welcome greeting and contextual alerts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Academic year and term context indicator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852160" y="2240280"/>
            <a:ext cx="6035040" cy="4251960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52160" y="2240280"/>
            <a:ext cx="6035040" cy="274320"/>
          </a:xfrm>
          <a:prstGeom prst="rect">
            <a:avLst/>
          </a:prstGeom>
          <a:solidFill>
            <a:srgbClr val="4A3728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0" y="2276856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943600" y="2560320"/>
            <a:ext cx="5852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User logs in and lands on the Dashboard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Dashboard resolves role and renders permitted KPI cards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User reviews key metrics and pending action counts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User clicks a quick-link tile to navigate to a module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 Pending badges update in real-time as actions are completed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0" name="Text 18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Administrator  ·  Dashboard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Command Center</a:t>
            </a:r>
            <a:endParaRPr lang="en-US" sz="75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 MANAGEMENT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 Center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36576" cy="7772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" y="1371600"/>
            <a:ext cx="11521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Unified approval queue consolidating all pending workflow items across every module — enrollments, discounts, leave requests, assessment approvals, and payroll runs — in one place.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212848"/>
            <a:ext cx="11521440" cy="274320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231136"/>
            <a:ext cx="11338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TABS: All Pending  ·  Enrollments  ·  Assessments  ·  Discounts  ·  Leave Requests  ·  Payroll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2578608"/>
            <a:ext cx="530352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578608"/>
            <a:ext cx="530352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615184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" y="2898648"/>
            <a:ext cx="512064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Unified queue for all pending approvals across modules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Filter by module type, date range, priority, and submitter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Bulk approve or reject multiple items simultaneously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Contextual detail panel with full request information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approval notes or rejection reasons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badge count showing pending items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Escalation indicators for SLA-breached items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 approval trail with actor and timestamp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852160" y="2578608"/>
            <a:ext cx="603504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2578608"/>
            <a:ext cx="6035040" cy="274320"/>
          </a:xfrm>
          <a:prstGeom prst="rect">
            <a:avLst/>
          </a:prstGeom>
          <a:solidFill>
            <a:srgbClr val="4A3728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0" y="2615184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943600" y="2898648"/>
            <a:ext cx="585216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Navigate to Action Center from the sidebar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System displays all items the user is authorized to approve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Apply filters to narrow down by type or date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Click a pending item to view the full detail panel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 Add a note, then approve or reject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 System sends item to next approval level or marks complete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  Action is logged in the audit trail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2" name="Text 20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Administrator  ·  Action Center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 Management</a:t>
            </a:r>
            <a:endParaRPr lang="en-US" sz="75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NAVIGATION TABS  ·  WORKFLOW MANAGEMENT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 Center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2588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2588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132588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1" name="Text 9"/>
          <p:cNvSpPr/>
          <p:nvPr/>
        </p:nvSpPr>
        <p:spPr>
          <a:xfrm>
            <a:off x="292608" y="164592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" y="137160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Pending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" y="164592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Consolidated queue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89320" y="132588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89320" y="132588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6" name="Shape 14"/>
          <p:cNvSpPr/>
          <p:nvPr/>
        </p:nvSpPr>
        <p:spPr>
          <a:xfrm>
            <a:off x="5989320" y="132588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7" name="Text 15"/>
          <p:cNvSpPr/>
          <p:nvPr/>
        </p:nvSpPr>
        <p:spPr>
          <a:xfrm>
            <a:off x="6007608" y="164592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36792" y="137160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Enrollments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36792" y="164592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Awaiting registrar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251460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51460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" y="251460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3" name="Text 21"/>
          <p:cNvSpPr/>
          <p:nvPr/>
        </p:nvSpPr>
        <p:spPr>
          <a:xfrm>
            <a:off x="292608" y="283464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" y="256032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Assessments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1792" y="283464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Awaiting accounting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989320" y="251460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89320" y="251460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28" name="Shape 26"/>
          <p:cNvSpPr/>
          <p:nvPr/>
        </p:nvSpPr>
        <p:spPr>
          <a:xfrm>
            <a:off x="5989320" y="251460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9" name="Text 27"/>
          <p:cNvSpPr/>
          <p:nvPr/>
        </p:nvSpPr>
        <p:spPr>
          <a:xfrm>
            <a:off x="6007608" y="283464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36792" y="256032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Discounts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36792" y="283464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Awaiting approval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74320" y="370332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370332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34" name="Shape 32"/>
          <p:cNvSpPr/>
          <p:nvPr/>
        </p:nvSpPr>
        <p:spPr>
          <a:xfrm>
            <a:off x="274320" y="370332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35" name="Text 33"/>
          <p:cNvSpPr/>
          <p:nvPr/>
        </p:nvSpPr>
        <p:spPr>
          <a:xfrm>
            <a:off x="292608" y="402336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1792" y="374904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Leave Requests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1792" y="402336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Awaiting supervisor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989320" y="370332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989320" y="370332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40" name="Shape 38"/>
          <p:cNvSpPr/>
          <p:nvPr/>
        </p:nvSpPr>
        <p:spPr>
          <a:xfrm>
            <a:off x="5989320" y="370332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1" name="Text 39"/>
          <p:cNvSpPr/>
          <p:nvPr/>
        </p:nvSpPr>
        <p:spPr>
          <a:xfrm>
            <a:off x="6007608" y="402336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336792" y="374904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Payroll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336792" y="402336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Awaiting authorization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46" name="Text 44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Administrator  ·  Action Center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Navigation Tabs</a:t>
            </a:r>
            <a:endParaRPr lang="en-US" sz="75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  ·  WORKFLOW MANAGEMENT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 Center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11521440" cy="27432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2801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DIALOGS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572768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572768"/>
            <a:ext cx="36576" cy="59436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161848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Approval Detail Panel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181965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request view with approve/reject controls and notes field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16" name="Text 14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Administrator  ·  Action Center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</a:t>
            </a:r>
            <a:endParaRPr lang="en-US" sz="75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Directory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36576" cy="7772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" y="1371600"/>
            <a:ext cx="11521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Centralized lookup for all student records across the school. Staff can search, filter, and navigate to individual student profiles from this single view, regardless of enrollment status.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240280"/>
            <a:ext cx="5303520" cy="4251960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240280"/>
            <a:ext cx="530352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276856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65760" y="2560320"/>
            <a:ext cx="51206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Global search by name, LRN, or student ID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Filter by grade level, section, enrollment status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Quick-action row buttons to open the full student profile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Column sorting and paginated data table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Export student list to CSV or Excel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Role-based column visibility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852160" y="2240280"/>
            <a:ext cx="6035040" cy="4251960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52160" y="2240280"/>
            <a:ext cx="6035040" cy="274320"/>
          </a:xfrm>
          <a:prstGeom prst="rect">
            <a:avLst/>
          </a:prstGeom>
          <a:solidFill>
            <a:srgbClr val="4A3728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0" y="2276856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943600" y="2560320"/>
            <a:ext cx="5852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Navigate to Student Directory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Use search or filter to locate a student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Click a student row to open the Student Profile panel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View academic history, enrollment records, financial summary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 Navigate to sub-sections (grades, ledger, documents)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0" name="Text 18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Administrator  ·  Student Directory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Records</a:t>
            </a:r>
            <a:endParaRPr lang="en-US" sz="75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  ·  RECORDS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Directory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11521440" cy="27432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2801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DIALOGS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572768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572768"/>
            <a:ext cx="36576" cy="59436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161848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Profile Panel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181965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Slide-over showing the student's complete profile: academic records, financial ledger, and documents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16" name="Text 14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Administrator  ·  Student Directory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</a:t>
            </a:r>
            <a:endParaRPr lang="en-US" sz="75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HUMAN RESOURCES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 Management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36576" cy="7772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" y="1371600"/>
            <a:ext cx="11521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Comprehensive HR platform covering the entire employee lifecycle — from recruitment and onboarding through daily attendance, leave management, and separation.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212848"/>
            <a:ext cx="11521440" cy="274320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231136"/>
            <a:ext cx="11338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TABS: HR Dashboard  ·  Employee Life Cycles  ·  Time Management  ·  Shift Management  ·  Attendance Monitoring  ·  Leave Management  ·  Recruitment  ·  Onboarding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2578608"/>
            <a:ext cx="530352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578608"/>
            <a:ext cx="530352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615184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" y="2898648"/>
            <a:ext cx="512064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 Dashboard with workforce KPIs and alert cards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 employee lifecycle management (hire to separation)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Daily attendance monitoring with clock-in/out records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Shift template creation and employee assignment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Leave management with filing, approval, and balance tracking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Recruitment pipeline with job postings and applicant tracking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Onboarding checklist for new hires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852160" y="2578608"/>
            <a:ext cx="603504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2578608"/>
            <a:ext cx="6035040" cy="274320"/>
          </a:xfrm>
          <a:prstGeom prst="rect">
            <a:avLst/>
          </a:prstGeom>
          <a:solidFill>
            <a:srgbClr val="4A3728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0" y="2615184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943600" y="2898648"/>
            <a:ext cx="585216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Open HR Dashboard for a high-level workforce summary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Navigate to Employee Life Cycles for a specific employee record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Check Time Management for today's attendance logs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Review and process pending leave applications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 For recruitment: create job postings and track applicants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 For onboarding: generate and track the new hire checklist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2" name="Text 20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Administrator  ·  HR Management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Human Resources</a:t>
            </a:r>
            <a:endParaRPr lang="en-US" sz="75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NAVIGATION TABS  ·  HUMAN RESOURCES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 Management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2588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2588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132588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1" name="Text 9"/>
          <p:cNvSpPr/>
          <p:nvPr/>
        </p:nvSpPr>
        <p:spPr>
          <a:xfrm>
            <a:off x="292608" y="164592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" y="137160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 Dashboard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" y="164592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KPIs: headcount, attendance rate, leave balances, open positions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89320" y="132588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89320" y="132588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6" name="Shape 14"/>
          <p:cNvSpPr/>
          <p:nvPr/>
        </p:nvSpPr>
        <p:spPr>
          <a:xfrm>
            <a:off x="5989320" y="132588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7" name="Text 15"/>
          <p:cNvSpPr/>
          <p:nvPr/>
        </p:nvSpPr>
        <p:spPr>
          <a:xfrm>
            <a:off x="6007608" y="164592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36792" y="137160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Employee Life Cycles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36792" y="164592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Employee master list with history, promotions, and status changes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251460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51460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" y="251460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3" name="Text 21"/>
          <p:cNvSpPr/>
          <p:nvPr/>
        </p:nvSpPr>
        <p:spPr>
          <a:xfrm>
            <a:off x="292608" y="283464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" y="256032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 Management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1792" y="283464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Daily time records (DTR), hours worked, and overtime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989320" y="251460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89320" y="251460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28" name="Shape 26"/>
          <p:cNvSpPr/>
          <p:nvPr/>
        </p:nvSpPr>
        <p:spPr>
          <a:xfrm>
            <a:off x="5989320" y="251460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9" name="Text 27"/>
          <p:cNvSpPr/>
          <p:nvPr/>
        </p:nvSpPr>
        <p:spPr>
          <a:xfrm>
            <a:off x="6007608" y="283464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36792" y="256032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Shift Management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36792" y="283464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Shift templates and employee-to-shift assignment calendar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74320" y="370332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370332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34" name="Shape 32"/>
          <p:cNvSpPr/>
          <p:nvPr/>
        </p:nvSpPr>
        <p:spPr>
          <a:xfrm>
            <a:off x="274320" y="370332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35" name="Text 33"/>
          <p:cNvSpPr/>
          <p:nvPr/>
        </p:nvSpPr>
        <p:spPr>
          <a:xfrm>
            <a:off x="292608" y="402336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1792" y="374904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Attendance Monitoring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1792" y="402336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Day-by-day records: present, absent, late, early-out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989320" y="370332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989320" y="370332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40" name="Shape 38"/>
          <p:cNvSpPr/>
          <p:nvPr/>
        </p:nvSpPr>
        <p:spPr>
          <a:xfrm>
            <a:off x="5989320" y="370332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1" name="Text 39"/>
          <p:cNvSpPr/>
          <p:nvPr/>
        </p:nvSpPr>
        <p:spPr>
          <a:xfrm>
            <a:off x="6007608" y="402336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336792" y="374904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Leave Management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336792" y="402336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Leave application queue, approvals, balance ledger, and calendar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74320" y="489204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74320" y="489204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46" name="Shape 44"/>
          <p:cNvSpPr/>
          <p:nvPr/>
        </p:nvSpPr>
        <p:spPr>
          <a:xfrm>
            <a:off x="274320" y="489204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7" name="Text 45"/>
          <p:cNvSpPr/>
          <p:nvPr/>
        </p:nvSpPr>
        <p:spPr>
          <a:xfrm>
            <a:off x="292608" y="521208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21792" y="493776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Recruitment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21792" y="521208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Job postings, applicants, interviews, and job offers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989320" y="489204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989320" y="489204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52" name="Shape 50"/>
          <p:cNvSpPr/>
          <p:nvPr/>
        </p:nvSpPr>
        <p:spPr>
          <a:xfrm>
            <a:off x="5989320" y="489204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53" name="Text 51"/>
          <p:cNvSpPr/>
          <p:nvPr/>
        </p:nvSpPr>
        <p:spPr>
          <a:xfrm>
            <a:off x="6007608" y="521208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336792" y="493776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Onboarding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336792" y="521208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hire checklist with completion tracking per requirement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58" name="Text 56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Administrator  ·  HR Management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Navigation Tabs</a:t>
            </a:r>
            <a:endParaRPr lang="en-US" sz="75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  ·  HUMAN RESOURCES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 Management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Employee Form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1152144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62763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FIELDS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Employee Name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6" name="Text 14"/>
          <p:cNvSpPr/>
          <p:nvPr/>
        </p:nvSpPr>
        <p:spPr>
          <a:xfrm>
            <a:off x="422452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Employee ID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9" name="Text 17"/>
          <p:cNvSpPr/>
          <p:nvPr/>
        </p:nvSpPr>
        <p:spPr>
          <a:xfrm>
            <a:off x="806500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Department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Position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5" name="Text 23"/>
          <p:cNvSpPr/>
          <p:nvPr/>
        </p:nvSpPr>
        <p:spPr>
          <a:xfrm>
            <a:off x="422452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Employment Type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95528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5528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8" name="Text 26"/>
          <p:cNvSpPr/>
          <p:nvPr/>
        </p:nvSpPr>
        <p:spPr>
          <a:xfrm>
            <a:off x="806500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 Hired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008376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3008376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31" name="Text 29"/>
          <p:cNvSpPr/>
          <p:nvPr/>
        </p:nvSpPr>
        <p:spPr>
          <a:xfrm>
            <a:off x="384048" y="3063240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Salary Rate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114800" y="3008376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14800" y="3008376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34" name="Text 32"/>
          <p:cNvSpPr/>
          <p:nvPr/>
        </p:nvSpPr>
        <p:spPr>
          <a:xfrm>
            <a:off x="4224528" y="3063240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Tax Setup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955280" y="3008376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955280" y="3008376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37" name="Text 35"/>
          <p:cNvSpPr/>
          <p:nvPr/>
        </p:nvSpPr>
        <p:spPr>
          <a:xfrm>
            <a:off x="8065008" y="3063240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Benefits Enrollment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40" name="Text 38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Administrator  ·  New Employee Form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</a:t>
            </a:r>
            <a:endParaRPr lang="en-US" sz="75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  ·  HUMAN RESOURCES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 Management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Leave Application Form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1152144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62763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FIELDS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Employee Name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6" name="Text 14"/>
          <p:cNvSpPr/>
          <p:nvPr/>
        </p:nvSpPr>
        <p:spPr>
          <a:xfrm>
            <a:off x="422452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Leave Type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9" name="Text 17"/>
          <p:cNvSpPr/>
          <p:nvPr/>
        </p:nvSpPr>
        <p:spPr>
          <a:xfrm>
            <a:off x="806500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 From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 To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5" name="Text 23"/>
          <p:cNvSpPr/>
          <p:nvPr/>
        </p:nvSpPr>
        <p:spPr>
          <a:xfrm>
            <a:off x="422452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Number of Days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95528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5528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8" name="Text 26"/>
          <p:cNvSpPr/>
          <p:nvPr/>
        </p:nvSpPr>
        <p:spPr>
          <a:xfrm>
            <a:off x="806500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Reason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008376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3008376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31" name="Text 29"/>
          <p:cNvSpPr/>
          <p:nvPr/>
        </p:nvSpPr>
        <p:spPr>
          <a:xfrm>
            <a:off x="384048" y="3063240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Supporting Document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34" name="Text 32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Administrator  ·  Leave Application Form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</a:t>
            </a:r>
            <a:endParaRPr lang="en-US" sz="75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  ·  HUMAN RESOURCES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 Management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Recruitment Job Posting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1152144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62763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FIELDS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Position Title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6" name="Text 14"/>
          <p:cNvSpPr/>
          <p:nvPr/>
        </p:nvSpPr>
        <p:spPr>
          <a:xfrm>
            <a:off x="422452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Department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9" name="Text 17"/>
          <p:cNvSpPr/>
          <p:nvPr/>
        </p:nvSpPr>
        <p:spPr>
          <a:xfrm>
            <a:off x="806500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Employment Type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Slots Available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5" name="Text 23"/>
          <p:cNvSpPr/>
          <p:nvPr/>
        </p:nvSpPr>
        <p:spPr>
          <a:xfrm>
            <a:off x="422452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Job Description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95528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5528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8" name="Text 26"/>
          <p:cNvSpPr/>
          <p:nvPr/>
        </p:nvSpPr>
        <p:spPr>
          <a:xfrm>
            <a:off x="806500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Requirements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008376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3008376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31" name="Text 29"/>
          <p:cNvSpPr/>
          <p:nvPr/>
        </p:nvSpPr>
        <p:spPr>
          <a:xfrm>
            <a:off x="384048" y="3063240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Application Deadline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34" name="Text 32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Administrator  ·  Recruitment Job Posting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</a:t>
            </a:r>
            <a:endParaRPr lang="en-US" sz="75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  ·  HUMAN RESOURCES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 Management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11521440" cy="27432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2801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DIALOGS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572768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572768"/>
            <a:ext cx="36576" cy="59436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161848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Employee Profile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181965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employee record with employment history, benefits, and documents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231136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231136"/>
            <a:ext cx="36576" cy="59436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227685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Leave Approval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2478024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 or reject a leave application with supervisor notes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889504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889504"/>
            <a:ext cx="36576" cy="59436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2935224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Attendance Correction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1480" y="313639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correction of missed clock-in/out with justification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4" name="Text 22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Administrator  ·  HR Management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</a:t>
            </a:r>
            <a:endParaRPr lang="en-US" sz="75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Registrar Reports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36576" cy="7772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" y="1371600"/>
            <a:ext cx="11521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Suite of official reports for enrollment, student records, and academic documentation. Preview on-screen and export as PDF or Excel.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240280"/>
            <a:ext cx="5303520" cy="4251960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240280"/>
            <a:ext cx="530352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276856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65760" y="2560320"/>
            <a:ext cx="51206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Masterlist with enrollment status and grade level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Enrollment Summary by program, grade level, and status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 (Certificate of Registration) batch generation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Grade Summary Report by section and grading period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 range and academic year filter for all reports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Export to PDF and Excel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852160" y="2240280"/>
            <a:ext cx="6035040" cy="4251960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52160" y="2240280"/>
            <a:ext cx="6035040" cy="274320"/>
          </a:xfrm>
          <a:prstGeom prst="rect">
            <a:avLst/>
          </a:prstGeom>
          <a:solidFill>
            <a:srgbClr val="4A3728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0" y="2276856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943600" y="2560320"/>
            <a:ext cx="5852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Navigate to Registrar Reports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Select the report type from the catalog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Set filter parameters (academic year, grade level, date range)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Click 'Preview' to view the report on-screen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 Export to PDF or Excel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0" name="Text 18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Administrator  ·  Registrar Reports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Reports</a:t>
            </a:r>
            <a:endParaRPr lang="en-US" sz="750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  ·  REPORTS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Registrar Reports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11521440" cy="27432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2801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DIALOGS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572768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572768"/>
            <a:ext cx="36576" cy="59436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161848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 Preview Modal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181965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Full-page report preview with Print, Export PDF, and Export Excel controls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74320" y="2414016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706624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706624"/>
            <a:ext cx="36576" cy="59436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275234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Masterlist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" y="295351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 roster with LRN, grade level, section, and enrollment status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3364992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364992"/>
            <a:ext cx="36576" cy="59436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341071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Enrollment Summary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" y="36118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Statistical breakdown of enrollees by grade level, program, and status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4023360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4023360"/>
            <a:ext cx="36576" cy="59436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5" name="Text 23"/>
          <p:cNvSpPr/>
          <p:nvPr/>
        </p:nvSpPr>
        <p:spPr>
          <a:xfrm>
            <a:off x="411480" y="406908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 (Certificate of Registration)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11480" y="427024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Official COR per student with enrolled subjects and fee summary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" y="4681728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4681728"/>
            <a:ext cx="36576" cy="59436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9" name="Text 27"/>
          <p:cNvSpPr/>
          <p:nvPr/>
        </p:nvSpPr>
        <p:spPr>
          <a:xfrm>
            <a:off x="411480" y="4727448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Grade Summary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11480" y="492861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Academic performance summary by section and grading period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33" name="Text 31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Administrator  ·  Registrar Reports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</a:t>
            </a:r>
            <a:endParaRPr lang="en-US" sz="75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ADMINISTRATION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Access &amp; Authority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36576" cy="7772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" y="1371600"/>
            <a:ext cx="11521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management center: manage user accounts, reset credentials, monitor access events, and manage delegation of approval authority between staff.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212848"/>
            <a:ext cx="11521440" cy="274320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231136"/>
            <a:ext cx="11338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TABS: User Security  ·  Delegation Mgmt  ·  Audit Log  ·  Admin Reports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2578608"/>
            <a:ext cx="530352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578608"/>
            <a:ext cx="530352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615184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" y="2898648"/>
            <a:ext cx="512064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account list with role, status, and last-login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Password reset and account lock/unlock controls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 assignment and permission review per user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Approval authority delegation with date range and module scope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 system audit trail with all actions timestamped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reports on user activity and access patterns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852160" y="2578608"/>
            <a:ext cx="603504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2578608"/>
            <a:ext cx="6035040" cy="274320"/>
          </a:xfrm>
          <a:prstGeom prst="rect">
            <a:avLst/>
          </a:prstGeom>
          <a:solidFill>
            <a:srgbClr val="4A3728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0" y="2615184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943600" y="2898648"/>
            <a:ext cx="585216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Navigate to User Access &amp; Authority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Review user accounts for security anomalies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Reset a user's password or unlock a locked account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Create a delegation record to transfer approval authority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 Check the audit log for unusual activity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 Generate admin reports on access and activity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2" name="Text 20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Administrator  ·  User Access &amp; Authority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Administration</a:t>
            </a:r>
            <a:endParaRPr lang="en-US" sz="750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NAVIGATION TABS  ·  SYSTEM ADMINISTRATION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Access &amp; Authority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2588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2588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132588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1" name="Text 9"/>
          <p:cNvSpPr/>
          <p:nvPr/>
        </p:nvSpPr>
        <p:spPr>
          <a:xfrm>
            <a:off x="292608" y="164592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" y="137160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Security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" y="164592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accounts with status, role, and credential management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89320" y="132588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89320" y="132588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6" name="Shape 14"/>
          <p:cNvSpPr/>
          <p:nvPr/>
        </p:nvSpPr>
        <p:spPr>
          <a:xfrm>
            <a:off x="5989320" y="132588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7" name="Text 15"/>
          <p:cNvSpPr/>
          <p:nvPr/>
        </p:nvSpPr>
        <p:spPr>
          <a:xfrm>
            <a:off x="6007608" y="164592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36792" y="137160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Delegation Mgmt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36792" y="164592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and past delegation records with scope and date range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251460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51460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" y="251460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3" name="Text 21"/>
          <p:cNvSpPr/>
          <p:nvPr/>
        </p:nvSpPr>
        <p:spPr>
          <a:xfrm>
            <a:off x="292608" y="283464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" y="256032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 Log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1792" y="283464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Chronological log of all system actions: who, what, when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989320" y="251460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89320" y="251460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28" name="Shape 26"/>
          <p:cNvSpPr/>
          <p:nvPr/>
        </p:nvSpPr>
        <p:spPr>
          <a:xfrm>
            <a:off x="5989320" y="251460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9" name="Text 27"/>
          <p:cNvSpPr/>
          <p:nvPr/>
        </p:nvSpPr>
        <p:spPr>
          <a:xfrm>
            <a:off x="6007608" y="283464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36792" y="256032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Reports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36792" y="283464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activity, module access, and failed login analysis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34" name="Text 32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Administrator  ·  User Access &amp; Authority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Navigation Tabs</a:t>
            </a:r>
            <a:endParaRPr lang="en-US" sz="750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  ·  SYSTEM ADMINISTRATION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Access &amp; Authority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Delegation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1152144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62763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FIELDS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Delegating Officer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6" name="Text 14"/>
          <p:cNvSpPr/>
          <p:nvPr/>
        </p:nvSpPr>
        <p:spPr>
          <a:xfrm>
            <a:off x="422452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Delegate (Recipient)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9" name="Text 17"/>
          <p:cNvSpPr/>
          <p:nvPr/>
        </p:nvSpPr>
        <p:spPr>
          <a:xfrm>
            <a:off x="806500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Scope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Effective Date From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5" name="Text 23"/>
          <p:cNvSpPr/>
          <p:nvPr/>
        </p:nvSpPr>
        <p:spPr>
          <a:xfrm>
            <a:off x="422452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Effective Date To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95528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5528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8" name="Text 26"/>
          <p:cNvSpPr/>
          <p:nvPr/>
        </p:nvSpPr>
        <p:spPr>
          <a:xfrm>
            <a:off x="806500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Reason / Authority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008376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3008376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31" name="Text 29"/>
          <p:cNvSpPr/>
          <p:nvPr/>
        </p:nvSpPr>
        <p:spPr>
          <a:xfrm>
            <a:off x="384048" y="3063240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Authorized By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34" name="Text 32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Administrator  ·  Create Delegation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</a:t>
            </a:r>
            <a:endParaRPr lang="en-US" sz="750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  ·  SYSTEM ADMINISTRATION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ADMINISTRATOR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Access &amp; Authority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11521440" cy="27432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2801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DIALOGS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572768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572768"/>
            <a:ext cx="36576" cy="59436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161848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Account Detail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181965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profile with role, status, last-login, and action buttons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231136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231136"/>
            <a:ext cx="36576" cy="59436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227685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 Entry Detail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2478024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audit log entry with full description and affected record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74320" y="307238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3364992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364992"/>
            <a:ext cx="36576" cy="59436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341071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Activity Report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" y="36118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Actions per user within a date range, sorted by module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4023360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4023360"/>
            <a:ext cx="36576" cy="59436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5" name="Text 23"/>
          <p:cNvSpPr/>
          <p:nvPr/>
        </p:nvSpPr>
        <p:spPr>
          <a:xfrm>
            <a:off x="411480" y="406908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Failed Login Report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11480" y="427024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Failed login attempts with IP address and timestamp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" y="4681728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4681728"/>
            <a:ext cx="36576" cy="59436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9" name="Text 27"/>
          <p:cNvSpPr/>
          <p:nvPr/>
        </p:nvSpPr>
        <p:spPr>
          <a:xfrm>
            <a:off x="411480" y="4727448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Access Report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11480" y="492861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Count of logins and actions per module for usage analysis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33" name="Text 31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Administrator  ·  User Access &amp; Authority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</a:t>
            </a:r>
            <a:endParaRPr lang="en-US" sz="750" dirty="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92240"/>
            <a:ext cx="5029200" cy="5486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0" y="0"/>
            <a:ext cx="7159752" cy="6858000"/>
          </a:xfrm>
          <a:prstGeom prst="rect">
            <a:avLst/>
          </a:prstGeom>
          <a:solidFill>
            <a:srgbClr val="FFFDF5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C5A059"/>
          </a:solidFill>
          <a:ln/>
        </p:spPr>
      </p:sp>
      <p:pic>
        <p:nvPicPr>
          <p:cNvPr id="6" name="Image 0" descr="C:\Users\VELOSO\Documents\GitHub\stsn-connect\public\stsn-cr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7432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34747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65760" y="13716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ROLE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365760" y="1691640"/>
            <a:ext cx="42976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Principal / Director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365760" y="361188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Academic oversight — grading, faculty, curriculum, scheduling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303520" y="502920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RESPONSIBILITIES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303520" y="795528"/>
            <a:ext cx="649224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3" name="Text 10"/>
          <p:cNvSpPr/>
          <p:nvPr/>
        </p:nvSpPr>
        <p:spPr>
          <a:xfrm>
            <a:off x="5303520" y="914400"/>
            <a:ext cx="64922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1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 and approve academic workflow actions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1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 student grade records and standings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1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Oversee faculty assignments and workload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1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 curriculum and syllabus pathways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1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 class schedules and section configurations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1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 registrar reports for academic compliance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16" name="Text 13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Principal / Director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 Overview</a:t>
            </a:r>
            <a:endParaRPr lang="en-US" sz="750" dirty="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 MANAGEMENT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PRINCIPAL / DIRECTOR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 Center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36576" cy="7772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" y="1371600"/>
            <a:ext cx="11521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Unified approval queue consolidating all pending workflow items across every module — enrollments, discounts, leave requests, assessment approvals, and payroll runs — in one place.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212848"/>
            <a:ext cx="11521440" cy="274320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231136"/>
            <a:ext cx="11338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TABS: All Pending  ·  Enrollments  ·  Assessments  ·  Discounts  ·  Leave Requests  ·  Payroll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2578608"/>
            <a:ext cx="530352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578608"/>
            <a:ext cx="530352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615184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" y="2898648"/>
            <a:ext cx="512064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Unified queue for all pending approvals across modules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Filter by module type, date range, priority, and submitter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Bulk approve or reject multiple items simultaneously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Contextual detail panel with full request information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approval notes or rejection reasons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badge count showing pending items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Escalation indicators for SLA-breached items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 approval trail with actor and timestamp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852160" y="2578608"/>
            <a:ext cx="603504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2578608"/>
            <a:ext cx="6035040" cy="274320"/>
          </a:xfrm>
          <a:prstGeom prst="rect">
            <a:avLst/>
          </a:prstGeom>
          <a:solidFill>
            <a:srgbClr val="4A3728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0" y="2615184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943600" y="2898648"/>
            <a:ext cx="585216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Navigate to Action Center from the sidebar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System displays all items the user is authorized to approve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Apply filters to narrow down by type or date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Click a pending item to view the full detail panel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 Add a note, then approve or reject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 System sends item to next approval level or marks complete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  Action is logged in the audit trail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2" name="Text 20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Principal / Director  ·  Action Center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 Management</a:t>
            </a:r>
            <a:endParaRPr lang="en-US" sz="750" dirty="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NAVIGATION TABS  ·  WORKFLOW MANAGEMENT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PRINCIPAL / DIRECTOR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 Center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2588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2588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132588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1" name="Text 9"/>
          <p:cNvSpPr/>
          <p:nvPr/>
        </p:nvSpPr>
        <p:spPr>
          <a:xfrm>
            <a:off x="292608" y="164592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" y="137160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Pending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" y="164592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Consolidated queue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89320" y="132588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89320" y="132588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6" name="Shape 14"/>
          <p:cNvSpPr/>
          <p:nvPr/>
        </p:nvSpPr>
        <p:spPr>
          <a:xfrm>
            <a:off x="5989320" y="132588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7" name="Text 15"/>
          <p:cNvSpPr/>
          <p:nvPr/>
        </p:nvSpPr>
        <p:spPr>
          <a:xfrm>
            <a:off x="6007608" y="164592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36792" y="137160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Enrollments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36792" y="164592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Awaiting registrar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251460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51460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" y="251460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3" name="Text 21"/>
          <p:cNvSpPr/>
          <p:nvPr/>
        </p:nvSpPr>
        <p:spPr>
          <a:xfrm>
            <a:off x="292608" y="283464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" y="256032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Assessments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1792" y="283464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Awaiting accounting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989320" y="251460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89320" y="251460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28" name="Shape 26"/>
          <p:cNvSpPr/>
          <p:nvPr/>
        </p:nvSpPr>
        <p:spPr>
          <a:xfrm>
            <a:off x="5989320" y="251460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9" name="Text 27"/>
          <p:cNvSpPr/>
          <p:nvPr/>
        </p:nvSpPr>
        <p:spPr>
          <a:xfrm>
            <a:off x="6007608" y="283464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36792" y="256032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Discounts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36792" y="283464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Awaiting approval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74320" y="370332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370332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34" name="Shape 32"/>
          <p:cNvSpPr/>
          <p:nvPr/>
        </p:nvSpPr>
        <p:spPr>
          <a:xfrm>
            <a:off x="274320" y="370332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35" name="Text 33"/>
          <p:cNvSpPr/>
          <p:nvPr/>
        </p:nvSpPr>
        <p:spPr>
          <a:xfrm>
            <a:off x="292608" y="402336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1792" y="374904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Leave Requests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1792" y="402336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Awaiting supervisor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989320" y="370332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989320" y="370332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40" name="Shape 38"/>
          <p:cNvSpPr/>
          <p:nvPr/>
        </p:nvSpPr>
        <p:spPr>
          <a:xfrm>
            <a:off x="5989320" y="370332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1" name="Text 39"/>
          <p:cNvSpPr/>
          <p:nvPr/>
        </p:nvSpPr>
        <p:spPr>
          <a:xfrm>
            <a:off x="6007608" y="402336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336792" y="374904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Payroll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336792" y="402336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Awaiting authorization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46" name="Text 44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Principal / Director  ·  Action Center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Navigation Tabs</a:t>
            </a:r>
            <a:endParaRPr lang="en-US" sz="750" dirty="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  ·  WORKFLOW MANAGEMENT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PRINCIPAL / DIRECTOR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 Center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11521440" cy="27432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2801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DIALOGS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572768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572768"/>
            <a:ext cx="36576" cy="59436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161848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Approval Detail Panel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181965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request view with approve/reject controls and notes field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16" name="Text 14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Principal / Director  ·  Action Center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</a:t>
            </a:r>
            <a:endParaRPr lang="en-US" sz="750" dirty="0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PRINCIPAL / DIRECTOR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Directory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36576" cy="7772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" y="1371600"/>
            <a:ext cx="11521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Centralized lookup for all student records across the school. Staff can search, filter, and navigate to individual student profiles from this single view, regardless of enrollment status.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240280"/>
            <a:ext cx="5303520" cy="4251960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240280"/>
            <a:ext cx="530352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276856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65760" y="2560320"/>
            <a:ext cx="51206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Global search by name, LRN, or student ID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Filter by grade level, section, enrollment status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Quick-action row buttons to open the full student profile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Column sorting and paginated data table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Export student list to CSV or Excel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Role-based column visibility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852160" y="2240280"/>
            <a:ext cx="6035040" cy="4251960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52160" y="2240280"/>
            <a:ext cx="6035040" cy="274320"/>
          </a:xfrm>
          <a:prstGeom prst="rect">
            <a:avLst/>
          </a:prstGeom>
          <a:solidFill>
            <a:srgbClr val="4A3728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0" y="2276856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943600" y="2560320"/>
            <a:ext cx="5852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Navigate to Student Directory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Use search or filter to locate a student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Click a student row to open the Student Profile panel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View academic history, enrollment records, financial summary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 Navigate to sub-sections (grades, ledger, documents)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0" name="Text 18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Principal / Director  ·  Student Directory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Records</a:t>
            </a:r>
            <a:endParaRPr lang="en-US" sz="750" dirty="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  ·  RECORDS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PRINCIPAL / DIRECTOR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Directory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11521440" cy="27432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2801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DIALOGS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572768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572768"/>
            <a:ext cx="36576" cy="59436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161848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Profile Panel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181965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Slide-over showing the student's complete profile: academic records, financial ledger, and documents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16" name="Text 14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Principal / Director  ·  Student Directory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</a:t>
            </a:r>
            <a:endParaRPr lang="en-US" sz="750" dirty="0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ACADEMIC RECORDS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PRINCIPAL / DIRECTOR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Grades Directory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36576" cy="7772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" y="1371600"/>
            <a:ext cx="11521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Searchable view of all student grade records across sections, subjects, and grading periods. Central reference for academic performance monitoring.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212848"/>
            <a:ext cx="11521440" cy="274320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231136"/>
            <a:ext cx="11338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TABS: By Section  ·  By Student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2578608"/>
            <a:ext cx="530352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578608"/>
            <a:ext cx="530352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615184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" y="2898648"/>
            <a:ext cx="512064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Grade search by student, section, subject, or period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Filter by grade level, section, and academic year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View grade breakdown per subject and per period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Honor roll and academic standing indicators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Export grade summary to CSV or Excel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Drill-down to individual student grade sheets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852160" y="2578608"/>
            <a:ext cx="603504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2578608"/>
            <a:ext cx="6035040" cy="274320"/>
          </a:xfrm>
          <a:prstGeom prst="rect">
            <a:avLst/>
          </a:prstGeom>
          <a:solidFill>
            <a:srgbClr val="4A3728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0" y="2615184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943600" y="2898648"/>
            <a:ext cx="585216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Open Grades Directory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Filter by grade level, section, and grading period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View the grade summary table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Click a student row to open the detailed grade sheet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 Export grade data for reporting or archiving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2" name="Text 20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Principal / Director  ·  Grades Directory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Academic Records</a:t>
            </a:r>
            <a:endParaRPr lang="en-US" sz="750" dirty="0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  ·  ACADEMIC RECORDS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PRINCIPAL / DIRECTOR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Grades Directory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11521440" cy="27432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2801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DIALOGS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572768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572768"/>
            <a:ext cx="36576" cy="59436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161848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Grade Sheet Detail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181965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grade sheet with all subjects, grading period scores, and final grade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74320" y="2414016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706624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706624"/>
            <a:ext cx="36576" cy="59436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275234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Grade Summary Report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" y="295351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Class-wide grade summary with averages per subject and student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3364992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364992"/>
            <a:ext cx="36576" cy="59436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341071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Honor Roll Report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" y="36118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Students qualifying for honor roll based on grade thresholds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5" name="Text 23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Principal / Director  ·  Grades Directory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</a:t>
            </a:r>
            <a:endParaRPr lang="en-US" sz="750" dirty="0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ACADEMIC ADMINISTRATION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PRINCIPAL / DIRECTOR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Curriculum / Syllabus Pathways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36576" cy="7772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" y="1371600"/>
            <a:ext cx="11521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Define academic subject pathways for each grade level, program, and academic unit. Serves as the master reference for offered subjects and prerequisite chains.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212848"/>
            <a:ext cx="11521440" cy="274320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231136"/>
            <a:ext cx="11338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TABS: Subject Catalog  ·  Curriculum Matrix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2578608"/>
            <a:ext cx="530352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578608"/>
            <a:ext cx="530352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615184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" y="2898648"/>
            <a:ext cx="512064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Subject catalog with code, title, and unit credits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Grade-level-to-subject mapping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Program track assignment (Science, Arts, ABM, HUMSS, etc.)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Prerequisite chain configuration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Curriculum view by academic unit (Basic Ed vs. College)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Export curriculum matrix to CSV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852160" y="2578608"/>
            <a:ext cx="603504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2578608"/>
            <a:ext cx="6035040" cy="274320"/>
          </a:xfrm>
          <a:prstGeom prst="rect">
            <a:avLst/>
          </a:prstGeom>
          <a:solidFill>
            <a:srgbClr val="4A3728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0" y="2615184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943600" y="2898648"/>
            <a:ext cx="585216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Open Curriculum module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Select the academic unit and program track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Add subjects to the appropriate grade/year level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Set prerequisites where applicable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 Publish as reference for enrollment and scheduling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2" name="Text 20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Principal / Director  ·  Curriculum / Syllabus Pathways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Academic Administration</a:t>
            </a:r>
            <a:endParaRPr lang="en-US" sz="750" dirty="0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  ·  ACADEMIC ADMINISTRATION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PRINCIPAL / DIRECTOR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Curriculum / Syllabus Pathways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Subject Form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1152144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62763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FIELDS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Subject Code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6" name="Text 14"/>
          <p:cNvSpPr/>
          <p:nvPr/>
        </p:nvSpPr>
        <p:spPr>
          <a:xfrm>
            <a:off x="422452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Subject Title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9" name="Text 17"/>
          <p:cNvSpPr/>
          <p:nvPr/>
        </p:nvSpPr>
        <p:spPr>
          <a:xfrm>
            <a:off x="806500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Units/Credits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Grade Level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5" name="Text 23"/>
          <p:cNvSpPr/>
          <p:nvPr/>
        </p:nvSpPr>
        <p:spPr>
          <a:xfrm>
            <a:off x="422452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Program Track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95528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5528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8" name="Text 26"/>
          <p:cNvSpPr/>
          <p:nvPr/>
        </p:nvSpPr>
        <p:spPr>
          <a:xfrm>
            <a:off x="806500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Academic Unit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008376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3008376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31" name="Text 29"/>
          <p:cNvSpPr/>
          <p:nvPr/>
        </p:nvSpPr>
        <p:spPr>
          <a:xfrm>
            <a:off x="384048" y="3063240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Prerequisites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34" name="Text 32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Principal / Director  ·  Add Subject Form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</a:t>
            </a:r>
            <a:endParaRPr lang="en-US" sz="750" dirty="0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ACADEMIC ADMINISTRATION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PRINCIPAL / DIRECTOR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Faculty Management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36576" cy="7772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" y="1371600"/>
            <a:ext cx="11521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 the school's teaching staff — faculty profiles, subject assignments, and teaching workload tracking.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212848"/>
            <a:ext cx="11521440" cy="274320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231136"/>
            <a:ext cx="11338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TABS: Faculty List  ·  Subject Assignments  ·  Workload Summary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2578608"/>
            <a:ext cx="530352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578608"/>
            <a:ext cx="530352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615184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" y="2898648"/>
            <a:ext cx="512064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Faculty master list with employment and contact details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Subject assignment per faculty member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Teaching load computation and display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Faculty profile with academic background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Filter by department, employment status, and subject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852160" y="2578608"/>
            <a:ext cx="603504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2578608"/>
            <a:ext cx="6035040" cy="274320"/>
          </a:xfrm>
          <a:prstGeom prst="rect">
            <a:avLst/>
          </a:prstGeom>
          <a:solidFill>
            <a:srgbClr val="4A3728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0" y="2615184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943600" y="2898648"/>
            <a:ext cx="585216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Navigate to Faculty Management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View the faculty list and search for a teacher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Open the faculty profile to review assignments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Assign subjects to the faculty member for the term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 Review the teaching load summary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2" name="Text 20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Principal / Director  ·  Faculty Management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Academic Administration</a:t>
            </a:r>
            <a:endParaRPr lang="en-US" sz="750" dirty="0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NAVIGATION TABS  ·  ACADEMIC ADMINISTRATION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PRINCIPAL / DIRECTOR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Faculty Management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2588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2588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132588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1" name="Text 9"/>
          <p:cNvSpPr/>
          <p:nvPr/>
        </p:nvSpPr>
        <p:spPr>
          <a:xfrm>
            <a:off x="292608" y="164592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" y="137160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Faculty List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" y="164592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teaching staff with search and quick profile access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89320" y="132588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89320" y="132588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6" name="Shape 14"/>
          <p:cNvSpPr/>
          <p:nvPr/>
        </p:nvSpPr>
        <p:spPr>
          <a:xfrm>
            <a:off x="5989320" y="132588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7" name="Text 15"/>
          <p:cNvSpPr/>
          <p:nvPr/>
        </p:nvSpPr>
        <p:spPr>
          <a:xfrm>
            <a:off x="6007608" y="164592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36792" y="137160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Subject Assignments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36792" y="164592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Faculty-to-subject mapping for the current term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251460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51460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" y="251460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3" name="Text 21"/>
          <p:cNvSpPr/>
          <p:nvPr/>
        </p:nvSpPr>
        <p:spPr>
          <a:xfrm>
            <a:off x="292608" y="283464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" y="256032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Workload Summary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1792" y="283464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Teaching load units per faculty with overload indicators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8" name="Text 26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Principal / Director  ·  Faculty Management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Navigation Tabs</a:t>
            </a:r>
            <a:endParaRPr lang="en-US" sz="750" dirty="0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  ·  ACADEMIC ADMINISTRATION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PRINCIPAL / DIRECTOR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Faculty Management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Faculty Profile Form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1152144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62763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FIELDS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Employee Name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6" name="Text 14"/>
          <p:cNvSpPr/>
          <p:nvPr/>
        </p:nvSpPr>
        <p:spPr>
          <a:xfrm>
            <a:off x="422452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Employee ID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9" name="Text 17"/>
          <p:cNvSpPr/>
          <p:nvPr/>
        </p:nvSpPr>
        <p:spPr>
          <a:xfrm>
            <a:off x="806500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Department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Employment Status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5" name="Text 23"/>
          <p:cNvSpPr/>
          <p:nvPr/>
        </p:nvSpPr>
        <p:spPr>
          <a:xfrm>
            <a:off x="422452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Specialization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95528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5528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8" name="Text 26"/>
          <p:cNvSpPr/>
          <p:nvPr/>
        </p:nvSpPr>
        <p:spPr>
          <a:xfrm>
            <a:off x="806500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Educational Attainment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008376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3008376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31" name="Text 29"/>
          <p:cNvSpPr/>
          <p:nvPr/>
        </p:nvSpPr>
        <p:spPr>
          <a:xfrm>
            <a:off x="384048" y="3063240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Contact Info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34" name="Text 32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Principal / Director  ·  Faculty Profile Form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</a:t>
            </a:r>
            <a:endParaRPr lang="en-US" sz="750" dirty="0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ACADEMIC ADMINISTRATION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PRINCIPAL / DIRECTOR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 Scheduling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36576" cy="7772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" y="1371600"/>
            <a:ext cx="11521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class schedules by assigning subjects to sections, specifying meeting times, and allocating rooms — with built-in conflict detection.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212848"/>
            <a:ext cx="11521440" cy="274320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231136"/>
            <a:ext cx="11338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TABS: By Section  ·  By Teacher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2578608"/>
            <a:ext cx="530352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578608"/>
            <a:ext cx="530352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615184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" y="2898648"/>
            <a:ext cx="512064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Subject-to-section schedule assignment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 slot and room allocation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Conflict detection for overlapping schedules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Teacher-subject-schedule linking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 grid view by day and time slot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Print-ready schedule output per section or teacher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852160" y="2578608"/>
            <a:ext cx="603504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2578608"/>
            <a:ext cx="6035040" cy="274320"/>
          </a:xfrm>
          <a:prstGeom prst="rect">
            <a:avLst/>
          </a:prstGeom>
          <a:solidFill>
            <a:srgbClr val="4A3728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0" y="2615184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943600" y="2898648"/>
            <a:ext cx="585216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Open Class Scheduling for the academic year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Select a section to configure its schedule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Add subjects: teacher, day, time, room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System flags conflicts if any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 Publish the schedule for the term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2" name="Text 20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Principal / Director  ·  Class Scheduling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Academic Administration</a:t>
            </a:r>
            <a:endParaRPr lang="en-US" sz="750" dirty="0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  ·  ACADEMIC ADMINISTRATION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PRINCIPAL / DIRECTOR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 Scheduling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 Entry Form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1152144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62763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FIELDS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6" name="Text 14"/>
          <p:cNvSpPr/>
          <p:nvPr/>
        </p:nvSpPr>
        <p:spPr>
          <a:xfrm>
            <a:off x="422452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Subject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9" name="Text 17"/>
          <p:cNvSpPr/>
          <p:nvPr/>
        </p:nvSpPr>
        <p:spPr>
          <a:xfrm>
            <a:off x="806500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Teacher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Day(s)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5" name="Text 23"/>
          <p:cNvSpPr/>
          <p:nvPr/>
        </p:nvSpPr>
        <p:spPr>
          <a:xfrm>
            <a:off x="422452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 Start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95528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5528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8" name="Text 26"/>
          <p:cNvSpPr/>
          <p:nvPr/>
        </p:nvSpPr>
        <p:spPr>
          <a:xfrm>
            <a:off x="806500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 End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008376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3008376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31" name="Text 29"/>
          <p:cNvSpPr/>
          <p:nvPr/>
        </p:nvSpPr>
        <p:spPr>
          <a:xfrm>
            <a:off x="384048" y="3063240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Room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114800" y="3008376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14800" y="3008376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34" name="Text 32"/>
          <p:cNvSpPr/>
          <p:nvPr/>
        </p:nvSpPr>
        <p:spPr>
          <a:xfrm>
            <a:off x="4224528" y="3063240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Year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37" name="Text 35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Principal / Director  ·  Schedule Entry Form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</a:t>
            </a:r>
            <a:endParaRPr lang="en-US" sz="750" dirty="0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  ·  ACADEMIC ADMINISTRATION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PRINCIPAL / DIRECTOR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 Scheduling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11521440" cy="27432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2801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DIALOGS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572768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572768"/>
            <a:ext cx="36576" cy="59436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161848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Conflict Alert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181965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Detected scheduling conflicts with affected sections, teachers, or rooms and suggested resolution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16" name="Text 14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Principal / Director  ·  Class Scheduling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</a:t>
            </a:r>
            <a:endParaRPr lang="en-US" sz="750" dirty="0"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PRINCIPAL / DIRECTOR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Registrar Reports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36576" cy="7772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" y="1371600"/>
            <a:ext cx="11521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Suite of official reports for enrollment, student records, and academic documentation. Preview on-screen and export as PDF or Excel.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240280"/>
            <a:ext cx="5303520" cy="4251960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240280"/>
            <a:ext cx="530352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276856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65760" y="2560320"/>
            <a:ext cx="51206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Masterlist with enrollment status and grade level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Enrollment Summary by program, grade level, and status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 (Certificate of Registration) batch generation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Grade Summary Report by section and grading period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 range and academic year filter for all reports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Export to PDF and Excel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852160" y="2240280"/>
            <a:ext cx="6035040" cy="4251960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52160" y="2240280"/>
            <a:ext cx="6035040" cy="274320"/>
          </a:xfrm>
          <a:prstGeom prst="rect">
            <a:avLst/>
          </a:prstGeom>
          <a:solidFill>
            <a:srgbClr val="4A3728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0" y="2276856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943600" y="2560320"/>
            <a:ext cx="5852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Navigate to Registrar Reports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Select the report type from the catalog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Set filter parameters (academic year, grade level, date range)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Click 'Preview' to view the report on-screen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 Export to PDF or Excel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0" name="Text 18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Principal / Director  ·  Registrar Reports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Reports</a:t>
            </a:r>
            <a:endParaRPr lang="en-US" sz="750" dirty="0"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  ·  REPORTS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PRINCIPAL / DIRECTOR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Registrar Reports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11521440" cy="27432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2801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DIALOGS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572768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572768"/>
            <a:ext cx="36576" cy="59436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161848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 Preview Modal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181965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Full-page report preview with Print, Export PDF, and Export Excel controls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74320" y="2414016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706624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706624"/>
            <a:ext cx="36576" cy="59436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275234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Masterlist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" y="295351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 roster with LRN, grade level, section, and enrollment status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3364992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364992"/>
            <a:ext cx="36576" cy="59436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341071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Enrollment Summary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" y="36118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Statistical breakdown of enrollees by grade level, program, and status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4023360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4023360"/>
            <a:ext cx="36576" cy="59436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5" name="Text 23"/>
          <p:cNvSpPr/>
          <p:nvPr/>
        </p:nvSpPr>
        <p:spPr>
          <a:xfrm>
            <a:off x="411480" y="406908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 (Certificate of Registration)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11480" y="427024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Official COR per student with enrolled subjects and fee summary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" y="4681728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4681728"/>
            <a:ext cx="36576" cy="59436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9" name="Text 27"/>
          <p:cNvSpPr/>
          <p:nvPr/>
        </p:nvSpPr>
        <p:spPr>
          <a:xfrm>
            <a:off x="411480" y="4727448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Grade Summary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11480" y="492861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Academic performance summary by section and grading period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33" name="Text 31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Principal / Director  ·  Registrar Reports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</a:t>
            </a:r>
            <a:endParaRPr lang="en-US" sz="750" dirty="0"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92240"/>
            <a:ext cx="5029200" cy="5486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0" y="0"/>
            <a:ext cx="7159752" cy="6858000"/>
          </a:xfrm>
          <a:prstGeom prst="rect">
            <a:avLst/>
          </a:prstGeom>
          <a:solidFill>
            <a:srgbClr val="FFFDF5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C5A059"/>
          </a:solidFill>
          <a:ln/>
        </p:spPr>
      </p:sp>
      <p:pic>
        <p:nvPicPr>
          <p:cNvPr id="6" name="Image 0" descr="C:\Users\VELOSO\Documents\GitHub\stsn-connect\public\stsn-cr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7432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34747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65760" y="13716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ROLE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365760" y="1691640"/>
            <a:ext cx="42976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Registrar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365760" y="361188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Admissions &amp; records — enrollment, sectioning, and student management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303520" y="502920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RESPONSIBILITIES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303520" y="795528"/>
            <a:ext cx="649224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3" name="Text 10"/>
          <p:cNvSpPr/>
          <p:nvPr/>
        </p:nvSpPr>
        <p:spPr>
          <a:xfrm>
            <a:off x="5303520" y="914400"/>
            <a:ext cx="64922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1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 student enrollments and admissions each term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1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 student directory and enrollment status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1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and configure class sections with advisers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1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and maintain class schedules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1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 faculty records and subject assignments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1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 official reports including COR and masterlist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16" name="Text 13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Registrar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 Overview</a:t>
            </a:r>
            <a:endParaRPr lang="en-US" sz="750" dirty="0"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 MANAGEMENT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 Center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36576" cy="7772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" y="1371600"/>
            <a:ext cx="11521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Unified approval queue consolidating all pending workflow items across every module — enrollments, discounts, leave requests, assessment approvals, and payroll runs — in one place.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212848"/>
            <a:ext cx="11521440" cy="274320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231136"/>
            <a:ext cx="11338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TABS: All Pending  ·  Enrollments  ·  Assessments  ·  Discounts  ·  Leave Requests  ·  Payroll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2578608"/>
            <a:ext cx="530352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578608"/>
            <a:ext cx="530352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615184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" y="2898648"/>
            <a:ext cx="512064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Unified queue for all pending approvals across modules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Filter by module type, date range, priority, and submitter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Bulk approve or reject multiple items simultaneously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Contextual detail panel with full request information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approval notes or rejection reasons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badge count showing pending items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Escalation indicators for SLA-breached items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 approval trail with actor and timestamp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852160" y="2578608"/>
            <a:ext cx="603504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2578608"/>
            <a:ext cx="6035040" cy="274320"/>
          </a:xfrm>
          <a:prstGeom prst="rect">
            <a:avLst/>
          </a:prstGeom>
          <a:solidFill>
            <a:srgbClr val="4A3728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0" y="2615184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943600" y="2898648"/>
            <a:ext cx="585216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Navigate to Action Center from the sidebar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System displays all items the user is authorized to approve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Apply filters to narrow down by type or date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Click a pending item to view the full detail panel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 Add a note, then approve or reject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 System sends item to next approval level or marks complete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  Action is logged in the audit trail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2" name="Text 20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Registrar  ·  Action Center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 Management</a:t>
            </a:r>
            <a:endParaRPr lang="en-US" sz="750" dirty="0"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NAVIGATION TABS  ·  WORKFLOW MANAGEMENT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 Center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2588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2588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132588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1" name="Text 9"/>
          <p:cNvSpPr/>
          <p:nvPr/>
        </p:nvSpPr>
        <p:spPr>
          <a:xfrm>
            <a:off x="292608" y="164592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" y="137160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Pending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" y="164592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Consolidated queue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89320" y="132588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89320" y="132588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6" name="Shape 14"/>
          <p:cNvSpPr/>
          <p:nvPr/>
        </p:nvSpPr>
        <p:spPr>
          <a:xfrm>
            <a:off x="5989320" y="132588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7" name="Text 15"/>
          <p:cNvSpPr/>
          <p:nvPr/>
        </p:nvSpPr>
        <p:spPr>
          <a:xfrm>
            <a:off x="6007608" y="164592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36792" y="137160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Enrollments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36792" y="164592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Awaiting registrar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251460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51460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" y="251460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3" name="Text 21"/>
          <p:cNvSpPr/>
          <p:nvPr/>
        </p:nvSpPr>
        <p:spPr>
          <a:xfrm>
            <a:off x="292608" y="283464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" y="256032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Assessments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1792" y="283464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Awaiting accounting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989320" y="251460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89320" y="251460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28" name="Shape 26"/>
          <p:cNvSpPr/>
          <p:nvPr/>
        </p:nvSpPr>
        <p:spPr>
          <a:xfrm>
            <a:off x="5989320" y="251460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9" name="Text 27"/>
          <p:cNvSpPr/>
          <p:nvPr/>
        </p:nvSpPr>
        <p:spPr>
          <a:xfrm>
            <a:off x="6007608" y="283464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36792" y="256032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Discounts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36792" y="283464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Awaiting approval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74320" y="370332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370332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34" name="Shape 32"/>
          <p:cNvSpPr/>
          <p:nvPr/>
        </p:nvSpPr>
        <p:spPr>
          <a:xfrm>
            <a:off x="274320" y="370332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35" name="Text 33"/>
          <p:cNvSpPr/>
          <p:nvPr/>
        </p:nvSpPr>
        <p:spPr>
          <a:xfrm>
            <a:off x="292608" y="402336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1792" y="374904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Leave Requests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1792" y="402336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Awaiting supervisor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989320" y="370332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989320" y="370332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40" name="Shape 38"/>
          <p:cNvSpPr/>
          <p:nvPr/>
        </p:nvSpPr>
        <p:spPr>
          <a:xfrm>
            <a:off x="5989320" y="370332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1" name="Text 39"/>
          <p:cNvSpPr/>
          <p:nvPr/>
        </p:nvSpPr>
        <p:spPr>
          <a:xfrm>
            <a:off x="6007608" y="402336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336792" y="374904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Payroll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336792" y="402336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Awaiting authorization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46" name="Text 44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Registrar  ·  Action Center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Navigation Tabs</a:t>
            </a:r>
            <a:endParaRPr lang="en-US" sz="750" dirty="0"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  ·  WORKFLOW MANAGEMENT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 Center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11521440" cy="27432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2801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DIALOGS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572768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572768"/>
            <a:ext cx="36576" cy="59436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161848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Approval Detail Panel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181965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request view with approve/reject controls and notes field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16" name="Text 14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Registrar  ·  Action Center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</a:t>
            </a:r>
            <a:endParaRPr lang="en-US" sz="750" dirty="0"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ADMISSIONS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Enrollment (Admission)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36576" cy="7772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" y="1371600"/>
            <a:ext cx="11521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interface for processing student admissions each term — search students, process enrollments via multi-step wizard, review online applications, manage enrollment status, and generate the Certificate of Registration (COR).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212848"/>
            <a:ext cx="11521440" cy="274320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231136"/>
            <a:ext cx="11338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TABS: Admissions &amp; Directory  ·  Online Queue  ·  Bulk Import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2578608"/>
            <a:ext cx="530352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578608"/>
            <a:ext cx="530352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615184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" y="2898648"/>
            <a:ext cx="512064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search filtered by grade level, section, and status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KPI cards: enrolled, pending/for-assessment, online app count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Multi-step Enrollment Wizard for complete student intake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Online application review queue for self-submitted enrollments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Bulk CSV import from official registrar template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 (Certificate of Registration) preview and print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 filtering: Enrolled, Pending, For Assessment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852160" y="2578608"/>
            <a:ext cx="603504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2578608"/>
            <a:ext cx="6035040" cy="274320"/>
          </a:xfrm>
          <a:prstGeom prst="rect">
            <a:avLst/>
          </a:prstGeom>
          <a:solidFill>
            <a:srgbClr val="4A3728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0" y="2615184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943600" y="2898648"/>
            <a:ext cx="585216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Navigate to Enrollment module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Review pending online applications from the Online Queue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Click 'New Enrollment' to open the Enrollment Wizard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Step 1 — Personal Information: name, birthdate, LRN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 Step 2 — Guardian/Parent: parent name, relationship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 Step 3 — Academic: grade level, section, payment terms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  Step 4 — Assessment: auto-computed tuition &amp; misc fees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8.  Step 5 — Documents: attach enrollment requirements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9.  Submit; accounting approves; status → 'Enrolled'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10.  Generate and print the COR for the student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2" name="Text 20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Registrar  ·  Enrollment (Admission)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Admissions</a:t>
            </a:r>
            <a:endParaRPr lang="en-US" sz="750" dirty="0"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NAVIGATION TABS  ·  ADMISSIONS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Enrollment (Admission)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2588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2588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132588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1" name="Text 9"/>
          <p:cNvSpPr/>
          <p:nvPr/>
        </p:nvSpPr>
        <p:spPr>
          <a:xfrm>
            <a:off x="292608" y="164592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" y="137160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Admissions &amp; Directory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" y="164592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students with enrollment status and KPI cards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89320" y="132588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89320" y="132588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6" name="Shape 14"/>
          <p:cNvSpPr/>
          <p:nvPr/>
        </p:nvSpPr>
        <p:spPr>
          <a:xfrm>
            <a:off x="5989320" y="132588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7" name="Text 15"/>
          <p:cNvSpPr/>
          <p:nvPr/>
        </p:nvSpPr>
        <p:spPr>
          <a:xfrm>
            <a:off x="6007608" y="164592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36792" y="137160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Online Queue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36792" y="164592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Self-submitted applications from the Student Portal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251460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51460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" y="251460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3" name="Text 21"/>
          <p:cNvSpPr/>
          <p:nvPr/>
        </p:nvSpPr>
        <p:spPr>
          <a:xfrm>
            <a:off x="292608" y="283464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" y="256032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Bulk Import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1792" y="283464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CSV masterlist upload with validation preview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8" name="Text 26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Registrar  ·  Enrollment (Admission)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Navigation Tabs</a:t>
            </a:r>
            <a:endParaRPr lang="en-US" sz="750" dirty="0"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  ·  ADMISSIONS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Enrollment (Admission)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Enrollment Wizard — Step 1: Personal Information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1152144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62763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FIELDS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First Name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6" name="Text 14"/>
          <p:cNvSpPr/>
          <p:nvPr/>
        </p:nvSpPr>
        <p:spPr>
          <a:xfrm>
            <a:off x="422452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Middle Name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9" name="Text 17"/>
          <p:cNvSpPr/>
          <p:nvPr/>
        </p:nvSpPr>
        <p:spPr>
          <a:xfrm>
            <a:off x="806500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Last Name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Birthdate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5" name="Text 23"/>
          <p:cNvSpPr/>
          <p:nvPr/>
        </p:nvSpPr>
        <p:spPr>
          <a:xfrm>
            <a:off x="422452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Gender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95528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5528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8" name="Text 26"/>
          <p:cNvSpPr/>
          <p:nvPr/>
        </p:nvSpPr>
        <p:spPr>
          <a:xfrm>
            <a:off x="806500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LRN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008376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3008376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31" name="Text 29"/>
          <p:cNvSpPr/>
          <p:nvPr/>
        </p:nvSpPr>
        <p:spPr>
          <a:xfrm>
            <a:off x="384048" y="3063240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Contact Number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114800" y="3008376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14800" y="3008376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34" name="Text 32"/>
          <p:cNvSpPr/>
          <p:nvPr/>
        </p:nvSpPr>
        <p:spPr>
          <a:xfrm>
            <a:off x="4224528" y="3063240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955280" y="3008376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955280" y="3008376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37" name="Text 35"/>
          <p:cNvSpPr/>
          <p:nvPr/>
        </p:nvSpPr>
        <p:spPr>
          <a:xfrm>
            <a:off x="8065008" y="3063240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Home Address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40" name="Text 38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Registrar  ·  Enrollment Wizard — Step 1: Personal Information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</a:t>
            </a:r>
            <a:endParaRPr lang="en-US" sz="750" dirty="0"/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  ·  ADMISSIONS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Enrollment (Admission)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Enrollment Wizard — Step 2: Guardian / Parent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1152144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62763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FIELDS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Parent/Guardian Name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6" name="Text 14"/>
          <p:cNvSpPr/>
          <p:nvPr/>
        </p:nvSpPr>
        <p:spPr>
          <a:xfrm>
            <a:off x="422452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Relationship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9" name="Text 17"/>
          <p:cNvSpPr/>
          <p:nvPr/>
        </p:nvSpPr>
        <p:spPr>
          <a:xfrm>
            <a:off x="806500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Contact Number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5" name="Text 23"/>
          <p:cNvSpPr/>
          <p:nvPr/>
        </p:nvSpPr>
        <p:spPr>
          <a:xfrm>
            <a:off x="422452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Occupation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8" name="Text 26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Registrar  ·  Enrollment Wizard — Step 2: Guardian / Parent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</a:t>
            </a:r>
            <a:endParaRPr lang="en-US" sz="750" dirty="0"/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  ·  ADMISSIONS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Enrollment (Admission)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Enrollment Wizard — Step 3: Academic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1152144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62763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FIELDS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Academic Unit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6" name="Text 14"/>
          <p:cNvSpPr/>
          <p:nvPr/>
        </p:nvSpPr>
        <p:spPr>
          <a:xfrm>
            <a:off x="422452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Grade Level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9" name="Text 17"/>
          <p:cNvSpPr/>
          <p:nvPr/>
        </p:nvSpPr>
        <p:spPr>
          <a:xfrm>
            <a:off x="806500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Program/Track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5" name="Text 23"/>
          <p:cNvSpPr/>
          <p:nvPr/>
        </p:nvSpPr>
        <p:spPr>
          <a:xfrm>
            <a:off x="422452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 Terms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95528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5528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8" name="Text 26"/>
          <p:cNvSpPr/>
          <p:nvPr/>
        </p:nvSpPr>
        <p:spPr>
          <a:xfrm>
            <a:off x="806500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Year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31" name="Text 29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Registrar  ·  Enrollment Wizard — Step 3: Academic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</a:t>
            </a:r>
            <a:endParaRPr lang="en-US" sz="750" dirty="0"/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  ·  ADMISSIONS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Enrollment (Admission)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Enrollment Wizard — Step 4: Assessment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1152144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62763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FIELDS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Tuition Fee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6" name="Text 14"/>
          <p:cNvSpPr/>
          <p:nvPr/>
        </p:nvSpPr>
        <p:spPr>
          <a:xfrm>
            <a:off x="422452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Miscellaneous Fees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9" name="Text 17"/>
          <p:cNvSpPr/>
          <p:nvPr/>
        </p:nvSpPr>
        <p:spPr>
          <a:xfrm>
            <a:off x="806500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Book Package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 Schedule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5" name="Text 23"/>
          <p:cNvSpPr/>
          <p:nvPr/>
        </p:nvSpPr>
        <p:spPr>
          <a:xfrm>
            <a:off x="422452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Amount Due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8" name="Text 26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Registrar  ·  Enrollment Wizard — Step 4: Assessment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</a:t>
            </a:r>
            <a:endParaRPr lang="en-US" sz="750" dirty="0"/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  ·  ADMISSIONS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Enrollment (Admission)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Enrollment Wizard — Step 5: Documents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1152144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62763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FIELDS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 Card / Form 138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6" name="Text 14"/>
          <p:cNvSpPr/>
          <p:nvPr/>
        </p:nvSpPr>
        <p:spPr>
          <a:xfrm>
            <a:off x="422452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PSA Birth Certificate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9" name="Text 17"/>
          <p:cNvSpPr/>
          <p:nvPr/>
        </p:nvSpPr>
        <p:spPr>
          <a:xfrm>
            <a:off x="806500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Good Moral Certificate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Medical Certificate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5" name="Text 23"/>
          <p:cNvSpPr/>
          <p:nvPr/>
        </p:nvSpPr>
        <p:spPr>
          <a:xfrm>
            <a:off x="422452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2x2 ID Photo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8" name="Text 26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Registrar  ·  Enrollment Wizard — Step 5: Documents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</a:t>
            </a:r>
            <a:endParaRPr lang="en-US" sz="750" dirty="0"/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  ·  ADMISSIONS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Enrollment (Admission)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11521440" cy="27432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2801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DIALOGS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572768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572768"/>
            <a:ext cx="36576" cy="59436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161848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 Preview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181965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Certificate of Registration with school header, student details, enrolled subjects, fee summary, and Print/Download controls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231136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231136"/>
            <a:ext cx="36576" cy="59436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227685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Import Preview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2478024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Tabular preview of CSV rows with validation status before confirming bulk import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0" name="Text 18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Registrar  ·  Enrollment (Admission)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</a:t>
            </a:r>
            <a:endParaRPr lang="en-US" sz="750" dirty="0"/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Directory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36576" cy="7772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" y="1371600"/>
            <a:ext cx="11521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Centralized lookup for all student records across the school. Staff can search, filter, and navigate to individual student profiles from this single view, regardless of enrollment status.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240280"/>
            <a:ext cx="5303520" cy="4251960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240280"/>
            <a:ext cx="530352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276856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65760" y="2560320"/>
            <a:ext cx="51206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Global search by name, LRN, or student ID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Filter by grade level, section, enrollment status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Quick-action row buttons to open the full student profile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Column sorting and paginated data table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Export student list to CSV or Excel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Role-based column visibility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852160" y="2240280"/>
            <a:ext cx="6035040" cy="4251960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52160" y="2240280"/>
            <a:ext cx="6035040" cy="274320"/>
          </a:xfrm>
          <a:prstGeom prst="rect">
            <a:avLst/>
          </a:prstGeom>
          <a:solidFill>
            <a:srgbClr val="4A3728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0" y="2276856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943600" y="2560320"/>
            <a:ext cx="5852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Navigate to Student Directory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Use search or filter to locate a student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Click a student row to open the Student Profile panel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View academic history, enrollment records, financial summary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 Navigate to sub-sections (grades, ledger, documents)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0" name="Text 18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Registrar  ·  Student Directory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Records</a:t>
            </a:r>
            <a:endParaRPr lang="en-US" sz="750" dirty="0"/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  ·  RECORDS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Directory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11521440" cy="27432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2801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DIALOGS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572768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572768"/>
            <a:ext cx="36576" cy="59436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161848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Profile Panel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181965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Slide-over showing the student's complete profile: academic records, financial ledger, and documents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16" name="Text 14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Registrar  ·  Student Directory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</a:t>
            </a:r>
            <a:endParaRPr lang="en-US" sz="750" dirty="0"/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ACADEMIC ADMINISTRATION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 Sectioning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36576" cy="7772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" y="1371600"/>
            <a:ext cx="11521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Create, organize, and manage class sections for each academic term. Sections are assigned advisers and populated with enrolled students.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212848"/>
            <a:ext cx="11521440" cy="274320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231136"/>
            <a:ext cx="11338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TABS: Sections  ·  Student Roster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2578608"/>
            <a:ext cx="530352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578608"/>
            <a:ext cx="530352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615184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" y="2898648"/>
            <a:ext cx="512064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sections per grade level and academic year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Assign section advisers from the faculty roster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and manage student roster per section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LRN validation for student entries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capacity indicators and enrollment counts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Bulk student assignment from enrolled student list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852160" y="2578608"/>
            <a:ext cx="603504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2578608"/>
            <a:ext cx="6035040" cy="274320"/>
          </a:xfrm>
          <a:prstGeom prst="rect">
            <a:avLst/>
          </a:prstGeom>
          <a:solidFill>
            <a:srgbClr val="4A3728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0" y="2615184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943600" y="2898648"/>
            <a:ext cx="585216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Navigate to Class Sectioning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Create a new section: grade level, name, academic year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Assign a faculty adviser to the section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Add enrolled students to the section roster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 Section becomes available for scheduling and grading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2" name="Text 20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Registrar  ·  Class Sectioning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Academic Administration</a:t>
            </a:r>
            <a:endParaRPr lang="en-US" sz="750" dirty="0"/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  ·  ACADEMIC ADMINISTRATION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 Sectioning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Section Form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1152144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62763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FIELDS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Name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6" name="Text 14"/>
          <p:cNvSpPr/>
          <p:nvPr/>
        </p:nvSpPr>
        <p:spPr>
          <a:xfrm>
            <a:off x="422452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Grade Level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9" name="Text 17"/>
          <p:cNvSpPr/>
          <p:nvPr/>
        </p:nvSpPr>
        <p:spPr>
          <a:xfrm>
            <a:off x="806500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Academic Year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Adviser (Faculty)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5" name="Text 23"/>
          <p:cNvSpPr/>
          <p:nvPr/>
        </p:nvSpPr>
        <p:spPr>
          <a:xfrm>
            <a:off x="422452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Capacity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8" name="Text 26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Registrar  ·  New Section Form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</a:t>
            </a:r>
            <a:endParaRPr lang="en-US" sz="750" dirty="0"/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  ·  ACADEMIC ADMINISTRATION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 Sectioning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11521440" cy="27432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2801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DIALOGS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572768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572768"/>
            <a:ext cx="36576" cy="59436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161848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Students to Section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181965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 enrolled students and bulk-add to the section roster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16" name="Text 14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Registrar  ·  Class Sectioning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</a:t>
            </a:r>
            <a:endParaRPr lang="en-US" sz="750" dirty="0"/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ACADEMIC ADMINISTRATION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 Scheduling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36576" cy="7772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" y="1371600"/>
            <a:ext cx="11521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class schedules by assigning subjects to sections, specifying meeting times, and allocating rooms — with built-in conflict detection.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212848"/>
            <a:ext cx="11521440" cy="274320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231136"/>
            <a:ext cx="11338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TABS: By Section  ·  By Teacher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2578608"/>
            <a:ext cx="530352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578608"/>
            <a:ext cx="530352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615184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" y="2898648"/>
            <a:ext cx="512064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Subject-to-section schedule assignment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 slot and room allocation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Conflict detection for overlapping schedules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Teacher-subject-schedule linking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 grid view by day and time slot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Print-ready schedule output per section or teacher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852160" y="2578608"/>
            <a:ext cx="603504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2578608"/>
            <a:ext cx="6035040" cy="274320"/>
          </a:xfrm>
          <a:prstGeom prst="rect">
            <a:avLst/>
          </a:prstGeom>
          <a:solidFill>
            <a:srgbClr val="4A3728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0" y="2615184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943600" y="2898648"/>
            <a:ext cx="585216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Open Class Scheduling for the academic year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Select a section to configure its schedule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Add subjects: teacher, day, time, room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System flags conflicts if any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 Publish the schedule for the term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2" name="Text 20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Registrar  ·  Class Scheduling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Academic Administration</a:t>
            </a:r>
            <a:endParaRPr lang="en-US" sz="750" dirty="0"/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  ·  ACADEMIC ADMINISTRATION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 Scheduling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 Entry Form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1152144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62763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FIELDS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6" name="Text 14"/>
          <p:cNvSpPr/>
          <p:nvPr/>
        </p:nvSpPr>
        <p:spPr>
          <a:xfrm>
            <a:off x="422452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Subject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9" name="Text 17"/>
          <p:cNvSpPr/>
          <p:nvPr/>
        </p:nvSpPr>
        <p:spPr>
          <a:xfrm>
            <a:off x="806500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Teacher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Day(s)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5" name="Text 23"/>
          <p:cNvSpPr/>
          <p:nvPr/>
        </p:nvSpPr>
        <p:spPr>
          <a:xfrm>
            <a:off x="422452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 Start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95528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5528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8" name="Text 26"/>
          <p:cNvSpPr/>
          <p:nvPr/>
        </p:nvSpPr>
        <p:spPr>
          <a:xfrm>
            <a:off x="806500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 End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008376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3008376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31" name="Text 29"/>
          <p:cNvSpPr/>
          <p:nvPr/>
        </p:nvSpPr>
        <p:spPr>
          <a:xfrm>
            <a:off x="384048" y="3063240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Room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114800" y="3008376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14800" y="3008376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34" name="Text 32"/>
          <p:cNvSpPr/>
          <p:nvPr/>
        </p:nvSpPr>
        <p:spPr>
          <a:xfrm>
            <a:off x="4224528" y="3063240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Year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37" name="Text 35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Registrar  ·  Schedule Entry Form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</a:t>
            </a:r>
            <a:endParaRPr lang="en-US" sz="750" dirty="0"/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  ·  ACADEMIC ADMINISTRATION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 Scheduling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11521440" cy="27432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2801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DIALOGS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572768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572768"/>
            <a:ext cx="36576" cy="59436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161848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Conflict Alert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181965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Detected scheduling conflicts with affected sections, teachers, or rooms and suggested resolution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16" name="Text 14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Registrar  ·  Class Scheduling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</a:t>
            </a:r>
            <a:endParaRPr lang="en-US" sz="750" dirty="0"/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ACADEMIC ADMINISTRATION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Faculty Management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36576" cy="7772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" y="1371600"/>
            <a:ext cx="11521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 the school's teaching staff — faculty profiles, subject assignments, and teaching workload tracking.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212848"/>
            <a:ext cx="11521440" cy="274320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231136"/>
            <a:ext cx="11338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TABS: Faculty List  ·  Subject Assignments  ·  Workload Summary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2578608"/>
            <a:ext cx="530352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578608"/>
            <a:ext cx="530352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615184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" y="2898648"/>
            <a:ext cx="512064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Faculty master list with employment and contact details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Subject assignment per faculty member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Teaching load computation and display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Faculty profile with academic background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Filter by department, employment status, and subject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852160" y="2578608"/>
            <a:ext cx="603504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2578608"/>
            <a:ext cx="6035040" cy="274320"/>
          </a:xfrm>
          <a:prstGeom prst="rect">
            <a:avLst/>
          </a:prstGeom>
          <a:solidFill>
            <a:srgbClr val="4A3728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0" y="2615184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943600" y="2898648"/>
            <a:ext cx="585216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Navigate to Faculty Management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View the faculty list and search for a teacher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Open the faculty profile to review assignments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Assign subjects to the faculty member for the term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 Review the teaching load summary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2" name="Text 20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Registrar  ·  Faculty Management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Academic Administration</a:t>
            </a:r>
            <a:endParaRPr lang="en-US" sz="750" dirty="0"/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NAVIGATION TABS  ·  ACADEMIC ADMINISTRATION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Faculty Management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2588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2588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132588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1" name="Text 9"/>
          <p:cNvSpPr/>
          <p:nvPr/>
        </p:nvSpPr>
        <p:spPr>
          <a:xfrm>
            <a:off x="292608" y="164592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" y="137160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Faculty List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" y="164592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teaching staff with search and quick profile access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89320" y="132588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89320" y="132588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6" name="Shape 14"/>
          <p:cNvSpPr/>
          <p:nvPr/>
        </p:nvSpPr>
        <p:spPr>
          <a:xfrm>
            <a:off x="5989320" y="132588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7" name="Text 15"/>
          <p:cNvSpPr/>
          <p:nvPr/>
        </p:nvSpPr>
        <p:spPr>
          <a:xfrm>
            <a:off x="6007608" y="164592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36792" y="137160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Subject Assignments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36792" y="164592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Faculty-to-subject mapping for the current term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251460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51460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" y="251460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3" name="Text 21"/>
          <p:cNvSpPr/>
          <p:nvPr/>
        </p:nvSpPr>
        <p:spPr>
          <a:xfrm>
            <a:off x="292608" y="283464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" y="256032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Workload Summary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1792" y="283464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Teaching load units per faculty with overload indicators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8" name="Text 26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Registrar  ·  Faculty Management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Navigation Tabs</a:t>
            </a:r>
            <a:endParaRPr lang="en-US" sz="750" dirty="0"/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  ·  ACADEMIC ADMINISTRATION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Faculty Management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Faculty Profile Form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1152144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62763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FIELDS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Employee Name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6" name="Text 14"/>
          <p:cNvSpPr/>
          <p:nvPr/>
        </p:nvSpPr>
        <p:spPr>
          <a:xfrm>
            <a:off x="422452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Employee ID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9" name="Text 17"/>
          <p:cNvSpPr/>
          <p:nvPr/>
        </p:nvSpPr>
        <p:spPr>
          <a:xfrm>
            <a:off x="806500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Department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Employment Status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5" name="Text 23"/>
          <p:cNvSpPr/>
          <p:nvPr/>
        </p:nvSpPr>
        <p:spPr>
          <a:xfrm>
            <a:off x="422452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Specialization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95528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5528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8" name="Text 26"/>
          <p:cNvSpPr/>
          <p:nvPr/>
        </p:nvSpPr>
        <p:spPr>
          <a:xfrm>
            <a:off x="806500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Educational Attainment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008376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3008376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31" name="Text 29"/>
          <p:cNvSpPr/>
          <p:nvPr/>
        </p:nvSpPr>
        <p:spPr>
          <a:xfrm>
            <a:off x="384048" y="3063240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Contact Info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34" name="Text 32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Registrar  ·  Faculty Profile Form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</a:t>
            </a:r>
            <a:endParaRPr lang="en-US" sz="750" dirty="0"/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ACADEMIC ADMINISTRATION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Curriculum / Syllabus Pathways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36576" cy="7772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" y="1371600"/>
            <a:ext cx="11521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Define academic subject pathways for each grade level, program, and academic unit. Serves as the master reference for offered subjects and prerequisite chains.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212848"/>
            <a:ext cx="11521440" cy="274320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231136"/>
            <a:ext cx="11338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TABS: Subject Catalog  ·  Curriculum Matrix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2578608"/>
            <a:ext cx="530352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578608"/>
            <a:ext cx="530352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615184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" y="2898648"/>
            <a:ext cx="512064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Subject catalog with code, title, and unit credits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Grade-level-to-subject mapping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Program track assignment (Science, Arts, ABM, HUMSS, etc.)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Prerequisite chain configuration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Curriculum view by academic unit (Basic Ed vs. College)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Export curriculum matrix to CSV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852160" y="2578608"/>
            <a:ext cx="603504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2578608"/>
            <a:ext cx="6035040" cy="274320"/>
          </a:xfrm>
          <a:prstGeom prst="rect">
            <a:avLst/>
          </a:prstGeom>
          <a:solidFill>
            <a:srgbClr val="4A3728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0" y="2615184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943600" y="2898648"/>
            <a:ext cx="585216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Open Curriculum module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Select the academic unit and program track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Add subjects to the appropriate grade/year level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Set prerequisites where applicable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 Publish as reference for enrollment and scheduling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2" name="Text 20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Registrar  ·  Curriculum / Syllabus Pathways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Academic Administration</a:t>
            </a:r>
            <a:endParaRPr lang="en-US" sz="750" dirty="0"/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  ·  ACADEMIC ADMINISTRATION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Curriculum / Syllabus Pathways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Subject Form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1152144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62763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FIELDS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Subject Code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6" name="Text 14"/>
          <p:cNvSpPr/>
          <p:nvPr/>
        </p:nvSpPr>
        <p:spPr>
          <a:xfrm>
            <a:off x="422452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Subject Title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9" name="Text 17"/>
          <p:cNvSpPr/>
          <p:nvPr/>
        </p:nvSpPr>
        <p:spPr>
          <a:xfrm>
            <a:off x="806500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Units/Credits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Grade Level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5" name="Text 23"/>
          <p:cNvSpPr/>
          <p:nvPr/>
        </p:nvSpPr>
        <p:spPr>
          <a:xfrm>
            <a:off x="422452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Program Track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95528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5528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8" name="Text 26"/>
          <p:cNvSpPr/>
          <p:nvPr/>
        </p:nvSpPr>
        <p:spPr>
          <a:xfrm>
            <a:off x="806500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Academic Unit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008376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3008376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31" name="Text 29"/>
          <p:cNvSpPr/>
          <p:nvPr/>
        </p:nvSpPr>
        <p:spPr>
          <a:xfrm>
            <a:off x="384048" y="3063240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Prerequisites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34" name="Text 32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Registrar  ·  Add Subject Form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</a:t>
            </a:r>
            <a:endParaRPr lang="en-US" sz="750" dirty="0"/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ACADEMIC RECORDS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Grades Directory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36576" cy="7772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" y="1371600"/>
            <a:ext cx="11521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Searchable view of all student grade records across sections, subjects, and grading periods. Central reference for academic performance monitoring.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212848"/>
            <a:ext cx="11521440" cy="274320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231136"/>
            <a:ext cx="11338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TABS: By Section  ·  By Student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2578608"/>
            <a:ext cx="530352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578608"/>
            <a:ext cx="530352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615184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" y="2898648"/>
            <a:ext cx="512064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Grade search by student, section, subject, or period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Filter by grade level, section, and academic year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View grade breakdown per subject and per period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Honor roll and academic standing indicators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Export grade summary to CSV or Excel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Drill-down to individual student grade sheets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852160" y="2578608"/>
            <a:ext cx="603504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2578608"/>
            <a:ext cx="6035040" cy="274320"/>
          </a:xfrm>
          <a:prstGeom prst="rect">
            <a:avLst/>
          </a:prstGeom>
          <a:solidFill>
            <a:srgbClr val="4A3728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0" y="2615184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943600" y="2898648"/>
            <a:ext cx="585216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Open Grades Directory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Filter by grade level, section, and grading period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View the grade summary table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Click a student row to open the detailed grade sheet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 Export grade data for reporting or archiving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2" name="Text 20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Registrar  ·  Grades Directory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Academic Records</a:t>
            </a:r>
            <a:endParaRPr lang="en-US" sz="750" dirty="0"/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  ·  ACADEMIC RECORDS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Grades Directory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11521440" cy="27432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2801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DIALOGS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572768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572768"/>
            <a:ext cx="36576" cy="59436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161848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Grade Sheet Detail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181965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grade sheet with all subjects, grading period scores, and final grade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74320" y="2414016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706624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706624"/>
            <a:ext cx="36576" cy="59436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275234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Grade Summary Report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" y="295351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Class-wide grade summary with averages per subject and student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3364992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364992"/>
            <a:ext cx="36576" cy="59436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341071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Honor Roll Report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" y="36118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Students qualifying for honor roll based on grade thresholds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5" name="Text 23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Registrar  ·  Grades Directory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</a:t>
            </a:r>
            <a:endParaRPr lang="en-US" sz="750" dirty="0"/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ACADEMIC ADMINISTRATION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Books &amp; Library Setup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36576" cy="7772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" y="1371600"/>
            <a:ext cx="11521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Configure book packages assigned to each grade level. Packages are automatically included in the enrollment fee assessment and can be issued to enrolled students.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212848"/>
            <a:ext cx="11521440" cy="274320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231136"/>
            <a:ext cx="11338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TABS: Book Packages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2578608"/>
            <a:ext cx="530352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578608"/>
            <a:ext cx="530352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615184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" y="2898648"/>
            <a:ext cx="512064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Book package definition per grade level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Book title and price configuration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Automatic inclusion in enrollment assessment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Issuance tracking per enrolled student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852160" y="2578608"/>
            <a:ext cx="603504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2578608"/>
            <a:ext cx="6035040" cy="274320"/>
          </a:xfrm>
          <a:prstGeom prst="rect">
            <a:avLst/>
          </a:prstGeom>
          <a:solidFill>
            <a:srgbClr val="4A3728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0" y="2615184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943600" y="2898648"/>
            <a:ext cx="585216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Admin configures book packages per grade level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On enrollment: book package auto-added to fee assessment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Upon payment: book package marked as issued to the student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2" name="Text 20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Registrar  ·  Books &amp; Library Setup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Academic Administration</a:t>
            </a:r>
            <a:endParaRPr lang="en-US" sz="750" dirty="0"/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  ·  ACADEMIC ADMINISTRATION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Books &amp; Library Setup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Book Package Form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1152144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62763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FIELDS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Grade Level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6" name="Text 14"/>
          <p:cNvSpPr/>
          <p:nvPr/>
        </p:nvSpPr>
        <p:spPr>
          <a:xfrm>
            <a:off x="422452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Package Name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9" name="Text 17"/>
          <p:cNvSpPr/>
          <p:nvPr/>
        </p:nvSpPr>
        <p:spPr>
          <a:xfrm>
            <a:off x="806500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Books: Title | Publisher | Unit Price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Package Price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5" name="Text 23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Registrar  ·  Book Package Form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</a:t>
            </a:r>
            <a:endParaRPr lang="en-US" sz="750" dirty="0"/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Registrar Reports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36576" cy="7772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" y="1371600"/>
            <a:ext cx="11521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Suite of official reports for enrollment, student records, and academic documentation. Preview on-screen and export as PDF or Excel.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240280"/>
            <a:ext cx="5303520" cy="4251960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240280"/>
            <a:ext cx="530352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276856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65760" y="2560320"/>
            <a:ext cx="51206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Masterlist with enrollment status and grade level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Enrollment Summary by program, grade level, and status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 (Certificate of Registration) batch generation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Grade Summary Report by section and grading period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 range and academic year filter for all reports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Export to PDF and Excel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852160" y="2240280"/>
            <a:ext cx="6035040" cy="4251960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52160" y="2240280"/>
            <a:ext cx="6035040" cy="274320"/>
          </a:xfrm>
          <a:prstGeom prst="rect">
            <a:avLst/>
          </a:prstGeom>
          <a:solidFill>
            <a:srgbClr val="4A3728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0" y="2276856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943600" y="2560320"/>
            <a:ext cx="5852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Navigate to Registrar Reports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Select the report type from the catalog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Set filter parameters (academic year, grade level, date range)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Click 'Preview' to view the report on-screen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 Export to PDF or Excel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0" name="Text 18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Registrar  ·  Registrar Reports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Reports</a:t>
            </a:r>
            <a:endParaRPr lang="en-US" sz="750" dirty="0"/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  ·  REPORTS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Registrar Reports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11521440" cy="27432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2801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DIALOGS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572768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572768"/>
            <a:ext cx="36576" cy="59436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161848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 Preview Modal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181965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Full-page report preview with Print, Export PDF, and Export Excel controls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74320" y="2414016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706624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706624"/>
            <a:ext cx="36576" cy="59436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275234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Masterlist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" y="295351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 roster with LRN, grade level, section, and enrollment status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3364992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364992"/>
            <a:ext cx="36576" cy="59436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341071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Enrollment Summary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" y="36118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Statistical breakdown of enrollees by grade level, program, and status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4023360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4023360"/>
            <a:ext cx="36576" cy="59436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5" name="Text 23"/>
          <p:cNvSpPr/>
          <p:nvPr/>
        </p:nvSpPr>
        <p:spPr>
          <a:xfrm>
            <a:off x="411480" y="406908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 (Certificate of Registration)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11480" y="427024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Official COR per student with enrolled subjects and fee summary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" y="4681728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4681728"/>
            <a:ext cx="36576" cy="59436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9" name="Text 27"/>
          <p:cNvSpPr/>
          <p:nvPr/>
        </p:nvSpPr>
        <p:spPr>
          <a:xfrm>
            <a:off x="411480" y="4727448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Grade Summary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11480" y="492861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Academic performance summary by section and grading period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33" name="Text 31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Registrar  ·  Registrar Reports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</a:t>
            </a:r>
            <a:endParaRPr lang="en-US" sz="750" dirty="0"/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92240"/>
            <a:ext cx="5029200" cy="5486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0" y="0"/>
            <a:ext cx="7159752" cy="6858000"/>
          </a:xfrm>
          <a:prstGeom prst="rect">
            <a:avLst/>
          </a:prstGeom>
          <a:solidFill>
            <a:srgbClr val="FFFDF5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C5A059"/>
          </a:solidFill>
          <a:ln/>
        </p:spPr>
      </p:sp>
      <p:pic>
        <p:nvPicPr>
          <p:cNvPr id="6" name="Image 0" descr="C:\Users\VELOSO\Documents\GitHub\stsn-connect\public\stsn-cr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7432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34747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65760" y="13716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ROLE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365760" y="1691640"/>
            <a:ext cx="42976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Accounting Staff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365760" y="361188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Finance &amp; ledger — student billing, GL, AR/AP, and reporting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303520" y="502920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RESPONSIBILITIES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303520" y="795528"/>
            <a:ext cx="649224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3" name="Text 10"/>
          <p:cNvSpPr/>
          <p:nvPr/>
        </p:nvSpPr>
        <p:spPr>
          <a:xfrm>
            <a:off x="5303520" y="914400"/>
            <a:ext cx="64922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1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 student financial ledgers and billing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1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 and approve discount applications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1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Apply and release financial holds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1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Maintain the general ledger with journal entries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1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 accounts receivable and payable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1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 financial statements and aging reports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16" name="Text 13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Accounting Staff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 Overview</a:t>
            </a:r>
            <a:endParaRPr lang="en-US" sz="750" dirty="0"/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 MANAGEMENT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ACCOUNTING STAFF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 Center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36576" cy="7772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" y="1371600"/>
            <a:ext cx="11521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Unified approval queue consolidating all pending workflow items across every module — enrollments, discounts, leave requests, assessment approvals, and payroll runs — in one place.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212848"/>
            <a:ext cx="11521440" cy="274320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231136"/>
            <a:ext cx="11338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TABS: All Pending  ·  Enrollments  ·  Assessments  ·  Discounts  ·  Leave Requests  ·  Payroll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2578608"/>
            <a:ext cx="530352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578608"/>
            <a:ext cx="530352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615184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" y="2898648"/>
            <a:ext cx="512064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Unified queue for all pending approvals across modules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Filter by module type, date range, priority, and submitter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Bulk approve or reject multiple items simultaneously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Contextual detail panel with full request information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approval notes or rejection reasons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badge count showing pending items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Escalation indicators for SLA-breached items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 approval trail with actor and timestamp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852160" y="2578608"/>
            <a:ext cx="603504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2578608"/>
            <a:ext cx="6035040" cy="274320"/>
          </a:xfrm>
          <a:prstGeom prst="rect">
            <a:avLst/>
          </a:prstGeom>
          <a:solidFill>
            <a:srgbClr val="4A3728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0" y="2615184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943600" y="2898648"/>
            <a:ext cx="585216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Navigate to Action Center from the sidebar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System displays all items the user is authorized to approve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Apply filters to narrow down by type or date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Click a pending item to view the full detail panel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 Add a note, then approve or reject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 System sends item to next approval level or marks complete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  Action is logged in the audit trail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2" name="Text 20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Accounting Staff  ·  Action Center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 Management</a:t>
            </a:r>
            <a:endParaRPr lang="en-US" sz="750" dirty="0"/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NAVIGATION TABS  ·  WORKFLOW MANAGEMENT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ACCOUNTING STAFF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 Center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2588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2588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132588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1" name="Text 9"/>
          <p:cNvSpPr/>
          <p:nvPr/>
        </p:nvSpPr>
        <p:spPr>
          <a:xfrm>
            <a:off x="292608" y="164592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" y="137160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Pending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" y="164592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Consolidated queue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89320" y="132588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89320" y="132588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6" name="Shape 14"/>
          <p:cNvSpPr/>
          <p:nvPr/>
        </p:nvSpPr>
        <p:spPr>
          <a:xfrm>
            <a:off x="5989320" y="132588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7" name="Text 15"/>
          <p:cNvSpPr/>
          <p:nvPr/>
        </p:nvSpPr>
        <p:spPr>
          <a:xfrm>
            <a:off x="6007608" y="164592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36792" y="137160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Enrollments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36792" y="164592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Awaiting registrar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251460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51460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" y="251460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3" name="Text 21"/>
          <p:cNvSpPr/>
          <p:nvPr/>
        </p:nvSpPr>
        <p:spPr>
          <a:xfrm>
            <a:off x="292608" y="283464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" y="256032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Assessments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1792" y="283464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Awaiting accounting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989320" y="251460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89320" y="251460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28" name="Shape 26"/>
          <p:cNvSpPr/>
          <p:nvPr/>
        </p:nvSpPr>
        <p:spPr>
          <a:xfrm>
            <a:off x="5989320" y="251460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9" name="Text 27"/>
          <p:cNvSpPr/>
          <p:nvPr/>
        </p:nvSpPr>
        <p:spPr>
          <a:xfrm>
            <a:off x="6007608" y="283464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36792" y="256032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Discounts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36792" y="283464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Awaiting approval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74320" y="370332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370332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34" name="Shape 32"/>
          <p:cNvSpPr/>
          <p:nvPr/>
        </p:nvSpPr>
        <p:spPr>
          <a:xfrm>
            <a:off x="274320" y="370332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35" name="Text 33"/>
          <p:cNvSpPr/>
          <p:nvPr/>
        </p:nvSpPr>
        <p:spPr>
          <a:xfrm>
            <a:off x="292608" y="402336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1792" y="374904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Leave Requests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1792" y="402336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Awaiting supervisor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989320" y="370332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989320" y="370332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40" name="Shape 38"/>
          <p:cNvSpPr/>
          <p:nvPr/>
        </p:nvSpPr>
        <p:spPr>
          <a:xfrm>
            <a:off x="5989320" y="370332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1" name="Text 39"/>
          <p:cNvSpPr/>
          <p:nvPr/>
        </p:nvSpPr>
        <p:spPr>
          <a:xfrm>
            <a:off x="6007608" y="402336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336792" y="374904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Payroll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336792" y="402336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Awaiting authorization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46" name="Text 44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Accounting Staff  ·  Action Center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Navigation Tabs</a:t>
            </a:r>
            <a:endParaRPr lang="en-US" sz="750" dirty="0"/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  ·  WORKFLOW MANAGEMENT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ACCOUNTING STAFF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 Center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11521440" cy="27432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2801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DIALOGS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572768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572768"/>
            <a:ext cx="36576" cy="59436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161848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Approval Detail Panel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181965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request view with approve/reject controls and notes field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16" name="Text 14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Accounting Staff  ·  Action Center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</a:t>
            </a:r>
            <a:endParaRPr lang="en-US" sz="750" dirty="0"/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ACCOUNTING STAFF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Accounting Dashboard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36576" cy="7772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" y="1371600"/>
            <a:ext cx="11521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financial overview: total revenue, receivables, and billing pipeline. KPI cards, AR aging widgets, and trend charts for at-a-glance financial health monitoring.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240280"/>
            <a:ext cx="5303520" cy="4251960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240280"/>
            <a:ext cx="530352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276856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65760" y="2560320"/>
            <a:ext cx="51206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enrolled students with assessed and collected fee totals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 aging summary (30/60/90/120+ day buckets)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Revenue trend chart by month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debtors watchlist with outstanding balances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 method breakdown chart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Quick-links to key accounting sub-modules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852160" y="2240280"/>
            <a:ext cx="6035040" cy="4251960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52160" y="2240280"/>
            <a:ext cx="6035040" cy="274320"/>
          </a:xfrm>
          <a:prstGeom prst="rect">
            <a:avLst/>
          </a:prstGeom>
          <a:solidFill>
            <a:srgbClr val="4A3728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0" y="2276856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943600" y="2560320"/>
            <a:ext cx="5852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Accounting staff logs in and sees the Dashboard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Review KPI cards for assessments and collections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Check the AR aging widget to identify overdue accounts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Click a debtor row to navigate to the student's ledger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 Review the trend chart for monthly collection performance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0" name="Text 18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Accounting Staff  ·  Accounting Dashboard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Finance</a:t>
            </a:r>
            <a:endParaRPr lang="en-US" sz="750" dirty="0"/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ACCOUNTING STAFF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Accounts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36576" cy="7772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" y="1371600"/>
            <a:ext cx="11521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financial management for student billing and collections — individual student ledger, discount management, assessment approval, and financial hold administration.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212848"/>
            <a:ext cx="11521440" cy="274320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231136"/>
            <a:ext cx="11338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TABS: Student Ledger  ·  Discounts  ·  Billing &amp; Assessment  ·  Financial Holds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2578608"/>
            <a:ext cx="530352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578608"/>
            <a:ext cx="530352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615184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" y="2898648"/>
            <a:ext cx="512064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Per-student debit/credit ledger with running balance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Fee assessment breakdown per enrolled student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Discount application and multi-level approval workflow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Financial hold application and release controls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Statement of Account (SOA) generation and download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 history with receipt references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852160" y="2578608"/>
            <a:ext cx="603504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2578608"/>
            <a:ext cx="6035040" cy="274320"/>
          </a:xfrm>
          <a:prstGeom prst="rect">
            <a:avLst/>
          </a:prstGeom>
          <a:solidFill>
            <a:srgbClr val="4A3728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0" y="2615184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943600" y="2898648"/>
            <a:ext cx="585216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Navigate to Student Accounts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Search for a specific student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Open the student's ledger to view transactions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Apply discounts if the student qualifies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 Approve assessment when enrollment wizard submits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 Apply a financial hold if the student has unpaid balance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2" name="Text 20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Accounting Staff  ·  Student Accounts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Finance</a:t>
            </a:r>
            <a:endParaRPr lang="en-US" sz="750" dirty="0"/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NAVIGATION TABS  ·  FINANCE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ACCOUNTING STAFF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Accounts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2588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2588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132588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1" name="Text 9"/>
          <p:cNvSpPr/>
          <p:nvPr/>
        </p:nvSpPr>
        <p:spPr>
          <a:xfrm>
            <a:off x="292608" y="164592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" y="137160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Ledger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" y="164592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Debit/credit entries, running balance, and transaction history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89320" y="132588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89320" y="132588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6" name="Shape 14"/>
          <p:cNvSpPr/>
          <p:nvPr/>
        </p:nvSpPr>
        <p:spPr>
          <a:xfrm>
            <a:off x="5989320" y="132588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7" name="Text 15"/>
          <p:cNvSpPr/>
          <p:nvPr/>
        </p:nvSpPr>
        <p:spPr>
          <a:xfrm>
            <a:off x="6007608" y="164592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36792" y="137160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Discounts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36792" y="164592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Discount types, application requests, and approval workflow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251460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51460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" y="251460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3" name="Text 21"/>
          <p:cNvSpPr/>
          <p:nvPr/>
        </p:nvSpPr>
        <p:spPr>
          <a:xfrm>
            <a:off x="292608" y="283464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" y="256032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Billing &amp; Assessment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1792" y="283464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Fee assessment per student with approval queue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989320" y="251460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89320" y="251460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28" name="Shape 26"/>
          <p:cNvSpPr/>
          <p:nvPr/>
        </p:nvSpPr>
        <p:spPr>
          <a:xfrm>
            <a:off x="5989320" y="251460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9" name="Text 27"/>
          <p:cNvSpPr/>
          <p:nvPr/>
        </p:nvSpPr>
        <p:spPr>
          <a:xfrm>
            <a:off x="6007608" y="283464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36792" y="256032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Financial Holds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36792" y="283464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holds with hold type and release controls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34" name="Text 32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Accounting Staff  ·  Student Accounts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Navigation Tabs</a:t>
            </a:r>
            <a:endParaRPr lang="en-US" sz="750" dirty="0"/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  ·  FINANCE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ACCOUNTING STAFF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Accounts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Discount Application Form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1152144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62763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FIELDS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Name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6" name="Text 14"/>
          <p:cNvSpPr/>
          <p:nvPr/>
        </p:nvSpPr>
        <p:spPr>
          <a:xfrm>
            <a:off x="422452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Discount Type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9" name="Text 17"/>
          <p:cNvSpPr/>
          <p:nvPr/>
        </p:nvSpPr>
        <p:spPr>
          <a:xfrm>
            <a:off x="806500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Discount Amount / %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Applicable Fees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5" name="Text 23"/>
          <p:cNvSpPr/>
          <p:nvPr/>
        </p:nvSpPr>
        <p:spPr>
          <a:xfrm>
            <a:off x="422452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Supporting Document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95528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5528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8" name="Text 26"/>
          <p:cNvSpPr/>
          <p:nvPr/>
        </p:nvSpPr>
        <p:spPr>
          <a:xfrm>
            <a:off x="806500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Remarks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31" name="Text 29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Accounting Staff  ·  Discount Application Form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</a:t>
            </a:r>
            <a:endParaRPr lang="en-US" sz="750" dirty="0"/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  ·  FINANCE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ACCOUNTING STAFF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Accounts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Financial Hold Form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1152144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62763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FIELDS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Name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6" name="Text 14"/>
          <p:cNvSpPr/>
          <p:nvPr/>
        </p:nvSpPr>
        <p:spPr>
          <a:xfrm>
            <a:off x="422452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Hold Type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9" name="Text 17"/>
          <p:cNvSpPr/>
          <p:nvPr/>
        </p:nvSpPr>
        <p:spPr>
          <a:xfrm>
            <a:off x="806500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Hold Reason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Amount Due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5" name="Text 23"/>
          <p:cNvSpPr/>
          <p:nvPr/>
        </p:nvSpPr>
        <p:spPr>
          <a:xfrm>
            <a:off x="422452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Effective Date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8" name="Text 26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Accounting Staff  ·  Financial Hold Form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</a:t>
            </a:r>
            <a:endParaRPr lang="en-US" sz="750" dirty="0"/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  ·  FINANCE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ACCOUNTING STAFF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Accounts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11521440" cy="27432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2801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DIALOGS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572768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572768"/>
            <a:ext cx="36576" cy="59436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161848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Statement of Account Preview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181965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Printable SOA with all fees, discounts, payments, and outstanding balance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231136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231136"/>
            <a:ext cx="36576" cy="59436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227685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Discount Approval Modal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2478024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Approve/reject a discount request with notes and approval level tracking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0" name="Text 18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Accounting Staff  ·  Student Accounts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</a:t>
            </a:r>
            <a:endParaRPr lang="en-US" sz="750" dirty="0"/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FINANCE SETUP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ACCOUNTING STAFF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Accounting Setup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36576" cy="7772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" y="1371600"/>
            <a:ext cx="11521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configuration tables for the financial system — chart of accounts, cost centers, supplier master, item catalog, and discount type definitions.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212848"/>
            <a:ext cx="11521440" cy="274320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231136"/>
            <a:ext cx="11338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TABS: Chart of Accounts  ·  Cost Centers  ·  Supplier Management  ·  Item / Product Mgmt  ·  Discount Types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2578608"/>
            <a:ext cx="530352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578608"/>
            <a:ext cx="530352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615184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" y="2898648"/>
            <a:ext cx="512064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Chart of Accounts: hierarchical GL structure with type classification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 Centers: department-level cost segmentation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Supplier Management: vendor master with contact, terms, and balance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Item/Product Management: fee items and services with pricing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Discount Types: configurable definitions with eligibility rules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852160" y="2578608"/>
            <a:ext cx="603504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2578608"/>
            <a:ext cx="6035040" cy="274320"/>
          </a:xfrm>
          <a:prstGeom prst="rect">
            <a:avLst/>
          </a:prstGeom>
          <a:solidFill>
            <a:srgbClr val="4A3728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0" y="2615184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943600" y="2898648"/>
            <a:ext cx="585216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Open Accounting Setup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Configure the Chart of Accounts by adding GL accounts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Create cost centers for each department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Add suppliers/vendors with payment terms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 Define fee items for student billing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 Configure discount types for student applications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2" name="Text 20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Accounting Staff  ·  Accounting Setup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Finance Setup</a:t>
            </a:r>
            <a:endParaRPr lang="en-US" sz="750" dirty="0"/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NAVIGATION TABS  ·  FINANCE SETUP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ACCOUNTING STAFF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Accounting Setup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2588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2588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132588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1" name="Text 9"/>
          <p:cNvSpPr/>
          <p:nvPr/>
        </p:nvSpPr>
        <p:spPr>
          <a:xfrm>
            <a:off x="292608" y="164592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" y="137160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Chart of Accounts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" y="164592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 account hierarchy: Asset, Liability, Equity, Revenue, Expense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89320" y="132588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89320" y="132588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6" name="Shape 14"/>
          <p:cNvSpPr/>
          <p:nvPr/>
        </p:nvSpPr>
        <p:spPr>
          <a:xfrm>
            <a:off x="5989320" y="132588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7" name="Text 15"/>
          <p:cNvSpPr/>
          <p:nvPr/>
        </p:nvSpPr>
        <p:spPr>
          <a:xfrm>
            <a:off x="6007608" y="164592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36792" y="137160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 Centers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36792" y="164592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Departmental cost allocation units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251460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51460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" y="251460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3" name="Text 21"/>
          <p:cNvSpPr/>
          <p:nvPr/>
        </p:nvSpPr>
        <p:spPr>
          <a:xfrm>
            <a:off x="292608" y="283464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" y="256032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Supplier Management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1792" y="283464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Vendor master with contact info and payment terms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989320" y="251460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89320" y="251460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28" name="Shape 26"/>
          <p:cNvSpPr/>
          <p:nvPr/>
        </p:nvSpPr>
        <p:spPr>
          <a:xfrm>
            <a:off x="5989320" y="251460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9" name="Text 27"/>
          <p:cNvSpPr/>
          <p:nvPr/>
        </p:nvSpPr>
        <p:spPr>
          <a:xfrm>
            <a:off x="6007608" y="283464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36792" y="256032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Item / Product Mgmt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36792" y="283464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Fee items and products used in student billing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74320" y="370332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370332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34" name="Shape 32"/>
          <p:cNvSpPr/>
          <p:nvPr/>
        </p:nvSpPr>
        <p:spPr>
          <a:xfrm>
            <a:off x="274320" y="370332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35" name="Text 33"/>
          <p:cNvSpPr/>
          <p:nvPr/>
        </p:nvSpPr>
        <p:spPr>
          <a:xfrm>
            <a:off x="292608" y="402336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1792" y="374904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Discount Types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1792" y="402336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Named discount definitions with eligibility rules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40" name="Text 38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Accounting Staff  ·  Accounting Setup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Navigation Tabs</a:t>
            </a:r>
            <a:endParaRPr lang="en-US" sz="750" dirty="0"/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  ·  FINANCE SETUP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ACCOUNTING STAFF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Accounting Setup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GL Account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1152144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62763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FIELDS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 Code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6" name="Text 14"/>
          <p:cNvSpPr/>
          <p:nvPr/>
        </p:nvSpPr>
        <p:spPr>
          <a:xfrm>
            <a:off x="422452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 Name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9" name="Text 17"/>
          <p:cNvSpPr/>
          <p:nvPr/>
        </p:nvSpPr>
        <p:spPr>
          <a:xfrm>
            <a:off x="806500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 Type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Parent Account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5" name="Text 23"/>
          <p:cNvSpPr/>
          <p:nvPr/>
        </p:nvSpPr>
        <p:spPr>
          <a:xfrm>
            <a:off x="422452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 Center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95528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5528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8" name="Text 26"/>
          <p:cNvSpPr/>
          <p:nvPr/>
        </p:nvSpPr>
        <p:spPr>
          <a:xfrm>
            <a:off x="806500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31" name="Text 29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Accounting Staff  ·  Add GL Account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</a:t>
            </a:r>
            <a:endParaRPr lang="en-US" sz="750" dirty="0"/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  ·  FINANCE SETUP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ACCOUNTING STAFF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Accounting Setup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Supplier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1152144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62763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FIELDS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Supplier Name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6" name="Text 14"/>
          <p:cNvSpPr/>
          <p:nvPr/>
        </p:nvSpPr>
        <p:spPr>
          <a:xfrm>
            <a:off x="422452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Contact Person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9" name="Text 17"/>
          <p:cNvSpPr/>
          <p:nvPr/>
        </p:nvSpPr>
        <p:spPr>
          <a:xfrm>
            <a:off x="806500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Phone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5" name="Text 23"/>
          <p:cNvSpPr/>
          <p:nvPr/>
        </p:nvSpPr>
        <p:spPr>
          <a:xfrm>
            <a:off x="422452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 Terms (Days)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95528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5528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8" name="Text 26"/>
          <p:cNvSpPr/>
          <p:nvPr/>
        </p:nvSpPr>
        <p:spPr>
          <a:xfrm>
            <a:off x="806500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Tax ID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31" name="Text 29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Accounting Staff  ·  Add Supplier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</a:t>
            </a:r>
            <a:endParaRPr lang="en-US" sz="750" dirty="0"/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  ·  FINANCE SETUP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ACCOUNTING STAFF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Accounting Setup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Fee Item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1152144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62763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FIELDS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Item Code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6" name="Text 14"/>
          <p:cNvSpPr/>
          <p:nvPr/>
        </p:nvSpPr>
        <p:spPr>
          <a:xfrm>
            <a:off x="422452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Item Name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9" name="Text 17"/>
          <p:cNvSpPr/>
          <p:nvPr/>
        </p:nvSpPr>
        <p:spPr>
          <a:xfrm>
            <a:off x="806500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Category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Unit Price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5" name="Text 23"/>
          <p:cNvSpPr/>
          <p:nvPr/>
        </p:nvSpPr>
        <p:spPr>
          <a:xfrm>
            <a:off x="422452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Tax Applicable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95528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5528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8" name="Text 26"/>
          <p:cNvSpPr/>
          <p:nvPr/>
        </p:nvSpPr>
        <p:spPr>
          <a:xfrm>
            <a:off x="806500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 Account Link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31" name="Text 29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Accounting Staff  ·  Add Fee Item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</a:t>
            </a:r>
            <a:endParaRPr lang="en-US" sz="750" dirty="0"/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ACCOUNTING STAFF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Journal Entries (General Ledger)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36576" cy="7772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" y="1371600"/>
            <a:ext cx="11521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 all financial transactions in double-entry format. Each entry must balance (debits = credits) before it can be posted to the general ledger.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212848"/>
            <a:ext cx="11521440" cy="274320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231136"/>
            <a:ext cx="11338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TABS: Journal Entries List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2578608"/>
            <a:ext cx="530352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578608"/>
            <a:ext cx="530352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615184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" y="2898648"/>
            <a:ext cx="512064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Double-entry creation with debit/credit line items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 account selection from the Chart of Accounts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Reference number and document attachment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Batch posting of multiple entries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by date, account, and reference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Reverse entry creation for corrections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852160" y="2578608"/>
            <a:ext cx="603504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2578608"/>
            <a:ext cx="6035040" cy="274320"/>
          </a:xfrm>
          <a:prstGeom prst="rect">
            <a:avLst/>
          </a:prstGeom>
          <a:solidFill>
            <a:srgbClr val="4A3728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0" y="2615184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943600" y="2898648"/>
            <a:ext cx="585216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Open Journal Entries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Click 'New Entry'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Enter the entry date, reference number, and description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Add debit and credit line items from the Chart of Accounts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 Verify that total debits equal total credits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 Post the entry to the general ledger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2" name="Text 20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Accounting Staff  ·  Journal Entries (General Ledger)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Finance</a:t>
            </a:r>
            <a:endParaRPr lang="en-US" sz="750" dirty="0"/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  ·  FINANCE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ACCOUNTING STAFF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Journal Entries (General Ledger)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Journal Entry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1152144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62763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FIELDS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Entry Date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6" name="Text 14"/>
          <p:cNvSpPr/>
          <p:nvPr/>
        </p:nvSpPr>
        <p:spPr>
          <a:xfrm>
            <a:off x="422452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Reference Number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9" name="Text 17"/>
          <p:cNvSpPr/>
          <p:nvPr/>
        </p:nvSpPr>
        <p:spPr>
          <a:xfrm>
            <a:off x="806500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Description / Memo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Line Items: Account | Description | Debit | Credit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5" name="Text 23"/>
          <p:cNvSpPr/>
          <p:nvPr/>
        </p:nvSpPr>
        <p:spPr>
          <a:xfrm>
            <a:off x="422452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Attachment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8" name="Text 26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Accounting Staff  ·  New Journal Entry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</a:t>
            </a:r>
            <a:endParaRPr lang="en-US" sz="750" dirty="0"/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  ·  FINANCE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ACCOUNTING STAFF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Journal Entries (General Ledger)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11521440" cy="27432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2801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DIALOGS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572768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572768"/>
            <a:ext cx="36576" cy="59436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161848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Journal Entry Detail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181965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Read-only view of a posted entry with full line item breakdown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16" name="Text 14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Accounting Staff  ·  Journal Entries (General Ledger)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</a:t>
            </a:r>
            <a:endParaRPr lang="en-US" sz="750" dirty="0"/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ACCOUNTING STAFF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Accounts Receivable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36576" cy="7772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" y="1371600"/>
            <a:ext cx="11521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 all money owed to the school. Includes sales invoice management and an aging analysis by overdue buckets for collection monitoring.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212848"/>
            <a:ext cx="11521440" cy="274320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231136"/>
            <a:ext cx="11338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TABS: Sales Invoice  ·  AR Aging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2578608"/>
            <a:ext cx="530352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578608"/>
            <a:ext cx="530352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615184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" y="2898648"/>
            <a:ext cx="512064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 invoice creation with line items and due dates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Customer/student AR balance tracking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 matching and invoice settlement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 Aging by 30/60/90/120+ day buckets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Overdue invoice alerts and collection notes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852160" y="2578608"/>
            <a:ext cx="603504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2578608"/>
            <a:ext cx="6035040" cy="274320"/>
          </a:xfrm>
          <a:prstGeom prst="rect">
            <a:avLst/>
          </a:prstGeom>
          <a:solidFill>
            <a:srgbClr val="4A3728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0" y="2615184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943600" y="2898648"/>
            <a:ext cx="585216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Create a sales invoice for a customer or student billing event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Set the due date and payment terms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Monitor the AR aging report for overdue invoices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Record payment when customer pays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 Generate AR aging summary for management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2" name="Text 20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Accounting Staff  ·  Accounts Receivable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Finance</a:t>
            </a:r>
            <a:endParaRPr lang="en-US" sz="750" dirty="0"/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  ·  FINANCE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ACCOUNTING STAFF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Accounts Receivable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Sales Invoice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1152144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62763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FIELDS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Invoice Number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6" name="Text 14"/>
          <p:cNvSpPr/>
          <p:nvPr/>
        </p:nvSpPr>
        <p:spPr>
          <a:xfrm>
            <a:off x="422452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Invoice Date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9" name="Text 17"/>
          <p:cNvSpPr/>
          <p:nvPr/>
        </p:nvSpPr>
        <p:spPr>
          <a:xfrm>
            <a:off x="806500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Due Date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/ Student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5" name="Text 23"/>
          <p:cNvSpPr/>
          <p:nvPr/>
        </p:nvSpPr>
        <p:spPr>
          <a:xfrm>
            <a:off x="422452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Line Items: Item | Qty | Unit Price | Total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95528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5528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8" name="Text 26"/>
          <p:cNvSpPr/>
          <p:nvPr/>
        </p:nvSpPr>
        <p:spPr>
          <a:xfrm>
            <a:off x="806500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31" name="Text 29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Accounting Staff  ·  New Sales Invoice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</a:t>
            </a:r>
            <a:endParaRPr lang="en-US" sz="750" dirty="0"/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  ·  FINANCE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ACCOUNTING STAFF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Accounts Receivable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11521440" cy="27432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2801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DIALOGS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572768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572768"/>
            <a:ext cx="36576" cy="59436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161848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Invoice Detail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181965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invoice with payment history, balance due, and payment recording controls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74320" y="2414016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706624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706624"/>
            <a:ext cx="36576" cy="59436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275234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 Aging Report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" y="295351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Customer-by-customer aging breakdown with totals per bucket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1" name="Text 19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Accounting Staff  ·  Accounts Receivable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</a:t>
            </a:r>
            <a:endParaRPr lang="en-US" sz="750" dirty="0"/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ACCOUNTING STAFF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Accounts Payable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36576" cy="7772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" y="1371600"/>
            <a:ext cx="11521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 vendor invoices and the school's outstanding payment obligations. Track what is owed to suppliers and provide aging analysis for payment prioritization.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212848"/>
            <a:ext cx="11521440" cy="274320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231136"/>
            <a:ext cx="11338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TABS: Purchase Invoice  ·  AP Aging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2578608"/>
            <a:ext cx="530352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578608"/>
            <a:ext cx="530352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615184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" y="2898648"/>
            <a:ext cx="512064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Purchase invoice entry from vendor bills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 account coding per invoice line item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 scheduling and due date tracking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 Aging by vendor and aging bucket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 invoices as paid upon settlement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852160" y="2578608"/>
            <a:ext cx="603504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2578608"/>
            <a:ext cx="6035040" cy="274320"/>
          </a:xfrm>
          <a:prstGeom prst="rect">
            <a:avLst/>
          </a:prstGeom>
          <a:solidFill>
            <a:srgbClr val="4A3728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0" y="2615184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943600" y="2898648"/>
            <a:ext cx="585216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Receive a vendor bill and open Purchase Invoices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Enter the invoice with vendor, date, and line items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Code each line to the appropriate GL account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Schedule the payment based on vendor payment terms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 On payment date: mark invoice as paid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 Monitor AP aging for no overdue vendor payments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2" name="Text 20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Accounting Staff  ·  Accounts Payable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Finance</a:t>
            </a:r>
            <a:endParaRPr lang="en-US" sz="750" dirty="0"/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  ·  FINANCE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ACCOUNTING STAFF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Accounts Payable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Purchase Invoice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1152144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62763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FIELDS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Invoice Number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6" name="Text 14"/>
          <p:cNvSpPr/>
          <p:nvPr/>
        </p:nvSpPr>
        <p:spPr>
          <a:xfrm>
            <a:off x="422452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Vendor / Supplier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9" name="Text 17"/>
          <p:cNvSpPr/>
          <p:nvPr/>
        </p:nvSpPr>
        <p:spPr>
          <a:xfrm>
            <a:off x="806500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Invoice Date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Due Date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5" name="Text 23"/>
          <p:cNvSpPr/>
          <p:nvPr/>
        </p:nvSpPr>
        <p:spPr>
          <a:xfrm>
            <a:off x="422452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Line Items: Description | GL Account | Cost Center | Amount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8" name="Text 26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Accounting Staff  ·  New Purchase Invoice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</a:t>
            </a:r>
            <a:endParaRPr lang="en-US" sz="750" dirty="0"/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  ·  FINANCE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ACCOUNTING STAFF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Accounts Payable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11521440" cy="27432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2801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DIALOGS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572768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572768"/>
            <a:ext cx="36576" cy="59436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161848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 Recording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181965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 payment to vendor, select payment method, update status to Paid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74320" y="2414016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706624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706624"/>
            <a:ext cx="36576" cy="59436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275234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 Aging Report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" y="295351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Vendor-by-vendor aging breakdown with payment due prioritization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1" name="Text 19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Accounting Staff  ·  Accounts Payable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</a:t>
            </a:r>
            <a:endParaRPr lang="en-US" sz="750" dirty="0"/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ACCOUNTING STAFF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Financial Reports &amp; Statements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36576" cy="7772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" y="1371600"/>
            <a:ext cx="11521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suite of formal accounting statements — Trial Balance, Balance Sheet, Income Statement, and Cash Flow — each with period selection and export capability.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212848"/>
            <a:ext cx="11521440" cy="274320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231136"/>
            <a:ext cx="11338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TABS: Trial Balance  ·  Balance Sheet  ·  Income Statement  ·  Cash Flow Report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2578608"/>
            <a:ext cx="530352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578608"/>
            <a:ext cx="530352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615184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" y="2898648"/>
            <a:ext cx="512064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Trial Balance: debit/credit totals per GL account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Balance Sheet: Assets = Liabilities + Equity snapshot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Income Statement: Revenue − Expenses = Net Income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Cash Flow: Operating, Investing, and Financing activity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Period and date range selector for all statements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Comparative period columns (current vs. prior year)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Export to PDF and Excel for audit submissions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852160" y="2578608"/>
            <a:ext cx="603504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2578608"/>
            <a:ext cx="6035040" cy="274320"/>
          </a:xfrm>
          <a:prstGeom prst="rect">
            <a:avLst/>
          </a:prstGeom>
          <a:solidFill>
            <a:srgbClr val="4A3728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0" y="2615184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943600" y="2898648"/>
            <a:ext cx="585216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Navigate to Financial Reports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Select the desired statement type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Set the date range or as-of date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Review the generated statement on-screen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 Export to PDF for management or audit submission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2" name="Text 20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Accounting Staff  ·  Financial Reports &amp; Statements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Finance</a:t>
            </a:r>
            <a:endParaRPr lang="en-US" sz="750" dirty="0"/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NAVIGATION TABS  ·  FINANCE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ACCOUNTING STAFF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Financial Reports &amp; Statements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2588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2588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132588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1" name="Text 9"/>
          <p:cNvSpPr/>
          <p:nvPr/>
        </p:nvSpPr>
        <p:spPr>
          <a:xfrm>
            <a:off x="292608" y="164592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" y="137160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Trial Balance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" y="164592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 debit/credit totals verifying ledger balance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89320" y="132588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89320" y="132588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6" name="Shape 14"/>
          <p:cNvSpPr/>
          <p:nvPr/>
        </p:nvSpPr>
        <p:spPr>
          <a:xfrm>
            <a:off x="5989320" y="132588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7" name="Text 15"/>
          <p:cNvSpPr/>
          <p:nvPr/>
        </p:nvSpPr>
        <p:spPr>
          <a:xfrm>
            <a:off x="6007608" y="164592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36792" y="137160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Balance Sheet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36792" y="164592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Assets, liabilities, and equity as of a specific date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251460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51460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" y="251460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3" name="Text 21"/>
          <p:cNvSpPr/>
          <p:nvPr/>
        </p:nvSpPr>
        <p:spPr>
          <a:xfrm>
            <a:off x="292608" y="283464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" y="256032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Income Statement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1792" y="283464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Revenue and expenses yielding net income for a period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989320" y="251460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89320" y="251460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28" name="Shape 26"/>
          <p:cNvSpPr/>
          <p:nvPr/>
        </p:nvSpPr>
        <p:spPr>
          <a:xfrm>
            <a:off x="5989320" y="251460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9" name="Text 27"/>
          <p:cNvSpPr/>
          <p:nvPr/>
        </p:nvSpPr>
        <p:spPr>
          <a:xfrm>
            <a:off x="6007608" y="283464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36792" y="256032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Cash Flow Report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36792" y="283464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Operating, investing, and financing cash flows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34" name="Text 32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Accounting Staff  ·  Financial Reports &amp; Statements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Navigation Tabs</a:t>
            </a:r>
            <a:endParaRPr lang="en-US" sz="750" dirty="0"/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  ·  FINANCE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ACCOUNTING STAFF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Financial Reports &amp; Statements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11521440" cy="27432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2801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DIALOGS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572768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572768"/>
            <a:ext cx="36576" cy="59436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161848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Statement Preview &amp; Export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181965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On-screen preview with Print, Export PDF, and Export Excel buttons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74320" y="2414016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706624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706624"/>
            <a:ext cx="36576" cy="59436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275234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Trial Balance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" y="295351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Two-column debit/credit totals for all active GL accounts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3364992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364992"/>
            <a:ext cx="36576" cy="59436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341071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Balance Sheet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" y="36118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Standard balance sheet format with sub-totals per category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4023360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4023360"/>
            <a:ext cx="36576" cy="59436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5" name="Text 23"/>
          <p:cNvSpPr/>
          <p:nvPr/>
        </p:nvSpPr>
        <p:spPr>
          <a:xfrm>
            <a:off x="411480" y="406908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Income Statement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11480" y="427024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Revenue less expenses with gross profit and net income lines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" y="4681728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4681728"/>
            <a:ext cx="36576" cy="59436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9" name="Text 27"/>
          <p:cNvSpPr/>
          <p:nvPr/>
        </p:nvSpPr>
        <p:spPr>
          <a:xfrm>
            <a:off x="411480" y="4727448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Cash Flow Statement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11480" y="492861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Indirect method with operating, investing, and financing sections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33" name="Text 31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Accounting Staff  ·  Financial Reports &amp; Statements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</a:t>
            </a:r>
            <a:endParaRPr lang="en-US" sz="750" dirty="0"/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ACADEMIC ADMINISTRATION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ACCOUNTING STAFF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Books &amp; Library Setup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36576" cy="7772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" y="1371600"/>
            <a:ext cx="11521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Configure book packages assigned to each grade level. Packages are automatically included in the enrollment fee assessment and can be issued to enrolled students.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212848"/>
            <a:ext cx="11521440" cy="274320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231136"/>
            <a:ext cx="11338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TABS: Book Packages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2578608"/>
            <a:ext cx="530352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578608"/>
            <a:ext cx="530352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615184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" y="2898648"/>
            <a:ext cx="512064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Book package definition per grade level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Book title and price configuration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Automatic inclusion in enrollment assessment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Issuance tracking per enrolled student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852160" y="2578608"/>
            <a:ext cx="603504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2578608"/>
            <a:ext cx="6035040" cy="274320"/>
          </a:xfrm>
          <a:prstGeom prst="rect">
            <a:avLst/>
          </a:prstGeom>
          <a:solidFill>
            <a:srgbClr val="4A3728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0" y="2615184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943600" y="2898648"/>
            <a:ext cx="585216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Admin configures book packages per grade level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On enrollment: book package auto-added to fee assessment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Upon payment: book package marked as issued to the student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2" name="Text 20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Accounting Staff  ·  Books &amp; Library Setup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Academic Administration</a:t>
            </a:r>
            <a:endParaRPr lang="en-US" sz="750" dirty="0"/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  ·  ACADEMIC ADMINISTRATION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ACCOUNTING STAFF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Books &amp; Library Setup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Book Package Form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1152144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62763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FIELDS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Grade Level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6" name="Text 14"/>
          <p:cNvSpPr/>
          <p:nvPr/>
        </p:nvSpPr>
        <p:spPr>
          <a:xfrm>
            <a:off x="422452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Package Name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9" name="Text 17"/>
          <p:cNvSpPr/>
          <p:nvPr/>
        </p:nvSpPr>
        <p:spPr>
          <a:xfrm>
            <a:off x="806500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Books: Title | Publisher | Unit Price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Package Price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5" name="Text 23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Accounting Staff  ·  Book Package Form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</a:t>
            </a:r>
            <a:endParaRPr lang="en-US" sz="750" dirty="0"/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92240"/>
            <a:ext cx="5029200" cy="5486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0" y="0"/>
            <a:ext cx="7159752" cy="6858000"/>
          </a:xfrm>
          <a:prstGeom prst="rect">
            <a:avLst/>
          </a:prstGeom>
          <a:solidFill>
            <a:srgbClr val="FFFDF5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C5A059"/>
          </a:solidFill>
          <a:ln/>
        </p:spPr>
      </p:sp>
      <p:pic>
        <p:nvPicPr>
          <p:cNvPr id="6" name="Image 0" descr="C:\Users\VELOSO\Documents\GitHub\stsn-connect\public\stsn-cr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7432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34747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65760" y="13716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ROLE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365760" y="1691640"/>
            <a:ext cx="42976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Cashier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365760" y="361188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Collections — payment processing, receipts, and cashiering reports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303520" y="502920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RESPONSIBILITIES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303520" y="795528"/>
            <a:ext cx="649224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3" name="Text 10"/>
          <p:cNvSpPr/>
          <p:nvPr/>
        </p:nvSpPr>
        <p:spPr>
          <a:xfrm>
            <a:off x="5303520" y="914400"/>
            <a:ext cx="64922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1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 student payments for approved assessments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1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 and print official receipts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1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 daily collection queue and settlement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1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View and reprint collection history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1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 cashiering reports for reconciliation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16" name="Text 13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Cashier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 Overview</a:t>
            </a:r>
            <a:endParaRPr lang="en-US" sz="750" dirty="0"/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COLLECTIONS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CASHIER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Cashiering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36576" cy="7772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" y="1371600"/>
            <a:ext cx="11521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Point-of-collection interface for processing student payments. Cashiers receive payments for approved assessments, generate official receipts, view collection history, and produce cashiering reports for daily reconciliation.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212848"/>
            <a:ext cx="11521440" cy="274320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231136"/>
            <a:ext cx="11338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TABS: Payment Queue  ·  Collection History  ·  Reports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2578608"/>
            <a:ext cx="530352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578608"/>
            <a:ext cx="530352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615184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" y="2898648"/>
            <a:ext cx="512064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 queue for students with approved assessments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 entry with multiple payment methods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Official receipt generation with OR number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Partial payment recording with balance tracking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Collection history with OR search and reprint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Daily collection summary and cashier's report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852160" y="2578608"/>
            <a:ext cx="603504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2578608"/>
            <a:ext cx="6035040" cy="274320"/>
          </a:xfrm>
          <a:prstGeom prst="rect">
            <a:avLst/>
          </a:prstGeom>
          <a:solidFill>
            <a:srgbClr val="4A3728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0" y="2615184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943600" y="2898648"/>
            <a:ext cx="585216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Student presents to the cashier window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Search for the student in the Payment Queue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Review the approved assessment and payment schedule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Enter the payment amount and payment method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 System generates an Official Receipt (OR)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 Cashier prints and hands OR to the student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  At end of day, generate the Daily Collection Report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2" name="Text 20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Cashier  ·  Cashiering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Collections</a:t>
            </a:r>
            <a:endParaRPr lang="en-US" sz="750" dirty="0"/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NAVIGATION TABS  ·  COLLECTIONS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CASHIER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Cashiering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2588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2588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132588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1" name="Text 9"/>
          <p:cNvSpPr/>
          <p:nvPr/>
        </p:nvSpPr>
        <p:spPr>
          <a:xfrm>
            <a:off x="292608" y="164592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" y="137160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 Queue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" y="164592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Students with approved assessments ready for payment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89320" y="132588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89320" y="132588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6" name="Shape 14"/>
          <p:cNvSpPr/>
          <p:nvPr/>
        </p:nvSpPr>
        <p:spPr>
          <a:xfrm>
            <a:off x="5989320" y="132588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7" name="Text 15"/>
          <p:cNvSpPr/>
          <p:nvPr/>
        </p:nvSpPr>
        <p:spPr>
          <a:xfrm>
            <a:off x="6007608" y="164592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36792" y="137160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Collection History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36792" y="164592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posted payments with OR numbers and reprint option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251460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51460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" y="251460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3" name="Text 21"/>
          <p:cNvSpPr/>
          <p:nvPr/>
        </p:nvSpPr>
        <p:spPr>
          <a:xfrm>
            <a:off x="292608" y="283464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" y="256032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1792" y="283464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Daily collection report, bank deposit, and collection by type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8" name="Text 26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Cashier  ·  Cashiering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Navigation Tabs</a:t>
            </a:r>
            <a:endParaRPr lang="en-US" sz="750" dirty="0"/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  ·  COLLECTIONS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CASHIER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Cashiering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 Entry Form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1152144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62763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FIELDS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Name / ID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6" name="Text 14"/>
          <p:cNvSpPr/>
          <p:nvPr/>
        </p:nvSpPr>
        <p:spPr>
          <a:xfrm>
            <a:off x="422452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Assessment Reference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9" name="Text 17"/>
          <p:cNvSpPr/>
          <p:nvPr/>
        </p:nvSpPr>
        <p:spPr>
          <a:xfrm>
            <a:off x="806500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Amount to Pay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 Method (Cash / Check / Online)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5" name="Text 23"/>
          <p:cNvSpPr/>
          <p:nvPr/>
        </p:nvSpPr>
        <p:spPr>
          <a:xfrm>
            <a:off x="422452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 Number / Bank Reference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95528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5528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8" name="Text 26"/>
          <p:cNvSpPr/>
          <p:nvPr/>
        </p:nvSpPr>
        <p:spPr>
          <a:xfrm>
            <a:off x="806500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Cashier Name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008376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3008376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31" name="Text 29"/>
          <p:cNvSpPr/>
          <p:nvPr/>
        </p:nvSpPr>
        <p:spPr>
          <a:xfrm>
            <a:off x="384048" y="3063240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34" name="Text 32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Cashier  ·  Payment Entry Form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</a:t>
            </a:r>
            <a:endParaRPr lang="en-US" sz="750" dirty="0"/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  ·  COLLECTIONS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CASHIER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Cashiering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11521440" cy="27432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2801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DIALOGS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572768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572768"/>
            <a:ext cx="36576" cy="59436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161848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Official Receipt Preview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181965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Print-ready OR with OR number, school name, student name, amount, and payment details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231136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231136"/>
            <a:ext cx="36576" cy="59436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227685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Reprint Receipt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2478024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Reprint any previously issued receipt by OR number or student name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74320" y="307238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3364992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364992"/>
            <a:ext cx="36576" cy="59436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341071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Daily Collection Report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" y="36118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Summary of all payments collected on a specific date by payment method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4023360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4023360"/>
            <a:ext cx="36576" cy="59436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5" name="Text 23"/>
          <p:cNvSpPr/>
          <p:nvPr/>
        </p:nvSpPr>
        <p:spPr>
          <a:xfrm>
            <a:off x="411480" y="406908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Bank Deposit Summary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11480" y="427024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Breakdown of check and online payments for bank deposit preparation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" y="4681728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4681728"/>
            <a:ext cx="36576" cy="59436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9" name="Text 27"/>
          <p:cNvSpPr/>
          <p:nvPr/>
        </p:nvSpPr>
        <p:spPr>
          <a:xfrm>
            <a:off x="411480" y="4727448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Collection by Payment Type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11480" y="492861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Breakdown of cash, check, and online transfer collections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33" name="Text 31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Cashier  ·  Cashiering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</a:t>
            </a:r>
            <a:endParaRPr lang="en-US" sz="750" dirty="0"/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92240"/>
            <a:ext cx="5029200" cy="5486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0" y="0"/>
            <a:ext cx="7159752" cy="6858000"/>
          </a:xfrm>
          <a:prstGeom prst="rect">
            <a:avLst/>
          </a:prstGeom>
          <a:solidFill>
            <a:srgbClr val="FFFDF5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C5A059"/>
          </a:solidFill>
          <a:ln/>
        </p:spPr>
      </p:sp>
      <p:pic>
        <p:nvPicPr>
          <p:cNvPr id="6" name="Image 0" descr="C:\Users\VELOSO\Documents\GitHub\stsn-connect\public\stsn-cr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7432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34747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65760" y="13716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ROLE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365760" y="1691640"/>
            <a:ext cx="42976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Teacher / Faculty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365760" y="361188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Instruction — grade encoding, class management, online learning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303520" y="502920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RESPONSIBILITIES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303520" y="795528"/>
            <a:ext cx="649224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3" name="Text 10"/>
          <p:cNvSpPr/>
          <p:nvPr/>
        </p:nvSpPr>
        <p:spPr>
          <a:xfrm>
            <a:off x="5303520" y="914400"/>
            <a:ext cx="64922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1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 and submit student grades for assigned classes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1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View class rosters and student schedules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1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 grade items, weights, and grading periods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1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Reference curriculum and syllabus for planning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1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and manage online learning modules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16" name="Text 13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Teacher / Faculty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 Overview</a:t>
            </a:r>
            <a:endParaRPr lang="en-US" sz="750" dirty="0"/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INSTRUCTION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TEACHER / FACULTY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Teacher Board (Faculty Portal)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36576" cy="7772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" y="1371600"/>
            <a:ext cx="11521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Faculty-facing interface for accessing assigned classes, viewing schedules, and entering student grades — a focused view of teaching responsibilities for the current term.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212848"/>
            <a:ext cx="11521440" cy="274320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231136"/>
            <a:ext cx="11338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TABS: My Classes  ·  Schedule  ·  Students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2578608"/>
            <a:ext cx="530352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578608"/>
            <a:ext cx="530352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615184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" y="2898648"/>
            <a:ext cx="512064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 Classes list with subject, section, schedule, and student count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 roster with enrolled students per subject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Grade encoding access per subject from the class card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Teaching schedule overview by day and time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 navigation to grade sheets for each class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852160" y="2578608"/>
            <a:ext cx="603504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2578608"/>
            <a:ext cx="6035040" cy="274320"/>
          </a:xfrm>
          <a:prstGeom prst="rect">
            <a:avLst/>
          </a:prstGeom>
          <a:solidFill>
            <a:srgbClr val="4A3728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0" y="2615184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943600" y="2898648"/>
            <a:ext cx="585216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Teacher logs in and sees My Classes list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Reviews the teaching schedule for the current week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Clicks a class card to view the roster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Clicks 'Grade Encoding' to open the grade sheet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 Enters grades for each student and saves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2" name="Text 20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Teacher / Faculty  ·  Teacher Board (Faculty Portal)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Instruction</a:t>
            </a:r>
            <a:endParaRPr lang="en-US" sz="750" dirty="0"/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NAVIGATION TABS  ·  INSTRUCTION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TEACHER / FACULTY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Teacher Board (Faculty Portal)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2588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2588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132588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1" name="Text 9"/>
          <p:cNvSpPr/>
          <p:nvPr/>
        </p:nvSpPr>
        <p:spPr>
          <a:xfrm>
            <a:off x="292608" y="164592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" y="137160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 Classes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" y="164592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subjects assigned to the teacher for the current term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89320" y="132588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89320" y="132588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6" name="Shape 14"/>
          <p:cNvSpPr/>
          <p:nvPr/>
        </p:nvSpPr>
        <p:spPr>
          <a:xfrm>
            <a:off x="5989320" y="132588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7" name="Text 15"/>
          <p:cNvSpPr/>
          <p:nvPr/>
        </p:nvSpPr>
        <p:spPr>
          <a:xfrm>
            <a:off x="6007608" y="164592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36792" y="137160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36792" y="164592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Weekly teaching schedule: day, time, subject, and room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251460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51460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" y="251460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3" name="Text 21"/>
          <p:cNvSpPr/>
          <p:nvPr/>
        </p:nvSpPr>
        <p:spPr>
          <a:xfrm>
            <a:off x="292608" y="283464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" y="256032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1792" y="283464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Combined student roster across all assigned classes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8" name="Text 26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Teacher / Faculty  ·  Teacher Board (Faculty Portal)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Navigation Tabs</a:t>
            </a:r>
            <a:endParaRPr lang="en-US" sz="750" dirty="0"/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INSTRUCTION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TEACHER / FACULTY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Grade Encoding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36576" cy="7772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" y="1371600"/>
            <a:ext cx="11521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Spreadsheet-style interface for entering student grades by grading period. Teachers configure grade items, set weights, and input scores that are automatically computed into final grades.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212848"/>
            <a:ext cx="11521440" cy="274320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231136"/>
            <a:ext cx="11338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TABS: Grade Sheet  ·  Grade Summary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2578608"/>
            <a:ext cx="530352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578608"/>
            <a:ext cx="530352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615184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" y="2898648"/>
            <a:ext cx="512064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Grade sheet table: one row per student, one column per grade item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Grading period selector (1st–4th Quarter or Midterm/Finals)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Grade item management: quizzes, activities, exams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Weight configuration per grade component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Auto-computation of weighted averages and final grades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Grade summary view showing all periods and overall final grade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Submit grades for registrar review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852160" y="2578608"/>
            <a:ext cx="603504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2578608"/>
            <a:ext cx="6035040" cy="274320"/>
          </a:xfrm>
          <a:prstGeom prst="rect">
            <a:avLst/>
          </a:prstGeom>
          <a:solidFill>
            <a:srgbClr val="4A3728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0" y="2615184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943600" y="2898648"/>
            <a:ext cx="585216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Open Grade Encoding from the Teacher Board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Select subject, section, and grading period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Add grade items with categories and weights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Input student scores in the grade sheet cells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 System computes weighted averages automatically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 Review the grade summary and submit the grade sheet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2" name="Text 20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Teacher / Faculty  ·  Grade Encoding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Instruction</a:t>
            </a:r>
            <a:endParaRPr lang="en-US" sz="750" dirty="0"/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  ·  INSTRUCTION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TEACHER / FACULTY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Grade Encoding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Grade Item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1152144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62763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FIELDS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Item Name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6" name="Text 14"/>
          <p:cNvSpPr/>
          <p:nvPr/>
        </p:nvSpPr>
        <p:spPr>
          <a:xfrm>
            <a:off x="422452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Category (Written Work / Performance Task / Periodic Assessment)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9" name="Text 17"/>
          <p:cNvSpPr/>
          <p:nvPr/>
        </p:nvSpPr>
        <p:spPr>
          <a:xfrm>
            <a:off x="806500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Maximum Score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Weight (%)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5" name="Text 23"/>
          <p:cNvSpPr/>
          <p:nvPr/>
        </p:nvSpPr>
        <p:spPr>
          <a:xfrm>
            <a:off x="422452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Grading Period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8" name="Text 26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Teacher / Faculty  ·  Add Grade Item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</a:t>
            </a:r>
            <a:endParaRPr lang="en-US" sz="750" dirty="0"/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  ·  INSTRUCTION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TEACHER / FACULTY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Grade Encoding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Grade Weights Setup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1152144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62763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FIELDS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Written Work Weight (%)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6" name="Text 14"/>
          <p:cNvSpPr/>
          <p:nvPr/>
        </p:nvSpPr>
        <p:spPr>
          <a:xfrm>
            <a:off x="422452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Performance Tasks Weight (%)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9" name="Text 17"/>
          <p:cNvSpPr/>
          <p:nvPr/>
        </p:nvSpPr>
        <p:spPr>
          <a:xfrm>
            <a:off x="806500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Periodic Assessment Weight (%)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Apply to: Current Period / All Periods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5" name="Text 23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Teacher / Faculty  ·  Grade Weights Setup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</a:t>
            </a:r>
            <a:endParaRPr lang="en-US" sz="750" dirty="0"/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  ·  INSTRUCTION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TEACHER / FACULTY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Grade Encoding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11521440" cy="27432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2801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DIALOGS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572768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572768"/>
            <a:ext cx="36576" cy="59436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161848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Grade Item Modal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181965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a new grade component to the current grade sheet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231136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231136"/>
            <a:ext cx="36576" cy="59436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227685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 Grade Weights Modal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2478024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Configure percentage weight per grade category per grading period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889504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889504"/>
            <a:ext cx="36576" cy="59436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2935224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Submit Grades Confirmation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1480" y="313639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Confirmation before submitting the finalized grade sheet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4" name="Text 22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Teacher / Faculty  ·  Grade Encoding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</a:t>
            </a:r>
            <a:endParaRPr lang="en-US" sz="750" dirty="0"/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ACADEMIC ADMINISTRATION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TEACHER / FACULTY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Curriculum / Syllabus Pathways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36576" cy="7772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" y="1371600"/>
            <a:ext cx="11521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Define academic subject pathways for each grade level, program, and academic unit. Serves as the master reference for offered subjects and prerequisite chains.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212848"/>
            <a:ext cx="11521440" cy="274320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231136"/>
            <a:ext cx="11338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TABS: Subject Catalog  ·  Curriculum Matrix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2578608"/>
            <a:ext cx="530352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578608"/>
            <a:ext cx="530352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615184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" y="2898648"/>
            <a:ext cx="512064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Subject catalog with code, title, and unit credits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Grade-level-to-subject mapping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Program track assignment (Science, Arts, ABM, HUMSS, etc.)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Prerequisite chain configuration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Curriculum view by academic unit (Basic Ed vs. College)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Export curriculum matrix to CSV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852160" y="2578608"/>
            <a:ext cx="603504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2578608"/>
            <a:ext cx="6035040" cy="274320"/>
          </a:xfrm>
          <a:prstGeom prst="rect">
            <a:avLst/>
          </a:prstGeom>
          <a:solidFill>
            <a:srgbClr val="4A3728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0" y="2615184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943600" y="2898648"/>
            <a:ext cx="585216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Open Curriculum module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Select the academic unit and program track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Add subjects to the appropriate grade/year level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Set prerequisites where applicable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 Publish as reference for enrollment and scheduling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2" name="Text 20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Teacher / Faculty  ·  Curriculum / Syllabus Pathways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Academic Administration</a:t>
            </a:r>
            <a:endParaRPr lang="en-US" sz="750" dirty="0"/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  ·  ACADEMIC ADMINISTRATION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TEACHER / FACULTY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Curriculum / Syllabus Pathways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Subject Form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1152144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62763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FIELDS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Subject Code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6" name="Text 14"/>
          <p:cNvSpPr/>
          <p:nvPr/>
        </p:nvSpPr>
        <p:spPr>
          <a:xfrm>
            <a:off x="422452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Subject Title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9" name="Text 17"/>
          <p:cNvSpPr/>
          <p:nvPr/>
        </p:nvSpPr>
        <p:spPr>
          <a:xfrm>
            <a:off x="806500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Units/Credits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Grade Level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5" name="Text 23"/>
          <p:cNvSpPr/>
          <p:nvPr/>
        </p:nvSpPr>
        <p:spPr>
          <a:xfrm>
            <a:off x="422452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Program Track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95528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5528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8" name="Text 26"/>
          <p:cNvSpPr/>
          <p:nvPr/>
        </p:nvSpPr>
        <p:spPr>
          <a:xfrm>
            <a:off x="806500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Academic Unit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008376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3008376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31" name="Text 29"/>
          <p:cNvSpPr/>
          <p:nvPr/>
        </p:nvSpPr>
        <p:spPr>
          <a:xfrm>
            <a:off x="384048" y="3063240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Prerequisites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34" name="Text 32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Teacher / Faculty  ·  Add Subject Form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</a:t>
            </a:r>
            <a:endParaRPr lang="en-US" sz="750" dirty="0"/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INSTRUCTION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TEACHER / FACULTY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Online Learning (LMS)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36576" cy="7772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" y="1371600"/>
            <a:ext cx="11521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Integrated LMS for teachers and students. Teachers organize modules and resources; students access video lessons, complete activities, and track their learning progress.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212848"/>
            <a:ext cx="11521440" cy="274320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231136"/>
            <a:ext cx="11338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TABS: Modules  ·  My Progress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2578608"/>
            <a:ext cx="530352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578608"/>
            <a:ext cx="530352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615184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" y="2898648"/>
            <a:ext cx="512064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and lesson organization by subject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Video lesson player with progress tracking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Downloadable learning materials and resources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Activity and quiz access within each module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Completion tracking per student per module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Teacher view of student progress and completion rates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852160" y="2578608"/>
            <a:ext cx="603504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2578608"/>
            <a:ext cx="6035040" cy="274320"/>
          </a:xfrm>
          <a:prstGeom prst="rect">
            <a:avLst/>
          </a:prstGeom>
          <a:solidFill>
            <a:srgbClr val="4A3728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0" y="2615184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943600" y="2898648"/>
            <a:ext cx="585216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Teacher creates a learning module with title and subject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Adds lessons (video, PDF, activities) to the module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Publishes the module for student access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Students navigate to Online Learning and see assigned modules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 Students watch lessons, download materials, complete activities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 Progress tracked automatically — teacher views completion rates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2" name="Text 20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Teacher / Faculty  ·  Online Learning (LMS)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Instruction</a:t>
            </a:r>
            <a:endParaRPr lang="en-US" sz="750" dirty="0"/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  ·  INSTRUCTION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TEACHER / FACULTY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Online Learning (LMS)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Module Form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1152144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62763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FIELDS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Title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6" name="Text 14"/>
          <p:cNvSpPr/>
          <p:nvPr/>
        </p:nvSpPr>
        <p:spPr>
          <a:xfrm>
            <a:off x="422452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Subject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9" name="Text 17"/>
          <p:cNvSpPr/>
          <p:nvPr/>
        </p:nvSpPr>
        <p:spPr>
          <a:xfrm>
            <a:off x="806500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Grade Level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5" name="Text 23"/>
          <p:cNvSpPr/>
          <p:nvPr/>
        </p:nvSpPr>
        <p:spPr>
          <a:xfrm>
            <a:off x="422452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Publish Status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8" name="Text 26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Teacher / Faculty  ·  Create Module Form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</a:t>
            </a:r>
            <a:endParaRPr lang="en-US" sz="750" dirty="0"/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  ·  INSTRUCTION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TEACHER / FACULTY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Online Learning (LMS)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Lesson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1152144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62763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FIELDS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Lesson Title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6" name="Text 14"/>
          <p:cNvSpPr/>
          <p:nvPr/>
        </p:nvSpPr>
        <p:spPr>
          <a:xfrm>
            <a:off x="422452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Content Type (Video / PDF / Link / Activity)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9" name="Text 17"/>
          <p:cNvSpPr/>
          <p:nvPr/>
        </p:nvSpPr>
        <p:spPr>
          <a:xfrm>
            <a:off x="806500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URL or File Upload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 Number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5" name="Text 23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Teacher / Faculty  ·  Add Lesson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</a:t>
            </a:r>
            <a:endParaRPr lang="en-US" sz="750" dirty="0"/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92240"/>
            <a:ext cx="5029200" cy="5486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0" y="0"/>
            <a:ext cx="7159752" cy="6858000"/>
          </a:xfrm>
          <a:prstGeom prst="rect">
            <a:avLst/>
          </a:prstGeom>
          <a:solidFill>
            <a:srgbClr val="FFFDF5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C5A059"/>
          </a:solidFill>
          <a:ln/>
        </p:spPr>
      </p:sp>
      <p:pic>
        <p:nvPicPr>
          <p:cNvPr id="6" name="Image 0" descr="C:\Users\VELOSO\Documents\GitHub\stsn-connect\public\stsn-cr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7432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34747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65760" y="13716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ROLE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365760" y="1691640"/>
            <a:ext cx="42976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365760" y="361188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Self-service portal — grades, fees, profile, enrollment, e-learning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303520" y="502920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RESPONSIBILITIES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303520" y="795528"/>
            <a:ext cx="649224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3" name="Text 10"/>
          <p:cNvSpPr/>
          <p:nvPr/>
        </p:nvSpPr>
        <p:spPr>
          <a:xfrm>
            <a:off x="5303520" y="914400"/>
            <a:ext cx="64922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1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View personal academic records and report card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1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 financial ledger and outstanding balances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1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Update personal profile and health information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1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online learning modules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1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 self-service enrollment for the next term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1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Book consultation appointments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16" name="Text 13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 Overview</a:t>
            </a:r>
            <a:endParaRPr lang="en-US" sz="750" dirty="0"/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SELF-SERVICE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Portal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36576" cy="7772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" y="1371600"/>
            <a:ext cx="11521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 self-service hub for enrolled students — enrollment records, academic report card, financial ledger, personal profile, online learning, and self-service enrollment in a single tabbed interface.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212848"/>
            <a:ext cx="11521440" cy="274320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231136"/>
            <a:ext cx="11338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TABS: Records Overview  ·  Academic Report Card  ·  Financial Ledger  ·  Student Profile  ·  Online Learning  ·  Enrollment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2578608"/>
            <a:ext cx="530352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578608"/>
            <a:ext cx="530352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615184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" y="2898648"/>
            <a:ext cx="512064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Records Overview: enrollment status, GPA, fee balance, important dates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Academic Report Card: grades by subject and period with GPA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Financial Ledger: fee breakdown, payment history, and balance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Profile: personal details, emergency contacts, health info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Online Learning: LMS module browser and progress tracker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Enrollment: self-service enrollment form for the next term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852160" y="2578608"/>
            <a:ext cx="603504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2578608"/>
            <a:ext cx="6035040" cy="274320"/>
          </a:xfrm>
          <a:prstGeom prst="rect">
            <a:avLst/>
          </a:prstGeom>
          <a:solidFill>
            <a:srgbClr val="4A3728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0" y="2615184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943600" y="2898648"/>
            <a:ext cx="585216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Student logs in and lands on Records Overview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Checks enrollment status and GPA summary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Navigates to Academic Report Card to view grades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Checks Financial Ledger for outstanding balance and payment history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 Updates personal profile if needed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 Files self-service enrollment for the next term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2" name="Text 20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 ·  Student Portal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Self-Service</a:t>
            </a:r>
            <a:endParaRPr lang="en-US" sz="750" dirty="0"/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NAVIGATION TABS  ·  STUDENT SELF-SERVICE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Portal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2588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2588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132588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1" name="Text 9"/>
          <p:cNvSpPr/>
          <p:nvPr/>
        </p:nvSpPr>
        <p:spPr>
          <a:xfrm>
            <a:off x="292608" y="164592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" y="137160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Records Overview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" y="164592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Enrollment status dashboard with KPI cards and upcoming deadlines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89320" y="132588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89320" y="132588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6" name="Shape 14"/>
          <p:cNvSpPr/>
          <p:nvPr/>
        </p:nvSpPr>
        <p:spPr>
          <a:xfrm>
            <a:off x="5989320" y="132588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7" name="Text 15"/>
          <p:cNvSpPr/>
          <p:nvPr/>
        </p:nvSpPr>
        <p:spPr>
          <a:xfrm>
            <a:off x="6007608" y="164592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36792" y="137160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Academic Report Card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36792" y="164592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Grade summary per subject and grading period with GPA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251460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51460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" y="251460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3" name="Text 21"/>
          <p:cNvSpPr/>
          <p:nvPr/>
        </p:nvSpPr>
        <p:spPr>
          <a:xfrm>
            <a:off x="292608" y="283464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" y="256032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Financial Ledger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1792" y="283464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Fee breakdown, payment history, and remaining balance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989320" y="251460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89320" y="251460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28" name="Shape 26"/>
          <p:cNvSpPr/>
          <p:nvPr/>
        </p:nvSpPr>
        <p:spPr>
          <a:xfrm>
            <a:off x="5989320" y="251460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9" name="Text 27"/>
          <p:cNvSpPr/>
          <p:nvPr/>
        </p:nvSpPr>
        <p:spPr>
          <a:xfrm>
            <a:off x="6007608" y="283464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36792" y="256032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Profile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36792" y="283464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Personal info, emergency contacts, and health profile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74320" y="370332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370332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34" name="Shape 32"/>
          <p:cNvSpPr/>
          <p:nvPr/>
        </p:nvSpPr>
        <p:spPr>
          <a:xfrm>
            <a:off x="274320" y="370332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35" name="Text 33"/>
          <p:cNvSpPr/>
          <p:nvPr/>
        </p:nvSpPr>
        <p:spPr>
          <a:xfrm>
            <a:off x="292608" y="402336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1792" y="374904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Online Learning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1792" y="402336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LMS module access with video lessons and completion tracking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989320" y="370332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989320" y="370332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40" name="Shape 38"/>
          <p:cNvSpPr/>
          <p:nvPr/>
        </p:nvSpPr>
        <p:spPr>
          <a:xfrm>
            <a:off x="5989320" y="370332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1" name="Text 39"/>
          <p:cNvSpPr/>
          <p:nvPr/>
        </p:nvSpPr>
        <p:spPr>
          <a:xfrm>
            <a:off x="6007608" y="402336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336792" y="374904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Enrollment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336792" y="402336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Self-service enrollment form with subject selection and requirements upload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46" name="Text 44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 ·  Student Portal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Navigation Tabs</a:t>
            </a:r>
            <a:endParaRPr lang="en-US" sz="750" dirty="0"/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  ·  STUDENT SELF-SERVICE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Portal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Self-Service Enrollment Form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1152144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62763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FIELDS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Academic Year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6" name="Text 14"/>
          <p:cNvSpPr/>
          <p:nvPr/>
        </p:nvSpPr>
        <p:spPr>
          <a:xfrm>
            <a:off x="422452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Grade Level / Year Level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9" name="Text 17"/>
          <p:cNvSpPr/>
          <p:nvPr/>
        </p:nvSpPr>
        <p:spPr>
          <a:xfrm>
            <a:off x="806500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Program / Track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Subject Selection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5" name="Text 23"/>
          <p:cNvSpPr/>
          <p:nvPr/>
        </p:nvSpPr>
        <p:spPr>
          <a:xfrm>
            <a:off x="422452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 Terms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95528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5528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8" name="Text 26"/>
          <p:cNvSpPr/>
          <p:nvPr/>
        </p:nvSpPr>
        <p:spPr>
          <a:xfrm>
            <a:off x="806500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Upload: Form 138, Good Moral, PSA Birth Cert, Medical Cert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31" name="Text 29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 ·  Self-Service Enrollment Form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</a:t>
            </a:r>
            <a:endParaRPr lang="en-US" sz="750" dirty="0"/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  ·  STUDENT SELF-SERVICE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Portal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Profile Update Form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1152144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62763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FIELDS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Personal Details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6" name="Text 14"/>
          <p:cNvSpPr/>
          <p:nvPr/>
        </p:nvSpPr>
        <p:spPr>
          <a:xfrm>
            <a:off x="422452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Address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9" name="Text 17"/>
          <p:cNvSpPr/>
          <p:nvPr/>
        </p:nvSpPr>
        <p:spPr>
          <a:xfrm>
            <a:off x="806500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Contact Number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Emergency Contact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5" name="Text 23"/>
          <p:cNvSpPr/>
          <p:nvPr/>
        </p:nvSpPr>
        <p:spPr>
          <a:xfrm>
            <a:off x="422452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Blood Type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95528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5528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8" name="Text 26"/>
          <p:cNvSpPr/>
          <p:nvPr/>
        </p:nvSpPr>
        <p:spPr>
          <a:xfrm>
            <a:off x="806500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Allergies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008376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3008376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31" name="Text 29"/>
          <p:cNvSpPr/>
          <p:nvPr/>
        </p:nvSpPr>
        <p:spPr>
          <a:xfrm>
            <a:off x="384048" y="3063240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Chronic Conditions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34" name="Text 32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 ·  Profile Update Form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</a:t>
            </a:r>
            <a:endParaRPr lang="en-US" sz="750" dirty="0"/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  ·  STUDENT SELF-SERVICE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Portal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11521440" cy="27432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2801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DIALOGS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572768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572768"/>
            <a:ext cx="36576" cy="59436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161848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Statement of Account Preview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181965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Downloadable SOA in PDF with all fees, discounts, and payments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231136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231136"/>
            <a:ext cx="36576" cy="59436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227685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Grade Detail Drill-down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2478024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view of a subject's grade breakdown by component and period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0" name="Text 18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 ·  Student Portal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</a:t>
            </a:r>
            <a:endParaRPr lang="en-US" sz="750" dirty="0"/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INSTRUCTION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Online Learning (LMS)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36576" cy="7772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" y="1371600"/>
            <a:ext cx="11521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Integrated LMS for teachers and students. Teachers organize modules and resources; students access video lessons, complete activities, and track their learning progress.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212848"/>
            <a:ext cx="11521440" cy="274320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231136"/>
            <a:ext cx="11338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TABS: Modules  ·  My Progress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2578608"/>
            <a:ext cx="530352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578608"/>
            <a:ext cx="530352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615184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" y="2898648"/>
            <a:ext cx="512064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and lesson organization by subject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Video lesson player with progress tracking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Downloadable learning materials and resources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Activity and quiz access within each module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Completion tracking per student per module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Teacher view of student progress and completion rates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852160" y="2578608"/>
            <a:ext cx="603504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2578608"/>
            <a:ext cx="6035040" cy="274320"/>
          </a:xfrm>
          <a:prstGeom prst="rect">
            <a:avLst/>
          </a:prstGeom>
          <a:solidFill>
            <a:srgbClr val="4A3728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0" y="2615184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943600" y="2898648"/>
            <a:ext cx="585216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Teacher creates a learning module with title and subject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Adds lessons (video, PDF, activities) to the module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Publishes the module for student access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Students navigate to Online Learning and see assigned modules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 Students watch lessons, download materials, complete activities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 Progress tracked automatically — teacher views completion rates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2" name="Text 20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 ·  Online Learning (LMS)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Instruction</a:t>
            </a:r>
            <a:endParaRPr lang="en-US" sz="750" dirty="0"/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  ·  INSTRUCTION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Online Learning (LMS)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Module Form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1152144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62763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FIELDS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Title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6" name="Text 14"/>
          <p:cNvSpPr/>
          <p:nvPr/>
        </p:nvSpPr>
        <p:spPr>
          <a:xfrm>
            <a:off x="422452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Subject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9" name="Text 17"/>
          <p:cNvSpPr/>
          <p:nvPr/>
        </p:nvSpPr>
        <p:spPr>
          <a:xfrm>
            <a:off x="806500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Grade Level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5" name="Text 23"/>
          <p:cNvSpPr/>
          <p:nvPr/>
        </p:nvSpPr>
        <p:spPr>
          <a:xfrm>
            <a:off x="422452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Publish Status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8" name="Text 26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 ·  Create Module Form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</a:t>
            </a:r>
            <a:endParaRPr lang="en-US" sz="750" dirty="0"/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  ·  INSTRUCTION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Online Learning (LMS)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Lesson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1152144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62763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FIELDS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Lesson Title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6" name="Text 14"/>
          <p:cNvSpPr/>
          <p:nvPr/>
        </p:nvSpPr>
        <p:spPr>
          <a:xfrm>
            <a:off x="422452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Content Type (Video / PDF / Link / Activity)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9" name="Text 17"/>
          <p:cNvSpPr/>
          <p:nvPr/>
        </p:nvSpPr>
        <p:spPr>
          <a:xfrm>
            <a:off x="806500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URL or File Upload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 Number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5" name="Text 23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 ·  Add Lesson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</a:t>
            </a:r>
            <a:endParaRPr lang="en-US" sz="750" dirty="0"/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HEALTH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Consultation (Appointments)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36576" cy="7772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" y="1371600"/>
            <a:ext cx="11521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 appointment bookings between students/parents and school staff (guidance, nurses, teachers). Calendar-based scheduling with consultation notes.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212848"/>
            <a:ext cx="11521440" cy="274320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231136"/>
            <a:ext cx="11338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TABS: Appointments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2578608"/>
            <a:ext cx="530352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578608"/>
            <a:ext cx="530352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615184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" y="2898648"/>
            <a:ext cx="512064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Appointment booking with staff and time slot selection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Appointment calendar view by day and week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Consultation notes logged after the appointment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Status: Pending, Confirmed, Completed, Cancelled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Online booking by students through Student Portal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852160" y="2578608"/>
            <a:ext cx="603504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2578608"/>
            <a:ext cx="6035040" cy="274320"/>
          </a:xfrm>
          <a:prstGeom prst="rect">
            <a:avLst/>
          </a:prstGeom>
          <a:solidFill>
            <a:srgbClr val="4A3728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0" y="2615184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943600" y="2898648"/>
            <a:ext cx="585216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Student books a consultation through the Student Portal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Staff member confirms the appointment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On the appointment date: staff conducts the consultation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Staff logs consultation notes and marks Completed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2" name="Text 20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 ·  Consultation (Appointments)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Health</a:t>
            </a:r>
            <a:endParaRPr lang="en-US" sz="750" dirty="0"/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  ·  STUDENT HEALTH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Consultation (Appointments)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Book Appointment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1152144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62763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FIELDS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Staff Member / Department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6" name="Text 14"/>
          <p:cNvSpPr/>
          <p:nvPr/>
        </p:nvSpPr>
        <p:spPr>
          <a:xfrm>
            <a:off x="422452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Appointment Date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9" name="Text 17"/>
          <p:cNvSpPr/>
          <p:nvPr/>
        </p:nvSpPr>
        <p:spPr>
          <a:xfrm>
            <a:off x="806500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 Slot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Purpose / Concern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5" name="Text 23"/>
          <p:cNvSpPr/>
          <p:nvPr/>
        </p:nvSpPr>
        <p:spPr>
          <a:xfrm>
            <a:off x="422452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8" name="Text 26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 ·  Book Appointment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</a:t>
            </a:r>
            <a:endParaRPr lang="en-US" sz="750" dirty="0"/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  ·  STUDENT HEALTH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Consultation (Appointments)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11521440" cy="27432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2801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DIALOGS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572768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572768"/>
            <a:ext cx="36576" cy="59436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161848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Appointment Detail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181965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Appointment view with consultation notes and status update controls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16" name="Text 14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 ·  Consultation (Appointments)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</a:t>
            </a:r>
            <a:endParaRPr lang="en-US" sz="750" dirty="0"/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92240"/>
            <a:ext cx="5029200" cy="5486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0" y="0"/>
            <a:ext cx="7159752" cy="6858000"/>
          </a:xfrm>
          <a:prstGeom prst="rect">
            <a:avLst/>
          </a:prstGeom>
          <a:solidFill>
            <a:srgbClr val="FFFDF5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C5A059"/>
          </a:solidFill>
          <a:ln/>
        </p:spPr>
      </p:sp>
      <p:pic>
        <p:nvPicPr>
          <p:cNvPr id="6" name="Image 0" descr="C:\Users\VELOSO\Documents\GitHub\stsn-connect\public\stsn-cr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7432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34747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65760" y="13716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ROLE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365760" y="1691640"/>
            <a:ext cx="42976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 Manager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365760" y="361188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Human resources — workforce, attendance, leave, recruitment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303520" y="502920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RESPONSIBILITIES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303520" y="795528"/>
            <a:ext cx="649224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3" name="Text 10"/>
          <p:cNvSpPr/>
          <p:nvPr/>
        </p:nvSpPr>
        <p:spPr>
          <a:xfrm>
            <a:off x="5303520" y="914400"/>
            <a:ext cx="64922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1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Maintain complete employee records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1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 daily attendance and time records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1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Configure shifts and work schedules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1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 leave applications and approvals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1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 recruitment pipelines and onboarding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1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 HR-related pending actions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16" name="Text 13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 Manager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 Overview</a:t>
            </a:r>
            <a:endParaRPr lang="en-US" sz="750" dirty="0"/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 MANAGEMENT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 MANAGER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 Center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36576" cy="7772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" y="1371600"/>
            <a:ext cx="11521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Unified approval queue consolidating all pending workflow items across every module — enrollments, discounts, leave requests, assessment approvals, and payroll runs — in one place.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212848"/>
            <a:ext cx="11521440" cy="274320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231136"/>
            <a:ext cx="11338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TABS: All Pending  ·  Enrollments  ·  Assessments  ·  Discounts  ·  Leave Requests  ·  Payroll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2578608"/>
            <a:ext cx="530352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578608"/>
            <a:ext cx="530352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615184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" y="2898648"/>
            <a:ext cx="512064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Unified queue for all pending approvals across modules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Filter by module type, date range, priority, and submitter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Bulk approve or reject multiple items simultaneously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Contextual detail panel with full request information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approval notes or rejection reasons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badge count showing pending items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Escalation indicators for SLA-breached items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 approval trail with actor and timestamp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852160" y="2578608"/>
            <a:ext cx="603504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2578608"/>
            <a:ext cx="6035040" cy="274320"/>
          </a:xfrm>
          <a:prstGeom prst="rect">
            <a:avLst/>
          </a:prstGeom>
          <a:solidFill>
            <a:srgbClr val="4A3728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0" y="2615184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943600" y="2898648"/>
            <a:ext cx="585216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Navigate to Action Center from the sidebar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System displays all items the user is authorized to approve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Apply filters to narrow down by type or date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Click a pending item to view the full detail panel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 Add a note, then approve or reject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 System sends item to next approval level or marks complete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  Action is logged in the audit trail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2" name="Text 20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 Manager  ·  Action Center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 Management</a:t>
            </a:r>
            <a:endParaRPr lang="en-US" sz="750" dirty="0"/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NAVIGATION TABS  ·  WORKFLOW MANAGEMENT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 MANAGER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 Center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2588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2588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132588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1" name="Text 9"/>
          <p:cNvSpPr/>
          <p:nvPr/>
        </p:nvSpPr>
        <p:spPr>
          <a:xfrm>
            <a:off x="292608" y="164592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" y="137160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Pending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" y="164592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Consolidated queue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89320" y="132588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89320" y="132588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6" name="Shape 14"/>
          <p:cNvSpPr/>
          <p:nvPr/>
        </p:nvSpPr>
        <p:spPr>
          <a:xfrm>
            <a:off x="5989320" y="132588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7" name="Text 15"/>
          <p:cNvSpPr/>
          <p:nvPr/>
        </p:nvSpPr>
        <p:spPr>
          <a:xfrm>
            <a:off x="6007608" y="164592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36792" y="137160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Enrollments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36792" y="164592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Awaiting registrar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251460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51460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" y="251460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3" name="Text 21"/>
          <p:cNvSpPr/>
          <p:nvPr/>
        </p:nvSpPr>
        <p:spPr>
          <a:xfrm>
            <a:off x="292608" y="283464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" y="256032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Assessments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1792" y="283464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Awaiting accounting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989320" y="251460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89320" y="251460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28" name="Shape 26"/>
          <p:cNvSpPr/>
          <p:nvPr/>
        </p:nvSpPr>
        <p:spPr>
          <a:xfrm>
            <a:off x="5989320" y="251460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9" name="Text 27"/>
          <p:cNvSpPr/>
          <p:nvPr/>
        </p:nvSpPr>
        <p:spPr>
          <a:xfrm>
            <a:off x="6007608" y="283464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36792" y="256032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Discounts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36792" y="283464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Awaiting approval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74320" y="370332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370332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34" name="Shape 32"/>
          <p:cNvSpPr/>
          <p:nvPr/>
        </p:nvSpPr>
        <p:spPr>
          <a:xfrm>
            <a:off x="274320" y="370332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35" name="Text 33"/>
          <p:cNvSpPr/>
          <p:nvPr/>
        </p:nvSpPr>
        <p:spPr>
          <a:xfrm>
            <a:off x="292608" y="402336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1792" y="374904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Leave Requests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1792" y="402336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Awaiting supervisor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989320" y="370332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989320" y="370332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40" name="Shape 38"/>
          <p:cNvSpPr/>
          <p:nvPr/>
        </p:nvSpPr>
        <p:spPr>
          <a:xfrm>
            <a:off x="5989320" y="370332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1" name="Text 39"/>
          <p:cNvSpPr/>
          <p:nvPr/>
        </p:nvSpPr>
        <p:spPr>
          <a:xfrm>
            <a:off x="6007608" y="402336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336792" y="374904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Payroll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336792" y="402336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Awaiting authorization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46" name="Text 44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 Manager  ·  Action Center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Navigation Tabs</a:t>
            </a:r>
            <a:endParaRPr lang="en-US" sz="750" dirty="0"/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  ·  WORKFLOW MANAGEMENT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 MANAGER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 Center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11521440" cy="27432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2801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DIALOGS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572768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572768"/>
            <a:ext cx="36576" cy="59436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161848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Approval Detail Panel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181965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request view with approve/reject controls and notes field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16" name="Text 14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 Manager  ·  Action Center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</a:t>
            </a:r>
            <a:endParaRPr lang="en-US" sz="750" dirty="0"/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HUMAN RESOURCES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 MANAGER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 Management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36576" cy="7772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" y="1371600"/>
            <a:ext cx="11521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Comprehensive HR platform covering the entire employee lifecycle — from recruitment and onboarding through daily attendance, leave management, and separation.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212848"/>
            <a:ext cx="11521440" cy="274320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231136"/>
            <a:ext cx="11338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TABS: HR Dashboard  ·  Employee Life Cycles  ·  Time Management  ·  Shift Management  ·  Attendance Monitoring  ·  Leave Management  ·  Recruitment  ·  Onboarding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2578608"/>
            <a:ext cx="530352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578608"/>
            <a:ext cx="530352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615184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" y="2898648"/>
            <a:ext cx="512064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 Dashboard with workforce KPIs and alert cards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 employee lifecycle management (hire to separation)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Daily attendance monitoring with clock-in/out records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Shift template creation and employee assignment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Leave management with filing, approval, and balance tracking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Recruitment pipeline with job postings and applicant tracking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Onboarding checklist for new hires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852160" y="2578608"/>
            <a:ext cx="603504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2578608"/>
            <a:ext cx="6035040" cy="274320"/>
          </a:xfrm>
          <a:prstGeom prst="rect">
            <a:avLst/>
          </a:prstGeom>
          <a:solidFill>
            <a:srgbClr val="4A3728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0" y="2615184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943600" y="2898648"/>
            <a:ext cx="585216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Open HR Dashboard for a high-level workforce summary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Navigate to Employee Life Cycles for a specific employee record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Check Time Management for today's attendance logs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Review and process pending leave applications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 For recruitment: create job postings and track applicants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 For onboarding: generate and track the new hire checklist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2" name="Text 20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 Manager  ·  HR Management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Human Resources</a:t>
            </a:r>
            <a:endParaRPr lang="en-US" sz="750" dirty="0"/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NAVIGATION TABS  ·  HUMAN RESOURCES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 MANAGER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 Management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2588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2588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132588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1" name="Text 9"/>
          <p:cNvSpPr/>
          <p:nvPr/>
        </p:nvSpPr>
        <p:spPr>
          <a:xfrm>
            <a:off x="292608" y="164592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" y="137160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 Dashboard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" y="164592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KPIs: headcount, attendance rate, leave balances, open positions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89320" y="132588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89320" y="132588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6" name="Shape 14"/>
          <p:cNvSpPr/>
          <p:nvPr/>
        </p:nvSpPr>
        <p:spPr>
          <a:xfrm>
            <a:off x="5989320" y="132588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7" name="Text 15"/>
          <p:cNvSpPr/>
          <p:nvPr/>
        </p:nvSpPr>
        <p:spPr>
          <a:xfrm>
            <a:off x="6007608" y="164592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36792" y="137160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Employee Life Cycles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36792" y="164592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Employee master list with history, promotions, and status changes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251460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51460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" y="251460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3" name="Text 21"/>
          <p:cNvSpPr/>
          <p:nvPr/>
        </p:nvSpPr>
        <p:spPr>
          <a:xfrm>
            <a:off x="292608" y="283464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" y="256032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 Management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1792" y="283464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Daily time records (DTR), hours worked, and overtime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989320" y="251460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89320" y="251460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28" name="Shape 26"/>
          <p:cNvSpPr/>
          <p:nvPr/>
        </p:nvSpPr>
        <p:spPr>
          <a:xfrm>
            <a:off x="5989320" y="251460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9" name="Text 27"/>
          <p:cNvSpPr/>
          <p:nvPr/>
        </p:nvSpPr>
        <p:spPr>
          <a:xfrm>
            <a:off x="6007608" y="283464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36792" y="256032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Shift Management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36792" y="283464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Shift templates and employee-to-shift assignment calendar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74320" y="370332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370332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34" name="Shape 32"/>
          <p:cNvSpPr/>
          <p:nvPr/>
        </p:nvSpPr>
        <p:spPr>
          <a:xfrm>
            <a:off x="274320" y="370332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35" name="Text 33"/>
          <p:cNvSpPr/>
          <p:nvPr/>
        </p:nvSpPr>
        <p:spPr>
          <a:xfrm>
            <a:off x="292608" y="402336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1792" y="374904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Attendance Monitoring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1792" y="402336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Day-by-day records: present, absent, late, early-out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989320" y="370332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989320" y="370332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40" name="Shape 38"/>
          <p:cNvSpPr/>
          <p:nvPr/>
        </p:nvSpPr>
        <p:spPr>
          <a:xfrm>
            <a:off x="5989320" y="370332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1" name="Text 39"/>
          <p:cNvSpPr/>
          <p:nvPr/>
        </p:nvSpPr>
        <p:spPr>
          <a:xfrm>
            <a:off x="6007608" y="402336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336792" y="374904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Leave Management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336792" y="402336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Leave application queue, approvals, balance ledger, and calendar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74320" y="489204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74320" y="489204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46" name="Shape 44"/>
          <p:cNvSpPr/>
          <p:nvPr/>
        </p:nvSpPr>
        <p:spPr>
          <a:xfrm>
            <a:off x="274320" y="489204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7" name="Text 45"/>
          <p:cNvSpPr/>
          <p:nvPr/>
        </p:nvSpPr>
        <p:spPr>
          <a:xfrm>
            <a:off x="292608" y="521208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21792" y="493776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Recruitment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21792" y="521208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Job postings, applicants, interviews, and job offers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989320" y="489204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989320" y="489204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52" name="Shape 50"/>
          <p:cNvSpPr/>
          <p:nvPr/>
        </p:nvSpPr>
        <p:spPr>
          <a:xfrm>
            <a:off x="5989320" y="489204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53" name="Text 51"/>
          <p:cNvSpPr/>
          <p:nvPr/>
        </p:nvSpPr>
        <p:spPr>
          <a:xfrm>
            <a:off x="6007608" y="521208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336792" y="493776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Onboarding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336792" y="521208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hire checklist with completion tracking per requirement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58" name="Text 56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 Manager  ·  HR Management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Navigation Tabs</a:t>
            </a:r>
            <a:endParaRPr lang="en-US" sz="750" dirty="0"/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  ·  HUMAN RESOURCES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 MANAGER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 Management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Employee Form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1152144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62763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FIELDS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Employee Name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6" name="Text 14"/>
          <p:cNvSpPr/>
          <p:nvPr/>
        </p:nvSpPr>
        <p:spPr>
          <a:xfrm>
            <a:off x="422452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Employee ID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9" name="Text 17"/>
          <p:cNvSpPr/>
          <p:nvPr/>
        </p:nvSpPr>
        <p:spPr>
          <a:xfrm>
            <a:off x="806500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Department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Position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5" name="Text 23"/>
          <p:cNvSpPr/>
          <p:nvPr/>
        </p:nvSpPr>
        <p:spPr>
          <a:xfrm>
            <a:off x="422452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Employment Type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95528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5528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8" name="Text 26"/>
          <p:cNvSpPr/>
          <p:nvPr/>
        </p:nvSpPr>
        <p:spPr>
          <a:xfrm>
            <a:off x="806500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 Hired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008376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3008376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31" name="Text 29"/>
          <p:cNvSpPr/>
          <p:nvPr/>
        </p:nvSpPr>
        <p:spPr>
          <a:xfrm>
            <a:off x="384048" y="3063240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Salary Rate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114800" y="3008376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14800" y="3008376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34" name="Text 32"/>
          <p:cNvSpPr/>
          <p:nvPr/>
        </p:nvSpPr>
        <p:spPr>
          <a:xfrm>
            <a:off x="4224528" y="3063240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Tax Setup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955280" y="3008376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955280" y="3008376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37" name="Text 35"/>
          <p:cNvSpPr/>
          <p:nvPr/>
        </p:nvSpPr>
        <p:spPr>
          <a:xfrm>
            <a:off x="8065008" y="3063240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Benefits Enrollment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40" name="Text 38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 Manager  ·  New Employee Form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</a:t>
            </a:r>
            <a:endParaRPr lang="en-US" sz="750" dirty="0"/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  ·  HUMAN RESOURCES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 MANAGER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 Management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Leave Application Form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1152144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62763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FIELDS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Employee Name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6" name="Text 14"/>
          <p:cNvSpPr/>
          <p:nvPr/>
        </p:nvSpPr>
        <p:spPr>
          <a:xfrm>
            <a:off x="422452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Leave Type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9" name="Text 17"/>
          <p:cNvSpPr/>
          <p:nvPr/>
        </p:nvSpPr>
        <p:spPr>
          <a:xfrm>
            <a:off x="806500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 From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 To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5" name="Text 23"/>
          <p:cNvSpPr/>
          <p:nvPr/>
        </p:nvSpPr>
        <p:spPr>
          <a:xfrm>
            <a:off x="422452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Number of Days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95528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5528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8" name="Text 26"/>
          <p:cNvSpPr/>
          <p:nvPr/>
        </p:nvSpPr>
        <p:spPr>
          <a:xfrm>
            <a:off x="806500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Reason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008376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3008376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31" name="Text 29"/>
          <p:cNvSpPr/>
          <p:nvPr/>
        </p:nvSpPr>
        <p:spPr>
          <a:xfrm>
            <a:off x="384048" y="3063240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Supporting Document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34" name="Text 32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 Manager  ·  Leave Application Form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</a:t>
            </a:r>
            <a:endParaRPr lang="en-US" sz="750" dirty="0"/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  ·  HUMAN RESOURCES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 MANAGER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 Management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Recruitment Job Posting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1152144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62763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FIELDS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Position Title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6" name="Text 14"/>
          <p:cNvSpPr/>
          <p:nvPr/>
        </p:nvSpPr>
        <p:spPr>
          <a:xfrm>
            <a:off x="422452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Department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9" name="Text 17"/>
          <p:cNvSpPr/>
          <p:nvPr/>
        </p:nvSpPr>
        <p:spPr>
          <a:xfrm>
            <a:off x="806500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Employment Type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Slots Available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5" name="Text 23"/>
          <p:cNvSpPr/>
          <p:nvPr/>
        </p:nvSpPr>
        <p:spPr>
          <a:xfrm>
            <a:off x="422452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Job Description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95528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5528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8" name="Text 26"/>
          <p:cNvSpPr/>
          <p:nvPr/>
        </p:nvSpPr>
        <p:spPr>
          <a:xfrm>
            <a:off x="806500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Requirements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008376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3008376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31" name="Text 29"/>
          <p:cNvSpPr/>
          <p:nvPr/>
        </p:nvSpPr>
        <p:spPr>
          <a:xfrm>
            <a:off x="384048" y="3063240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Application Deadline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34" name="Text 32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 Manager  ·  Recruitment Job Posting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</a:t>
            </a:r>
            <a:endParaRPr lang="en-US" sz="750" dirty="0"/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  ·  HUMAN RESOURCES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 MANAGER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 Management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11521440" cy="27432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2801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DIALOGS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572768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572768"/>
            <a:ext cx="36576" cy="59436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161848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Employee Profile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181965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employee record with employment history, benefits, and documents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231136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231136"/>
            <a:ext cx="36576" cy="59436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227685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Leave Approval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2478024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 or reject a leave application with supervisor notes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889504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889504"/>
            <a:ext cx="36576" cy="59436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2935224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Attendance Correction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1480" y="313639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correction of missed clock-in/out with justification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4" name="Text 22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 Manager  ·  HR Management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</a:t>
            </a:r>
            <a:endParaRPr lang="en-US" sz="750" dirty="0"/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92240"/>
            <a:ext cx="5029200" cy="5486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0" y="0"/>
            <a:ext cx="7159752" cy="6858000"/>
          </a:xfrm>
          <a:prstGeom prst="rect">
            <a:avLst/>
          </a:prstGeom>
          <a:solidFill>
            <a:srgbClr val="FFFDF5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C5A059"/>
          </a:solidFill>
          <a:ln/>
        </p:spPr>
      </p:sp>
      <p:pic>
        <p:nvPicPr>
          <p:cNvPr id="6" name="Image 0" descr="C:\Users\VELOSO\Documents\GitHub\stsn-connect\public\stsn-cr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7432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34747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65760" y="13716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ROLE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365760" y="1691640"/>
            <a:ext cx="42976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Guidance Counselor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365760" y="361188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welfare — anecdotal records, counseling, and reports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303520" y="502920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RESPONSIBILITIES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303520" y="795528"/>
            <a:ext cx="649224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3" name="Text 10"/>
          <p:cNvSpPr/>
          <p:nvPr/>
        </p:nvSpPr>
        <p:spPr>
          <a:xfrm>
            <a:off x="5303520" y="914400"/>
            <a:ext cx="64922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1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 student behavioral incident records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1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 counseling sessions with notes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1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 incident reports and disciplinary cases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1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 and document student conferences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1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 guidance reports for administration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16" name="Text 13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Guidance Counselor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 Overview</a:t>
            </a:r>
            <a:endParaRPr lang="en-US" sz="750" dirty="0"/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WELFARE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GUIDANCE COUNSELOR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Guidance Office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36576" cy="7772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" y="1371600"/>
            <a:ext cx="11521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Maintain comprehensive records of student behavioral incidents, counseling sessions, and pastoral notes with follow-up tracking and confidentiality controls.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212848"/>
            <a:ext cx="11521440" cy="274320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231136"/>
            <a:ext cx="11338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TABS: Anecdotal Records  ·  Counseling Sessions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2578608"/>
            <a:ext cx="530352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578608"/>
            <a:ext cx="530352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615184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" y="2898648"/>
            <a:ext cx="512064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Anecdotal record logging by incident type (Behavioral, Academic, Attendance, Social, Commendation, Disciplinary)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Counseling session records with session type, concern area, and counselor notes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Follow-up date tracking and completion marking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Confidentiality flag for sensitive records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and filter by student, type, and date range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Student-linked record view for holistic case tracking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852160" y="2578608"/>
            <a:ext cx="603504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2578608"/>
            <a:ext cx="6035040" cy="274320"/>
          </a:xfrm>
          <a:prstGeom prst="rect">
            <a:avLst/>
          </a:prstGeom>
          <a:solidFill>
            <a:srgbClr val="4A3728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0" y="2615184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943600" y="2898648"/>
            <a:ext cx="585216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Open the Guidance Office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Search for a student to log a new record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Add an Anecdotal Record: incident type, description, action taken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Or log a Counseling Session: session type, concern area, summary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 Set a follow-up date if further monitoring is needed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 Mark follow-up as done once completed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  Generate a guidance report for administration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2" name="Text 20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Guidance Counselor  ·  Guidance Office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Welfare</a:t>
            </a:r>
            <a:endParaRPr lang="en-US" sz="750" dirty="0"/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  ·  STUDENT WELFARE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GUIDANCE COUNSELOR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Guidance Office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Anecdotal Record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1152144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62763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FIELDS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6" name="Text 14"/>
          <p:cNvSpPr/>
          <p:nvPr/>
        </p:nvSpPr>
        <p:spPr>
          <a:xfrm>
            <a:off x="422452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 Date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9" name="Text 17"/>
          <p:cNvSpPr/>
          <p:nvPr/>
        </p:nvSpPr>
        <p:spPr>
          <a:xfrm>
            <a:off x="806500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Type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5" name="Text 23"/>
          <p:cNvSpPr/>
          <p:nvPr/>
        </p:nvSpPr>
        <p:spPr>
          <a:xfrm>
            <a:off x="422452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 Taken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95528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5528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8" name="Text 26"/>
          <p:cNvSpPr/>
          <p:nvPr/>
        </p:nvSpPr>
        <p:spPr>
          <a:xfrm>
            <a:off x="806500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Follow-Up Date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008376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3008376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31" name="Text 29"/>
          <p:cNvSpPr/>
          <p:nvPr/>
        </p:nvSpPr>
        <p:spPr>
          <a:xfrm>
            <a:off x="384048" y="3063240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Reported By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114800" y="3008376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14800" y="3008376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34" name="Text 32"/>
          <p:cNvSpPr/>
          <p:nvPr/>
        </p:nvSpPr>
        <p:spPr>
          <a:xfrm>
            <a:off x="4224528" y="3063240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37" name="Text 35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Guidance Counselor  ·  New Anecdotal Record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</a:t>
            </a:r>
            <a:endParaRPr lang="en-US" sz="750" dirty="0"/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  ·  STUDENT WELFARE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GUIDANCE COUNSELOR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Guidance Office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Counseling Session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1152144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62763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FIELDS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6" name="Text 14"/>
          <p:cNvSpPr/>
          <p:nvPr/>
        </p:nvSpPr>
        <p:spPr>
          <a:xfrm>
            <a:off x="422452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 Date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9" name="Text 17"/>
          <p:cNvSpPr/>
          <p:nvPr/>
        </p:nvSpPr>
        <p:spPr>
          <a:xfrm>
            <a:off x="806500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 Type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Concern Area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5" name="Text 23"/>
          <p:cNvSpPr/>
          <p:nvPr/>
        </p:nvSpPr>
        <p:spPr>
          <a:xfrm>
            <a:off x="422452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 Summary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95528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5528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8" name="Text 26"/>
          <p:cNvSpPr/>
          <p:nvPr/>
        </p:nvSpPr>
        <p:spPr>
          <a:xfrm>
            <a:off x="806500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Recommendations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008376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3008376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31" name="Text 29"/>
          <p:cNvSpPr/>
          <p:nvPr/>
        </p:nvSpPr>
        <p:spPr>
          <a:xfrm>
            <a:off x="384048" y="3063240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 Session Date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114800" y="3008376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14800" y="3008376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34" name="Text 32"/>
          <p:cNvSpPr/>
          <p:nvPr/>
        </p:nvSpPr>
        <p:spPr>
          <a:xfrm>
            <a:off x="4224528" y="3063240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Counselor Name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955280" y="3008376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955280" y="3008376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37" name="Text 35"/>
          <p:cNvSpPr/>
          <p:nvPr/>
        </p:nvSpPr>
        <p:spPr>
          <a:xfrm>
            <a:off x="8065008" y="3063240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40" name="Text 38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Guidance Counselor  ·  New Counseling Session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</a:t>
            </a:r>
            <a:endParaRPr lang="en-US" sz="750" dirty="0"/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  ·  STUDENT WELFARE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GUIDANCE COUNSELOR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Guidance Office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11521440" cy="27432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2801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DIALOGS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572768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572768"/>
            <a:ext cx="36576" cy="59436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161848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 Detail View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181965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anecdotal record or counseling session with edit controls and follow-up tracking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16" name="Text 14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Guidance Counselor  ·  Guidance Office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</a:t>
            </a:r>
            <a:endParaRPr lang="en-US" sz="750" dirty="0"/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WELFARE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GUIDANCE COUNSELOR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Guidance Reports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36576" cy="7772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" y="1371600"/>
            <a:ext cx="11521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Statistical summaries and detailed reports on student behavioral records, counseling sessions, and incident trends for school administration and compliance.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240280"/>
            <a:ext cx="5303520" cy="4251960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240280"/>
            <a:ext cx="530352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276856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65760" y="2560320"/>
            <a:ext cx="51206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frequency report by type and date range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Counseling session summary by concern area and type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case history compilation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Referral tracking and follow-up status report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Export to PDF and Excel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852160" y="2240280"/>
            <a:ext cx="6035040" cy="4251960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52160" y="2240280"/>
            <a:ext cx="6035040" cy="274320"/>
          </a:xfrm>
          <a:prstGeom prst="rect">
            <a:avLst/>
          </a:prstGeom>
          <a:solidFill>
            <a:srgbClr val="4A3728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0" y="2276856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943600" y="2560320"/>
            <a:ext cx="5852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Navigate to Guidance Reports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Select the report type and date range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Preview the report on-screen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Export to PDF or Excel for submission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0" name="Text 18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Guidance Counselor  ·  Guidance Reports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Welfare</a:t>
            </a:r>
            <a:endParaRPr lang="en-US" sz="750" dirty="0"/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  ·  STUDENT WELFARE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GUIDANCE COUNSELOR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Guidance Reports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11521440" cy="27432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2801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DIALOGS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572768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572768"/>
            <a:ext cx="36576" cy="59436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161848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 Preview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181965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On-screen report preview with Export PDF and Export Excel controls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74320" y="2414016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706624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706624"/>
            <a:ext cx="36576" cy="59436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275234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Frequency Report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" y="295351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Count of incidents by type for a period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3364992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364992"/>
            <a:ext cx="36576" cy="59436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341071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Counseling Session Summary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" y="36118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Summary of sessions by type, concern area, and status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4023360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4023360"/>
            <a:ext cx="36576" cy="59436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5" name="Text 23"/>
          <p:cNvSpPr/>
          <p:nvPr/>
        </p:nvSpPr>
        <p:spPr>
          <a:xfrm>
            <a:off x="411480" y="406908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Case History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11480" y="427024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Chronological case log for a specific student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" y="4681728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4681728"/>
            <a:ext cx="36576" cy="59436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9" name="Text 27"/>
          <p:cNvSpPr/>
          <p:nvPr/>
        </p:nvSpPr>
        <p:spPr>
          <a:xfrm>
            <a:off x="411480" y="4727448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Follow-Up Status Report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11480" y="492861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Cases with pending follow-up dates and completion status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33" name="Text 31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Guidance Counselor  ·  Guidance Reports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</a:t>
            </a:r>
            <a:endParaRPr lang="en-US" sz="750" dirty="0"/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92240"/>
            <a:ext cx="5029200" cy="5486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0" y="0"/>
            <a:ext cx="7159752" cy="6858000"/>
          </a:xfrm>
          <a:prstGeom prst="rect">
            <a:avLst/>
          </a:prstGeom>
          <a:solidFill>
            <a:srgbClr val="FFFDF5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C5A059"/>
          </a:solidFill>
          <a:ln/>
        </p:spPr>
      </p:sp>
      <p:pic>
        <p:nvPicPr>
          <p:cNvPr id="6" name="Image 0" descr="C:\Users\VELOSO\Documents\GitHub\stsn-connect\public\stsn-cr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7432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34747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65760" y="13716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ROLE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365760" y="1691640"/>
            <a:ext cx="42976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Nurse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365760" y="361188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health — clinic visits, health profiles, medical reports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303520" y="502920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RESPONSIBILITIES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303520" y="795528"/>
            <a:ext cx="649224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3" name="Text 10"/>
          <p:cNvSpPr/>
          <p:nvPr/>
        </p:nvSpPr>
        <p:spPr>
          <a:xfrm>
            <a:off x="5303520" y="914400"/>
            <a:ext cx="64922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1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 student clinic visits and complaints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1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Maintain individual student health profiles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1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 medical incidents and dispositions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1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 consultation appointment scheduling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1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 clinic visit and health summary reports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16" name="Text 13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Nurse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 Overview</a:t>
            </a:r>
            <a:endParaRPr lang="en-US" sz="750" dirty="0"/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HEALTH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NURSE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Clinic Module (School Nurse)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36576" cy="7772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" y="1371600"/>
            <a:ext cx="11521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 and track student health visits, maintain student health profiles, and manage medical incidents — the digital health office log for all student health events.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212848"/>
            <a:ext cx="11521440" cy="274320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231136"/>
            <a:ext cx="11338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TABS: Health Visits  ·  Health Profiles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2578608"/>
            <a:ext cx="530352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578608"/>
            <a:ext cx="530352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615184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" y="2898648"/>
            <a:ext cx="512064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visit log with chief complaint, vital signs, action taken, and disposition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health profile with blood type, allergies, and chronic conditions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Disposition: Released, Sent Home, Referred to Hospital, Observation, For Follow-up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Emergency contact and PhilHealth information per student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Visit history per student with date and complaint timeline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852160" y="2578608"/>
            <a:ext cx="603504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2578608"/>
            <a:ext cx="6035040" cy="274320"/>
          </a:xfrm>
          <a:prstGeom prst="rect">
            <a:avLst/>
          </a:prstGeom>
          <a:solidFill>
            <a:srgbClr val="4A3728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0" y="2615184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943600" y="2898648"/>
            <a:ext cx="585216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Student comes to the clinic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Nurse searches and opens the student's health profile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Logs the health visit: chief complaint, vital signs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Notes the action taken (medication, first aid, rest)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 Sets the disposition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 Updates health profile with new medical information if needed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  End-of-day: generates clinic visit summary report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2" name="Text 20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Nurse  ·  Clinic Module (School Nurse)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Health</a:t>
            </a:r>
            <a:endParaRPr lang="en-US" sz="750" dirty="0"/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  ·  STUDENT HEALTH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NURSE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Clinic Module (School Nurse)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 Health Visit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1152144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62763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FIELDS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Name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6" name="Text 14"/>
          <p:cNvSpPr/>
          <p:nvPr/>
        </p:nvSpPr>
        <p:spPr>
          <a:xfrm>
            <a:off x="422452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9" name="Text 17"/>
          <p:cNvSpPr/>
          <p:nvPr/>
        </p:nvSpPr>
        <p:spPr>
          <a:xfrm>
            <a:off x="806500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Visit Date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Visit Time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5" name="Text 23"/>
          <p:cNvSpPr/>
          <p:nvPr/>
        </p:nvSpPr>
        <p:spPr>
          <a:xfrm>
            <a:off x="422452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Chief Complaint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95528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5528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8" name="Text 26"/>
          <p:cNvSpPr/>
          <p:nvPr/>
        </p:nvSpPr>
        <p:spPr>
          <a:xfrm>
            <a:off x="806500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Vital Signs (BP, Temp, Pulse, Resp Rate, Weight)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008376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3008376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31" name="Text 29"/>
          <p:cNvSpPr/>
          <p:nvPr/>
        </p:nvSpPr>
        <p:spPr>
          <a:xfrm>
            <a:off x="384048" y="3063240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 Taken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114800" y="3008376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14800" y="3008376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34" name="Text 32"/>
          <p:cNvSpPr/>
          <p:nvPr/>
        </p:nvSpPr>
        <p:spPr>
          <a:xfrm>
            <a:off x="4224528" y="3063240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Disposition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955280" y="3008376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955280" y="3008376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37" name="Text 35"/>
          <p:cNvSpPr/>
          <p:nvPr/>
        </p:nvSpPr>
        <p:spPr>
          <a:xfrm>
            <a:off x="8065008" y="3063240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Recorded By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40" name="Text 38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Nurse  ·  Log Health Visit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</a:t>
            </a:r>
            <a:endParaRPr lang="en-US" sz="750" dirty="0"/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  ·  STUDENT HEALTH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NURSE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Clinic Module (School Nurse)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Profile Form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1152144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62763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FIELDS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Blood Type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6" name="Text 14"/>
          <p:cNvSpPr/>
          <p:nvPr/>
        </p:nvSpPr>
        <p:spPr>
          <a:xfrm>
            <a:off x="422452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Known Allergies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9" name="Text 17"/>
          <p:cNvSpPr/>
          <p:nvPr/>
        </p:nvSpPr>
        <p:spPr>
          <a:xfrm>
            <a:off x="806500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Chronic Conditions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Emergency Contact Name/Phone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5" name="Text 23"/>
          <p:cNvSpPr/>
          <p:nvPr/>
        </p:nvSpPr>
        <p:spPr>
          <a:xfrm>
            <a:off x="422452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Physician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95528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5528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8" name="Text 26"/>
          <p:cNvSpPr/>
          <p:nvPr/>
        </p:nvSpPr>
        <p:spPr>
          <a:xfrm>
            <a:off x="806500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PhilHealth Number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31" name="Text 29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Nurse  ·  Health Profile Form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</a:t>
            </a:r>
            <a:endParaRPr lang="en-US" sz="750" dirty="0"/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  ·  STUDENT HEALTH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NURSE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Clinic Module (School Nurse)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11521440" cy="27432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2801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DIALOGS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572768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572768"/>
            <a:ext cx="36576" cy="59436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161848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Visit Detail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181965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clinic visit record with all fields and vital signs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231136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231136"/>
            <a:ext cx="36576" cy="59436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227685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Profile Detail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2478024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 student health profile with all medical history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0" name="Text 18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Nurse  ·  Clinic Module (School Nurse)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</a:t>
            </a:r>
            <a:endParaRPr lang="en-US" sz="750" dirty="0"/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HEALTH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NURSE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Consultation (Appointments)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36576" cy="7772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" y="1371600"/>
            <a:ext cx="11521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 appointment bookings between students/parents and school staff (guidance, nurses, teachers). Calendar-based scheduling with consultation notes.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212848"/>
            <a:ext cx="11521440" cy="274320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231136"/>
            <a:ext cx="11338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TABS: Appointments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2578608"/>
            <a:ext cx="530352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578608"/>
            <a:ext cx="530352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615184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" y="2898648"/>
            <a:ext cx="512064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Appointment booking with staff and time slot selection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Appointment calendar view by day and week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Consultation notes logged after the appointment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Status: Pending, Confirmed, Completed, Cancelled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Online booking by students through Student Portal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852160" y="2578608"/>
            <a:ext cx="603504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2578608"/>
            <a:ext cx="6035040" cy="274320"/>
          </a:xfrm>
          <a:prstGeom prst="rect">
            <a:avLst/>
          </a:prstGeom>
          <a:solidFill>
            <a:srgbClr val="4A3728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0" y="2615184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943600" y="2898648"/>
            <a:ext cx="585216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Student books a consultation through the Student Portal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Staff member confirms the appointment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On the appointment date: staff conducts the consultation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Staff logs consultation notes and marks Completed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2" name="Text 20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Nurse  ·  Consultation (Appointments)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Health</a:t>
            </a:r>
            <a:endParaRPr lang="en-US" sz="750" dirty="0"/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  ·  STUDENT HEALTH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NURSE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Consultation (Appointments)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Book Appointment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1152144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62763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FIELDS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Staff Member / Department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6" name="Text 14"/>
          <p:cNvSpPr/>
          <p:nvPr/>
        </p:nvSpPr>
        <p:spPr>
          <a:xfrm>
            <a:off x="422452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Appointment Date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9" name="Text 17"/>
          <p:cNvSpPr/>
          <p:nvPr/>
        </p:nvSpPr>
        <p:spPr>
          <a:xfrm>
            <a:off x="806500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 Slot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Purpose / Concern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5" name="Text 23"/>
          <p:cNvSpPr/>
          <p:nvPr/>
        </p:nvSpPr>
        <p:spPr>
          <a:xfrm>
            <a:off x="422452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8" name="Text 26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Nurse  ·  Book Appointment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</a:t>
            </a:r>
            <a:endParaRPr lang="en-US" sz="750" dirty="0"/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  ·  STUDENT HEALTH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NURSE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Consultation (Appointments)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11521440" cy="27432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2801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DIALOGS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572768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572768"/>
            <a:ext cx="36576" cy="59436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161848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Appointment Detail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181965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Appointment view with consultation notes and status update controls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16" name="Text 14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Nurse  ·  Consultation (Appointments)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</a:t>
            </a:r>
            <a:endParaRPr lang="en-US" sz="750" dirty="0"/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HEALTH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NURSE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Clinic Reports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36576" cy="7772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" y="1371600"/>
            <a:ext cx="11521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Summary and analytical reports on student health visits, common ailments, and medical trends for school health program planning and compliance documentation.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240280"/>
            <a:ext cx="5303520" cy="4251960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240280"/>
            <a:ext cx="530352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276856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65760" y="2560320"/>
            <a:ext cx="51206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Visit frequency report by ailment, grade level, and date range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Medical clearance issuance log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incident trend analysis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medical referral report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Export to PDF and Excel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852160" y="2240280"/>
            <a:ext cx="6035040" cy="4251960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52160" y="2240280"/>
            <a:ext cx="6035040" cy="274320"/>
          </a:xfrm>
          <a:prstGeom prst="rect">
            <a:avLst/>
          </a:prstGeom>
          <a:solidFill>
            <a:srgbClr val="4A3728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0" y="2276856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943600" y="2560320"/>
            <a:ext cx="5852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Navigate to Clinic Reports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Select report type and date range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Preview the report, export to PDF or Excel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0" name="Text 18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Nurse  ·  Clinic Reports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Health</a:t>
            </a:r>
            <a:endParaRPr lang="en-US" sz="750" dirty="0"/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  ·  STUDENT HEALTH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NURSE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Clinic Reports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11521440" cy="27432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2801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DIALOGS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572768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572768"/>
            <a:ext cx="36576" cy="59436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161848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 Preview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181965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On-screen preview with Export PDF and Export Excel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74320" y="2414016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706624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706624"/>
            <a:ext cx="36576" cy="59436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275234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Visit Frequency Report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" y="295351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Count of clinic visits by chief complaint category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3364992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364992"/>
            <a:ext cx="36576" cy="59436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341071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Incident Summary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" y="36118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Significant medical incidents and their dispositions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4023360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4023360"/>
            <a:ext cx="36576" cy="59436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5" name="Text 23"/>
          <p:cNvSpPr/>
          <p:nvPr/>
        </p:nvSpPr>
        <p:spPr>
          <a:xfrm>
            <a:off x="411480" y="406908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Medical Referral Report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11480" y="427024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Students referred to hospital or specialist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" y="4681728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4681728"/>
            <a:ext cx="36576" cy="59436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9" name="Text 27"/>
          <p:cNvSpPr/>
          <p:nvPr/>
        </p:nvSpPr>
        <p:spPr>
          <a:xfrm>
            <a:off x="411480" y="4727448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Medical Clearance Log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11480" y="492861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 of medical clearances issued during a period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33" name="Text 31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Nurse  ·  Clinic Reports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</a:t>
            </a:r>
            <a:endParaRPr lang="en-US" sz="750" dirty="0"/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92240"/>
            <a:ext cx="5029200" cy="5486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0" y="0"/>
            <a:ext cx="7159752" cy="6858000"/>
          </a:xfrm>
          <a:prstGeom prst="rect">
            <a:avLst/>
          </a:prstGeom>
          <a:solidFill>
            <a:srgbClr val="FFFDF5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C5A059"/>
          </a:solidFill>
          <a:ln/>
        </p:spPr>
      </p:sp>
      <p:pic>
        <p:nvPicPr>
          <p:cNvPr id="6" name="Image 0" descr="C:\Users\VELOSO\Documents\GitHub\stsn-connect\public\stsn-cr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7432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34747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65760" y="13716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ROLE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365760" y="1691640"/>
            <a:ext cx="42976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Payroll Officer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365760" y="361188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Payroll &amp; compensation — runs, payslips, taxes, benefits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303520" y="502920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RESPONSIBILITIES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303520" y="795528"/>
            <a:ext cx="649224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3" name="Text 10"/>
          <p:cNvSpPr/>
          <p:nvPr/>
        </p:nvSpPr>
        <p:spPr>
          <a:xfrm>
            <a:off x="5303520" y="914400"/>
            <a:ext cx="64922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1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 payroll computation for each period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1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 and distribute employee payslips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1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 salary payout batches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1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Configure and compute withholding tax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1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Administer employee benefits and contributions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1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 payroll items in the Action Center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16" name="Text 13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Payroll Officer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 Overview</a:t>
            </a:r>
            <a:endParaRPr lang="en-US" sz="750" dirty="0"/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 MANAGEMENT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PAYROLL OFFICER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 Center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36576" cy="7772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" y="1371600"/>
            <a:ext cx="11521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Unified approval queue consolidating all pending workflow items across every module — enrollments, discounts, leave requests, assessment approvals, and payroll runs — in one place.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212848"/>
            <a:ext cx="11521440" cy="274320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231136"/>
            <a:ext cx="11338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TABS: All Pending  ·  Enrollments  ·  Assessments  ·  Discounts  ·  Leave Requests  ·  Payroll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2578608"/>
            <a:ext cx="530352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578608"/>
            <a:ext cx="530352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615184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" y="2898648"/>
            <a:ext cx="512064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Unified queue for all pending approvals across modules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Filter by module type, date range, priority, and submitter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Bulk approve or reject multiple items simultaneously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Contextual detail panel with full request information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approval notes or rejection reasons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badge count showing pending items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Escalation indicators for SLA-breached items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 approval trail with actor and timestamp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852160" y="2578608"/>
            <a:ext cx="603504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2578608"/>
            <a:ext cx="6035040" cy="274320"/>
          </a:xfrm>
          <a:prstGeom prst="rect">
            <a:avLst/>
          </a:prstGeom>
          <a:solidFill>
            <a:srgbClr val="4A3728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0" y="2615184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943600" y="2898648"/>
            <a:ext cx="585216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Navigate to Action Center from the sidebar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System displays all items the user is authorized to approve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Apply filters to narrow down by type or date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Click a pending item to view the full detail panel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 Add a note, then approve or reject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 System sends item to next approval level or marks complete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  Action is logged in the audit trail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2" name="Text 20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Payroll Officer  ·  Action Center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 Management</a:t>
            </a:r>
            <a:endParaRPr lang="en-US" sz="750" dirty="0"/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NAVIGATION TABS  ·  WORKFLOW MANAGEMENT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PAYROLL OFFICER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 Center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2588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2588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132588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1" name="Text 9"/>
          <p:cNvSpPr/>
          <p:nvPr/>
        </p:nvSpPr>
        <p:spPr>
          <a:xfrm>
            <a:off x="292608" y="164592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" y="137160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Pending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" y="164592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Consolidated queue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89320" y="132588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89320" y="132588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6" name="Shape 14"/>
          <p:cNvSpPr/>
          <p:nvPr/>
        </p:nvSpPr>
        <p:spPr>
          <a:xfrm>
            <a:off x="5989320" y="132588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7" name="Text 15"/>
          <p:cNvSpPr/>
          <p:nvPr/>
        </p:nvSpPr>
        <p:spPr>
          <a:xfrm>
            <a:off x="6007608" y="164592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36792" y="137160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Enrollments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36792" y="164592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Awaiting registrar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251460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51460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" y="251460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3" name="Text 21"/>
          <p:cNvSpPr/>
          <p:nvPr/>
        </p:nvSpPr>
        <p:spPr>
          <a:xfrm>
            <a:off x="292608" y="283464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" y="256032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Assessments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1792" y="283464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Awaiting accounting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989320" y="251460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89320" y="251460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28" name="Shape 26"/>
          <p:cNvSpPr/>
          <p:nvPr/>
        </p:nvSpPr>
        <p:spPr>
          <a:xfrm>
            <a:off x="5989320" y="251460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9" name="Text 27"/>
          <p:cNvSpPr/>
          <p:nvPr/>
        </p:nvSpPr>
        <p:spPr>
          <a:xfrm>
            <a:off x="6007608" y="283464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36792" y="256032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Discounts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36792" y="283464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Awaiting approval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74320" y="370332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370332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34" name="Shape 32"/>
          <p:cNvSpPr/>
          <p:nvPr/>
        </p:nvSpPr>
        <p:spPr>
          <a:xfrm>
            <a:off x="274320" y="370332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35" name="Text 33"/>
          <p:cNvSpPr/>
          <p:nvPr/>
        </p:nvSpPr>
        <p:spPr>
          <a:xfrm>
            <a:off x="292608" y="402336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1792" y="374904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Leave Requests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1792" y="402336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Awaiting supervisor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989320" y="370332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989320" y="370332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40" name="Shape 38"/>
          <p:cNvSpPr/>
          <p:nvPr/>
        </p:nvSpPr>
        <p:spPr>
          <a:xfrm>
            <a:off x="5989320" y="370332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1" name="Text 39"/>
          <p:cNvSpPr/>
          <p:nvPr/>
        </p:nvSpPr>
        <p:spPr>
          <a:xfrm>
            <a:off x="6007608" y="402336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336792" y="374904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Payroll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336792" y="402336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Awaiting authorization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46" name="Text 44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Payroll Officer  ·  Action Center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Navigation Tabs</a:t>
            </a:r>
            <a:endParaRPr lang="en-US" sz="750" dirty="0"/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  ·  WORKFLOW MANAGEMENT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PAYROLL OFFICER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 Center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11521440" cy="27432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2801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DIALOGS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572768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572768"/>
            <a:ext cx="36576" cy="59436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161848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Approval Detail Panel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181965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request view with approve/reject controls and notes field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16" name="Text 14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Payroll Officer  ·  Action Center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</a:t>
            </a:r>
            <a:endParaRPr lang="en-US" sz="750" dirty="0"/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PAYROLL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PAYROLL OFFICER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Payroll Management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36576" cy="7772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" y="1371600"/>
            <a:ext cx="11521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 payroll cycle: setup payroll run, compute gross pay, apply deductions (SSS, PhilHealth, Pag-IBIG, BIR), generate payslips, and authorize payment release.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212848"/>
            <a:ext cx="11521440" cy="274320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231136"/>
            <a:ext cx="11338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TABS: Payroll Dashboard  ·  Payroll Management  ·  Salary Payouts  ·  Taxes  ·  Benefits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2578608"/>
            <a:ext cx="530352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578608"/>
            <a:ext cx="530352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615184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" y="2898648"/>
            <a:ext cx="512064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Payroll Dashboard with KPIs for current period totals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Payroll run generation with period lock and computation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Automatic government contribution deduction (SSS, PhilHealth, Pag-IBIG)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BIR withholding tax computation based on compensation brackets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Payslip generation per employee in PDF format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Salary payout batch creation and bank file export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Benefits administration (HMO, allowances, 13th month)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852160" y="2578608"/>
            <a:ext cx="603504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2578608"/>
            <a:ext cx="6035040" cy="274320"/>
          </a:xfrm>
          <a:prstGeom prst="rect">
            <a:avLst/>
          </a:prstGeom>
          <a:solidFill>
            <a:srgbClr val="4A3728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0" y="2615184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943600" y="2898648"/>
            <a:ext cx="585216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Open Payroll Management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Create a new payroll run for the current cut-off period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System auto-computes gross pay based on salary rates and DTR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Review and adjust for corrections or additions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 Run final computation — system applies all deductions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 Generate payslips per employee for review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  Submit payroll run for approval via Action Center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8.  On approval: create salary payout batch and export bank file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2" name="Text 20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Payroll Officer  ·  Payroll Management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Payroll</a:t>
            </a:r>
            <a:endParaRPr lang="en-US" sz="750" dirty="0"/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NAVIGATION TABS  ·  PAYROLL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PAYROLL OFFICER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Payroll Management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2588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2588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132588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1" name="Text 9"/>
          <p:cNvSpPr/>
          <p:nvPr/>
        </p:nvSpPr>
        <p:spPr>
          <a:xfrm>
            <a:off x="292608" y="164592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" y="137160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Payroll Dashboard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" y="164592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Current period KPIs: total gross, deductions, net pay, headcount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89320" y="132588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89320" y="132588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6" name="Shape 14"/>
          <p:cNvSpPr/>
          <p:nvPr/>
        </p:nvSpPr>
        <p:spPr>
          <a:xfrm>
            <a:off x="5989320" y="132588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7" name="Text 15"/>
          <p:cNvSpPr/>
          <p:nvPr/>
        </p:nvSpPr>
        <p:spPr>
          <a:xfrm>
            <a:off x="6007608" y="164592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36792" y="137160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Payroll Management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36792" y="164592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Payroll run list with period, status, and amounts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251460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51460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" y="251460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3" name="Text 21"/>
          <p:cNvSpPr/>
          <p:nvPr/>
        </p:nvSpPr>
        <p:spPr>
          <a:xfrm>
            <a:off x="292608" y="283464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" y="256032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Salary Payouts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1792" y="283464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 batch list with release status and bank file export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989320" y="251460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89320" y="251460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28" name="Shape 26"/>
          <p:cNvSpPr/>
          <p:nvPr/>
        </p:nvSpPr>
        <p:spPr>
          <a:xfrm>
            <a:off x="5989320" y="251460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9" name="Text 27"/>
          <p:cNvSpPr/>
          <p:nvPr/>
        </p:nvSpPr>
        <p:spPr>
          <a:xfrm>
            <a:off x="6007608" y="283464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36792" y="256032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Taxes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36792" y="283464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BIR withholding tax configuration, computation, and BIR forms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74320" y="370332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370332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34" name="Shape 32"/>
          <p:cNvSpPr/>
          <p:nvPr/>
        </p:nvSpPr>
        <p:spPr>
          <a:xfrm>
            <a:off x="274320" y="370332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35" name="Text 33"/>
          <p:cNvSpPr/>
          <p:nvPr/>
        </p:nvSpPr>
        <p:spPr>
          <a:xfrm>
            <a:off x="292608" y="402336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1792" y="374904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Benefits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1792" y="402336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SSS, PhilHealth, Pag-IBIG tables and benefit enrollment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40" name="Text 38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Payroll Officer  ·  Payroll Management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Navigation Tabs</a:t>
            </a:r>
            <a:endParaRPr lang="en-US" sz="750" dirty="0"/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  ·  PAYROLL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PAYROLL OFFICER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Payroll Management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Payroll Run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1152144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62763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FIELDS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 Period (From – To)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6" name="Text 14"/>
          <p:cNvSpPr/>
          <p:nvPr/>
        </p:nvSpPr>
        <p:spPr>
          <a:xfrm>
            <a:off x="422452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Cut-off Type (Semi-monthly / Monthly)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9" name="Text 17"/>
          <p:cNvSpPr/>
          <p:nvPr/>
        </p:nvSpPr>
        <p:spPr>
          <a:xfrm>
            <a:off x="806500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Employees Included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 Date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5" name="Text 23"/>
          <p:cNvSpPr/>
          <p:nvPr/>
        </p:nvSpPr>
        <p:spPr>
          <a:xfrm>
            <a:off x="422452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Remarks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8" name="Text 26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Payroll Officer  ·  New Payroll Run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</a:t>
            </a:r>
            <a:endParaRPr lang="en-US" sz="750" dirty="0"/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  ·  PAYROLL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PAYROLL OFFICER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Payroll Management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Salary Adjustment Form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1152144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62763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FIELDS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Employee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6" name="Text 14"/>
          <p:cNvSpPr/>
          <p:nvPr/>
        </p:nvSpPr>
        <p:spPr>
          <a:xfrm>
            <a:off x="422452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Adjustment Type (Addition / Deduction)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1691640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1691640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9" name="Text 17"/>
          <p:cNvSpPr/>
          <p:nvPr/>
        </p:nvSpPr>
        <p:spPr>
          <a:xfrm>
            <a:off x="8065008" y="1746504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Amount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0" y="2350008"/>
            <a:ext cx="3749040" cy="603504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0" y="2350008"/>
            <a:ext cx="36576" cy="60350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5" name="Text 23"/>
          <p:cNvSpPr/>
          <p:nvPr/>
        </p:nvSpPr>
        <p:spPr>
          <a:xfrm>
            <a:off x="4224528" y="2404872"/>
            <a:ext cx="3584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Effective Period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8" name="Text 26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Payroll Officer  ·  Salary Adjustment Form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Reference</a:t>
            </a:r>
            <a:endParaRPr lang="en-US" sz="750" dirty="0"/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  ·  PAYROLL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PAYROLL OFFICER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Payroll Management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11521440" cy="27432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2801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DIALOGS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572768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572768"/>
            <a:ext cx="36576" cy="59436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161848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Payslip Preview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181965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Individual payslip with gross pay, itemized deductions, net pay — downloadable as PDF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231136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231136"/>
            <a:ext cx="36576" cy="59436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227685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Batch Payout Release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2478024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 and authorize salary payout batch with total and employee count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74320" y="307238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3364992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364992"/>
            <a:ext cx="36576" cy="59436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341071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Payroll Register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" y="36118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payroll register with each employee's gross, deductions, and net pay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4023360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4023360"/>
            <a:ext cx="36576" cy="59436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5" name="Text 23"/>
          <p:cNvSpPr/>
          <p:nvPr/>
        </p:nvSpPr>
        <p:spPr>
          <a:xfrm>
            <a:off x="411480" y="406908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SSS/PhilHealth/Pag-IBIG Report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11480" y="427024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Government contribution summary for remittance preparation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" y="4681728"/>
            <a:ext cx="11521440" cy="594360"/>
          </a:xfrm>
          <a:prstGeom prst="rect">
            <a:avLst/>
          </a:prstGeom>
          <a:solidFill>
            <a:srgbClr val="FFFDF5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4681728"/>
            <a:ext cx="36576" cy="59436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9" name="Text 27"/>
          <p:cNvSpPr/>
          <p:nvPr/>
        </p:nvSpPr>
        <p:spPr>
          <a:xfrm>
            <a:off x="411480" y="4727448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BIR Monthly Withholding Tax Report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11480" y="492861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Monthly alpha list with withheld taxes for BIR submission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33" name="Text 31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Payroll Officer  ·  Payroll Management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&amp; Reports</a:t>
            </a:r>
            <a:endParaRPr lang="en-US" sz="750" dirty="0"/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92240"/>
            <a:ext cx="5029200" cy="5486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0" y="0"/>
            <a:ext cx="7159752" cy="6858000"/>
          </a:xfrm>
          <a:prstGeom prst="rect">
            <a:avLst/>
          </a:prstGeom>
          <a:solidFill>
            <a:srgbClr val="FFFDF5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C5A059"/>
          </a:solidFill>
          <a:ln/>
        </p:spPr>
      </p:sp>
      <p:pic>
        <p:nvPicPr>
          <p:cNvPr id="6" name="Image 0" descr="C:\Users\VELOSO\Documents\GitHub\stsn-connect\public\stsn-cr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7432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34747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65760" y="13716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ROLE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365760" y="1691640"/>
            <a:ext cx="42976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Parent / Guardian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365760" y="361188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Family portal — view child's grades, fees, attendance, notices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303520" y="502920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RESPONSIBILITIES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303520" y="795528"/>
            <a:ext cx="649224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3" name="Text 10"/>
          <p:cNvSpPr/>
          <p:nvPr/>
        </p:nvSpPr>
        <p:spPr>
          <a:xfrm>
            <a:off x="5303520" y="914400"/>
            <a:ext cx="64922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1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 child's academic performance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1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View tuition fee balances and payment history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1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 attendance records and absences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1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Receive school announcements and notices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16" name="Text 13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Parent / Guardian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 Overview</a:t>
            </a:r>
            <a:endParaRPr lang="en-US" sz="750" dirty="0"/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FAMILY ACCESS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PARENT / GUARDIAN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Parent Portal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36576" cy="7772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" y="1371600"/>
            <a:ext cx="11521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Secure window for parents and guardians to view their child's academic records, financial status, attendance, and school announcements without visiting the school office.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212848"/>
            <a:ext cx="11521440" cy="274320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231136"/>
            <a:ext cx="11338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TABS: Academic Summary  ·  Financial Summary  ·  Attendance  ·  Announcements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2578608"/>
            <a:ext cx="530352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578608"/>
            <a:ext cx="530352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615184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" y="2898648"/>
            <a:ext cx="512064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Child selector for parents with multiple enrolled children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Academic grade summary per subject and grading period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Tuition fee balance and payment history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Attendance record with present, absent, and late counts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announcements and important notices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Read-only access — no data editing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852160" y="2578608"/>
            <a:ext cx="6035040" cy="3913632"/>
          </a:xfrm>
          <a:prstGeom prst="rect">
            <a:avLst/>
          </a:prstGeom>
          <a:solidFill>
            <a:srgbClr val="F8F5F0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2578608"/>
            <a:ext cx="6035040" cy="274320"/>
          </a:xfrm>
          <a:prstGeom prst="rect">
            <a:avLst/>
          </a:prstGeom>
          <a:solidFill>
            <a:srgbClr val="4A3728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0" y="2615184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943600" y="2898648"/>
            <a:ext cx="5852160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Parent logs in with guardian account credentials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Selects their child (if multiple children enrolled)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Views the academic grade summary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Checks the financial ledger for outstanding fees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 Reviews attendance record and school notices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22" name="Text 20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Parent / Guardian  ·  Parent Portal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Family Access</a:t>
            </a:r>
            <a:endParaRPr lang="en-US" sz="750" dirty="0"/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2E1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2000" cy="2743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6C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NAVIGATION TABS  ·  FAMILY ACCESS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solidFill>
            <a:srgbClr val="5C4533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0" y="91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PARENT / GUARDIAN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Parent Portal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32588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2588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132588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1" name="Text 9"/>
          <p:cNvSpPr/>
          <p:nvPr/>
        </p:nvSpPr>
        <p:spPr>
          <a:xfrm>
            <a:off x="292608" y="164592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" y="137160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Academic Summary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" y="164592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Subject grades per grading period with GPA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89320" y="132588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89320" y="132588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16" name="Shape 14"/>
          <p:cNvSpPr/>
          <p:nvPr/>
        </p:nvSpPr>
        <p:spPr>
          <a:xfrm>
            <a:off x="5989320" y="132588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7" name="Text 15"/>
          <p:cNvSpPr/>
          <p:nvPr/>
        </p:nvSpPr>
        <p:spPr>
          <a:xfrm>
            <a:off x="6007608" y="164592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36792" y="137160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Financial Summary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36792" y="164592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Fee assessment, payments made, and remaining balance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251460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51460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" y="251460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3" name="Text 21"/>
          <p:cNvSpPr/>
          <p:nvPr/>
        </p:nvSpPr>
        <p:spPr>
          <a:xfrm>
            <a:off x="292608" y="283464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" y="256032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Attendance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1792" y="283464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Monthly attendance: present, absent, late, early-out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989320" y="2514600"/>
            <a:ext cx="5532120" cy="1005840"/>
          </a:xfrm>
          <a:prstGeom prst="rect">
            <a:avLst/>
          </a:prstGeom>
          <a:solidFill>
            <a:srgbClr val="FFFDF5"/>
          </a:solidFill>
          <a:ln w="9525">
            <a:solidFill>
              <a:srgbClr val="E5E0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89320" y="2514600"/>
            <a:ext cx="5532120" cy="292608"/>
          </a:xfrm>
          <a:prstGeom prst="rect">
            <a:avLst/>
          </a:prstGeom>
          <a:solidFill>
            <a:srgbClr val="F0ECE5"/>
          </a:solidFill>
          <a:ln/>
        </p:spPr>
      </p:sp>
      <p:sp>
        <p:nvSpPr>
          <p:cNvPr id="28" name="Shape 26"/>
          <p:cNvSpPr/>
          <p:nvPr/>
        </p:nvSpPr>
        <p:spPr>
          <a:xfrm>
            <a:off x="5989320" y="2514600"/>
            <a:ext cx="256032" cy="100584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9" name="Text 27"/>
          <p:cNvSpPr/>
          <p:nvPr/>
        </p:nvSpPr>
        <p:spPr>
          <a:xfrm>
            <a:off x="6007608" y="2834640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36792" y="2560320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4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Announcements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36792" y="2834640"/>
            <a:ext cx="50932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52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School-wide and grade-level announcements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0ECE5"/>
          </a:solidFill>
          <a:ln w="3810">
            <a:solidFill>
              <a:srgbClr val="E5E0D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6629400"/>
            <a:ext cx="12192000" cy="18288"/>
          </a:xfrm>
          <a:prstGeom prst="rect">
            <a:avLst/>
          </a:prstGeom>
          <a:solidFill>
            <a:srgbClr val="E5E0D5"/>
          </a:solidFill>
          <a:ln/>
        </p:spPr>
      </p:sp>
      <p:sp>
        <p:nvSpPr>
          <p:cNvPr id="34" name="Text 32"/>
          <p:cNvSpPr/>
          <p:nvPr/>
        </p:nvSpPr>
        <p:spPr>
          <a:xfrm>
            <a:off x="182880" y="664768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5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Parent / Guardian  ·  Parent Portal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0" y="664768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STSN Connect  ·  System Demo Guide  ·  Confidential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029200" y="6647688"/>
            <a:ext cx="6976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E8A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Navigation Tabs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272</Slides>
  <Notes>272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272</vt:i4>
      </vt:variant>
    </vt:vector>
  </HeadingPairs>
  <TitlesOfParts>
    <vt:vector size="27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  <vt:lpstr>Slide 160</vt:lpstr>
      <vt:lpstr>Slide 161</vt:lpstr>
      <vt:lpstr>Slide 162</vt:lpstr>
      <vt:lpstr>Slide 163</vt:lpstr>
      <vt:lpstr>Slide 164</vt:lpstr>
      <vt:lpstr>Slide 165</vt:lpstr>
      <vt:lpstr>Slide 166</vt:lpstr>
      <vt:lpstr>Slide 167</vt:lpstr>
      <vt:lpstr>Slide 168</vt:lpstr>
      <vt:lpstr>Slide 169</vt:lpstr>
      <vt:lpstr>Slide 170</vt:lpstr>
      <vt:lpstr>Slide 171</vt:lpstr>
      <vt:lpstr>Slide 172</vt:lpstr>
      <vt:lpstr>Slide 173</vt:lpstr>
      <vt:lpstr>Slide 174</vt:lpstr>
      <vt:lpstr>Slide 175</vt:lpstr>
      <vt:lpstr>Slide 176</vt:lpstr>
      <vt:lpstr>Slide 177</vt:lpstr>
      <vt:lpstr>Slide 178</vt:lpstr>
      <vt:lpstr>Slide 179</vt:lpstr>
      <vt:lpstr>Slide 180</vt:lpstr>
      <vt:lpstr>Slide 181</vt:lpstr>
      <vt:lpstr>Slide 182</vt:lpstr>
      <vt:lpstr>Slide 183</vt:lpstr>
      <vt:lpstr>Slide 184</vt:lpstr>
      <vt:lpstr>Slide 185</vt:lpstr>
      <vt:lpstr>Slide 186</vt:lpstr>
      <vt:lpstr>Slide 187</vt:lpstr>
      <vt:lpstr>Slide 188</vt:lpstr>
      <vt:lpstr>Slide 189</vt:lpstr>
      <vt:lpstr>Slide 190</vt:lpstr>
      <vt:lpstr>Slide 191</vt:lpstr>
      <vt:lpstr>Slide 192</vt:lpstr>
      <vt:lpstr>Slide 193</vt:lpstr>
      <vt:lpstr>Slide 194</vt:lpstr>
      <vt:lpstr>Slide 195</vt:lpstr>
      <vt:lpstr>Slide 196</vt:lpstr>
      <vt:lpstr>Slide 197</vt:lpstr>
      <vt:lpstr>Slide 198</vt:lpstr>
      <vt:lpstr>Slide 199</vt:lpstr>
      <vt:lpstr>Slide 200</vt:lpstr>
      <vt:lpstr>Slide 201</vt:lpstr>
      <vt:lpstr>Slide 202</vt:lpstr>
      <vt:lpstr>Slide 203</vt:lpstr>
      <vt:lpstr>Slide 204</vt:lpstr>
      <vt:lpstr>Slide 205</vt:lpstr>
      <vt:lpstr>Slide 206</vt:lpstr>
      <vt:lpstr>Slide 207</vt:lpstr>
      <vt:lpstr>Slide 208</vt:lpstr>
      <vt:lpstr>Slide 209</vt:lpstr>
      <vt:lpstr>Slide 210</vt:lpstr>
      <vt:lpstr>Slide 211</vt:lpstr>
      <vt:lpstr>Slide 212</vt:lpstr>
      <vt:lpstr>Slide 213</vt:lpstr>
      <vt:lpstr>Slide 214</vt:lpstr>
      <vt:lpstr>Slide 215</vt:lpstr>
      <vt:lpstr>Slide 216</vt:lpstr>
      <vt:lpstr>Slide 217</vt:lpstr>
      <vt:lpstr>Slide 218</vt:lpstr>
      <vt:lpstr>Slide 219</vt:lpstr>
      <vt:lpstr>Slide 220</vt:lpstr>
      <vt:lpstr>Slide 221</vt:lpstr>
      <vt:lpstr>Slide 222</vt:lpstr>
      <vt:lpstr>Slide 223</vt:lpstr>
      <vt:lpstr>Slide 224</vt:lpstr>
      <vt:lpstr>Slide 225</vt:lpstr>
      <vt:lpstr>Slide 226</vt:lpstr>
      <vt:lpstr>Slide 227</vt:lpstr>
      <vt:lpstr>Slide 228</vt:lpstr>
      <vt:lpstr>Slide 229</vt:lpstr>
      <vt:lpstr>Slide 230</vt:lpstr>
      <vt:lpstr>Slide 231</vt:lpstr>
      <vt:lpstr>Slide 232</vt:lpstr>
      <vt:lpstr>Slide 233</vt:lpstr>
      <vt:lpstr>Slide 234</vt:lpstr>
      <vt:lpstr>Slide 235</vt:lpstr>
      <vt:lpstr>Slide 236</vt:lpstr>
      <vt:lpstr>Slide 237</vt:lpstr>
      <vt:lpstr>Slide 238</vt:lpstr>
      <vt:lpstr>Slide 239</vt:lpstr>
      <vt:lpstr>Slide 240</vt:lpstr>
      <vt:lpstr>Slide 241</vt:lpstr>
      <vt:lpstr>Slide 242</vt:lpstr>
      <vt:lpstr>Slide 243</vt:lpstr>
      <vt:lpstr>Slide 244</vt:lpstr>
      <vt:lpstr>Slide 245</vt:lpstr>
      <vt:lpstr>Slide 246</vt:lpstr>
      <vt:lpstr>Slide 247</vt:lpstr>
      <vt:lpstr>Slide 248</vt:lpstr>
      <vt:lpstr>Slide 249</vt:lpstr>
      <vt:lpstr>Slide 250</vt:lpstr>
      <vt:lpstr>Slide 251</vt:lpstr>
      <vt:lpstr>Slide 252</vt:lpstr>
      <vt:lpstr>Slide 253</vt:lpstr>
      <vt:lpstr>Slide 254</vt:lpstr>
      <vt:lpstr>Slide 255</vt:lpstr>
      <vt:lpstr>Slide 256</vt:lpstr>
      <vt:lpstr>Slide 257</vt:lpstr>
      <vt:lpstr>Slide 258</vt:lpstr>
      <vt:lpstr>Slide 259</vt:lpstr>
      <vt:lpstr>Slide 260</vt:lpstr>
      <vt:lpstr>Slide 261</vt:lpstr>
      <vt:lpstr>Slide 262</vt:lpstr>
      <vt:lpstr>Slide 263</vt:lpstr>
      <vt:lpstr>Slide 264</vt:lpstr>
      <vt:lpstr>Slide 265</vt:lpstr>
      <vt:lpstr>Slide 266</vt:lpstr>
      <vt:lpstr>Slide 267</vt:lpstr>
      <vt:lpstr>Slide 268</vt:lpstr>
      <vt:lpstr>Slide 269</vt:lpstr>
      <vt:lpstr>Slide 270</vt:lpstr>
      <vt:lpstr>Slide 271</vt:lpstr>
      <vt:lpstr>Slide 272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STSN Connect — System Demo Guide</dc:title>
  <dc:subject>Integrated School Management System</dc:subject>
  <dc:creator>STSN Connect</dc:creator>
  <cp:lastModifiedBy>STSN Connect</cp:lastModifiedBy>
  <cp:revision>1</cp:revision>
  <dcterms:created xsi:type="dcterms:W3CDTF">2026-06-26T16:20:49Z</dcterms:created>
  <dcterms:modified xsi:type="dcterms:W3CDTF">2026-06-26T16:20:49Z</dcterms:modified>
</cp:coreProperties>
</file>